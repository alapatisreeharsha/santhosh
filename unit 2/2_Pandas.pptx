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74" r:id="rId6"/>
    <p:sldId id="275" r:id="rId7"/>
    <p:sldId id="276" r:id="rId8"/>
    <p:sldId id="277" r:id="rId9"/>
    <p:sldId id="278" r:id="rId10"/>
    <p:sldId id="279" r:id="rId11"/>
    <p:sldId id="280" r:id="rId12"/>
    <p:sldId id="273" r:id="rId13"/>
    <p:sldId id="272" r:id="rId14"/>
    <p:sldId id="260" r:id="rId15"/>
    <p:sldId id="281" r:id="rId16"/>
    <p:sldId id="261" r:id="rId17"/>
    <p:sldId id="262" r:id="rId18"/>
    <p:sldId id="282" r:id="rId19"/>
    <p:sldId id="263" r:id="rId20"/>
    <p:sldId id="283" r:id="rId21"/>
    <p:sldId id="284"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440329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3824508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1252857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5825585-5001-4CA6-ABA3-2995282BED9A}"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508685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5825585-5001-4CA6-ABA3-2995282BED9A}" type="datetimeFigureOut">
              <a:rPr lang="en-US" smtClean="0"/>
              <a:t>1/3/2025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478833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5825585-5001-4CA6-ABA3-2995282BED9A}" type="datetimeFigureOut">
              <a:rPr lang="en-US" smtClean="0"/>
              <a:t>1/3/2025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901785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25585-5001-4CA6-ABA3-2995282BED9A}" type="datetimeFigureOut">
              <a:rPr lang="en-US" smtClean="0"/>
              <a:t>1/3/2025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822084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825585-5001-4CA6-ABA3-2995282BED9A}"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438958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825585-5001-4CA6-ABA3-2995282BED9A}"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390610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1851517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E03CFE1-3C8D-4F9F-912D-06F31FB6DB60}"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89617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5825585-5001-4CA6-ABA3-2995282BED9A}"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3817362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5825585-5001-4CA6-ABA3-2995282BED9A}"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03CFE1-3C8D-4F9F-912D-06F31FB6DB60}"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06970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5825585-5001-4CA6-ABA3-2995282BED9A}" type="datetimeFigureOut">
              <a:rPr lang="en-US" smtClean="0"/>
              <a:t>1/3/2025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4239241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2442965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825585-5001-4CA6-ABA3-2995282BED9A}" type="datetimeFigureOut">
              <a:rPr lang="en-US" smtClean="0"/>
              <a:t>1/3/2025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E03CFE1-3C8D-4F9F-912D-06F31FB6DB60}" type="slidenum">
              <a:rPr lang="en-US" smtClean="0"/>
              <a:t>‹#›</a:t>
            </a:fld>
            <a:endParaRPr lang="en-US"/>
          </a:p>
        </p:txBody>
      </p:sp>
    </p:spTree>
    <p:extLst>
      <p:ext uri="{BB962C8B-B14F-4D97-AF65-F5344CB8AC3E}">
        <p14:creationId xmlns:p14="http://schemas.microsoft.com/office/powerpoint/2010/main" val="926444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5825585-5001-4CA6-ABA3-2995282BED9A}" type="datetimeFigureOut">
              <a:rPr lang="en-US" smtClean="0"/>
              <a:t>1/3/2025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E03CFE1-3C8D-4F9F-912D-06F31FB6DB60}" type="slidenum">
              <a:rPr lang="en-US" smtClean="0"/>
              <a:t>‹#›</a:t>
            </a:fld>
            <a:endParaRPr lang="en-US"/>
          </a:p>
        </p:txBody>
      </p:sp>
    </p:spTree>
    <p:extLst>
      <p:ext uri="{BB962C8B-B14F-4D97-AF65-F5344CB8AC3E}">
        <p14:creationId xmlns:p14="http://schemas.microsoft.com/office/powerpoint/2010/main" val="567613475"/>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python-introduction-matplotlib/" TargetMode="External"/><Relationship Id="rId2" Type="http://schemas.openxmlformats.org/officeDocument/2006/relationships/hyperlink" Target="https://www.geeksforgeeks.org/python-numpy/" TargetMode="External"/><Relationship Id="rId1" Type="http://schemas.openxmlformats.org/officeDocument/2006/relationships/slideLayout" Target="../slideLayouts/slideLayout2.xml"/><Relationship Id="rId6" Type="http://schemas.openxmlformats.org/officeDocument/2006/relationships/hyperlink" Target="https://www.geeksforgeeks.org/learning-model-building-scikit-learn-python-machine-learning-library/" TargetMode="External"/><Relationship Id="rId5" Type="http://schemas.openxmlformats.org/officeDocument/2006/relationships/hyperlink" Target="https://www.geeksforgeeks.org/machine-learning-algorithms/" TargetMode="External"/><Relationship Id="rId4" Type="http://schemas.openxmlformats.org/officeDocument/2006/relationships/hyperlink" Target="https://www.geeksforgeeks.org/scipy-linear-algebra-scipy-linal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python-pandas-seri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python-pandas-seri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geeksforgeeks.org/python-pandas-datafram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javatpoint.com/pandas-dataframe-mean" TargetMode="External"/><Relationship Id="rId13" Type="http://schemas.openxmlformats.org/officeDocument/2006/relationships/hyperlink" Target="https://www.javatpoint.com/pandas-dataframe-hist" TargetMode="External"/><Relationship Id="rId3" Type="http://schemas.openxmlformats.org/officeDocument/2006/relationships/hyperlink" Target="https://www.javatpoint.com/pandas-dataframe-where" TargetMode="External"/><Relationship Id="rId7" Type="http://schemas.openxmlformats.org/officeDocument/2006/relationships/hyperlink" Target="https://www.javatpoint.com/pandas-dataframe-transform" TargetMode="External"/><Relationship Id="rId12" Type="http://schemas.openxmlformats.org/officeDocument/2006/relationships/hyperlink" Target="https://www.javatpoint.com/pandas-dataframe-cut" TargetMode="External"/><Relationship Id="rId2" Type="http://schemas.openxmlformats.org/officeDocument/2006/relationships/hyperlink" Target="https://www.javatpoint.com/pandas-groupby" TargetMode="External"/><Relationship Id="rId1" Type="http://schemas.openxmlformats.org/officeDocument/2006/relationships/slideLayout" Target="../slideLayouts/slideLayout2.xml"/><Relationship Id="rId6" Type="http://schemas.openxmlformats.org/officeDocument/2006/relationships/hyperlink" Target="https://www.javatpoint.com/pandas-dataframe-iterrows" TargetMode="External"/><Relationship Id="rId11" Type="http://schemas.openxmlformats.org/officeDocument/2006/relationships/hyperlink" Target="https://www.javatpoint.com/pandas-count" TargetMode="External"/><Relationship Id="rId5" Type="http://schemas.openxmlformats.org/officeDocument/2006/relationships/hyperlink" Target="https://www.javatpoint.com/pandas-melt" TargetMode="External"/><Relationship Id="rId10" Type="http://schemas.openxmlformats.org/officeDocument/2006/relationships/hyperlink" Target="https://www.javatpoint.com/pandas-apply" TargetMode="External"/><Relationship Id="rId4" Type="http://schemas.openxmlformats.org/officeDocument/2006/relationships/hyperlink" Target="https://www.javatpoint.com/python-pandas-sorting" TargetMode="External"/><Relationship Id="rId9" Type="http://schemas.openxmlformats.org/officeDocument/2006/relationships/hyperlink" Target="https://www.javatpoint.com/pandas-dataframe-hea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524" y="1451039"/>
            <a:ext cx="9921923" cy="5086239"/>
          </a:xfrm>
          <a:prstGeom prst="rect">
            <a:avLst/>
          </a:prstGeom>
        </p:spPr>
      </p:pic>
    </p:spTree>
    <p:extLst>
      <p:ext uri="{BB962C8B-B14F-4D97-AF65-F5344CB8AC3E}">
        <p14:creationId xmlns:p14="http://schemas.microsoft.com/office/powerpoint/2010/main" val="38832044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Pandas Introduction</a:t>
            </a:r>
            <a:br>
              <a:rPr lang="en-US" b="1" dirty="0" smtClean="0"/>
            </a:br>
            <a:endParaRPr lang="en-US" dirty="0"/>
          </a:p>
        </p:txBody>
      </p:sp>
      <p:sp>
        <p:nvSpPr>
          <p:cNvPr id="3" name="Content Placeholder 2"/>
          <p:cNvSpPr>
            <a:spLocks noGrp="1"/>
          </p:cNvSpPr>
          <p:nvPr>
            <p:ph idx="1"/>
          </p:nvPr>
        </p:nvSpPr>
        <p:spPr>
          <a:xfrm>
            <a:off x="1637731" y="1727293"/>
            <a:ext cx="4790363" cy="4946461"/>
          </a:xfrm>
        </p:spPr>
        <p:txBody>
          <a:bodyPr>
            <a:noAutofit/>
          </a:bodyPr>
          <a:lstStyle/>
          <a:p>
            <a:r>
              <a:rPr lang="en-US" sz="2400" dirty="0" smtClean="0"/>
              <a:t>Pandas is a powerful and open-source Python library. The Pandas library is used for data manipulation and analysis. Pandas consist of data structures and functions to perform efficient operations on data.</a:t>
            </a:r>
          </a:p>
          <a:p>
            <a:r>
              <a:rPr lang="en-US" sz="2400" dirty="0" smtClean="0"/>
              <a:t>Pandas is well-suited for working with </a:t>
            </a:r>
            <a:r>
              <a:rPr lang="en-US" sz="2400" b="1" dirty="0" smtClean="0"/>
              <a:t>tabular data</a:t>
            </a:r>
            <a:r>
              <a:rPr lang="en-US" sz="2400" dirty="0" smtClean="0"/>
              <a:t>, such as </a:t>
            </a:r>
            <a:r>
              <a:rPr lang="en-US" sz="2400" b="1" dirty="0" smtClean="0"/>
              <a:t>spreadsheets</a:t>
            </a:r>
            <a:r>
              <a:rPr lang="en-US" sz="2400" dirty="0" smtClean="0"/>
              <a:t> or </a:t>
            </a:r>
            <a:r>
              <a:rPr lang="en-US" sz="2400" b="1" dirty="0" smtClean="0"/>
              <a:t>SQL tables</a:t>
            </a:r>
            <a:endParaRPr lang="en-US" sz="2400" dirty="0"/>
          </a:p>
        </p:txBody>
      </p:sp>
      <p:pic>
        <p:nvPicPr>
          <p:cNvPr id="4" name="Picture 3"/>
          <p:cNvPicPr>
            <a:picLocks noChangeAspect="1"/>
          </p:cNvPicPr>
          <p:nvPr/>
        </p:nvPicPr>
        <p:blipFill>
          <a:blip r:embed="rId2"/>
          <a:stretch>
            <a:fillRect/>
          </a:stretch>
        </p:blipFill>
        <p:spPr>
          <a:xfrm>
            <a:off x="6810232" y="1727294"/>
            <a:ext cx="4830857" cy="4441494"/>
          </a:xfrm>
          <a:prstGeom prst="rect">
            <a:avLst/>
          </a:prstGeom>
        </p:spPr>
      </p:pic>
    </p:spTree>
    <p:extLst>
      <p:ext uri="{BB962C8B-B14F-4D97-AF65-F5344CB8AC3E}">
        <p14:creationId xmlns:p14="http://schemas.microsoft.com/office/powerpoint/2010/main" val="24867839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Python Pandas used for?</a:t>
            </a:r>
            <a:br>
              <a:rPr lang="en-US" b="1" dirty="0" smtClean="0"/>
            </a:br>
            <a:endParaRPr lang="en-US" dirty="0"/>
          </a:p>
        </p:txBody>
      </p:sp>
      <p:sp>
        <p:nvSpPr>
          <p:cNvPr id="3" name="Content Placeholder 2"/>
          <p:cNvSpPr>
            <a:spLocks noGrp="1"/>
          </p:cNvSpPr>
          <p:nvPr>
            <p:ph idx="1"/>
          </p:nvPr>
        </p:nvSpPr>
        <p:spPr>
          <a:xfrm>
            <a:off x="1555845" y="1569493"/>
            <a:ext cx="9948767" cy="4341729"/>
          </a:xfrm>
        </p:spPr>
        <p:txBody>
          <a:bodyPr>
            <a:noAutofit/>
          </a:bodyPr>
          <a:lstStyle/>
          <a:p>
            <a:r>
              <a:rPr lang="en-US" sz="2400" dirty="0" smtClean="0"/>
              <a:t>The Pandas library is generally used for data science, Pandas library is used in conjunction with other libraries that are used for data science. It is built on top of the</a:t>
            </a:r>
            <a:r>
              <a:rPr lang="en-US" sz="2400" dirty="0" smtClean="0">
                <a:hlinkClick r:id="rId2"/>
              </a:rPr>
              <a:t> </a:t>
            </a:r>
            <a:r>
              <a:rPr lang="en-US" sz="2400" b="1" dirty="0" err="1" smtClean="0">
                <a:hlinkClick r:id="rId2"/>
              </a:rPr>
              <a:t>NumPy</a:t>
            </a:r>
            <a:r>
              <a:rPr lang="en-US" sz="2400" b="1" dirty="0" smtClean="0">
                <a:hlinkClick r:id="rId2"/>
              </a:rPr>
              <a:t> library</a:t>
            </a:r>
            <a:r>
              <a:rPr lang="en-US" sz="2400" b="1" dirty="0" smtClean="0"/>
              <a:t> </a:t>
            </a:r>
            <a:r>
              <a:rPr lang="en-US" sz="2400" dirty="0" smtClean="0"/>
              <a:t>which means that a lot of the structures of </a:t>
            </a:r>
            <a:r>
              <a:rPr lang="en-US" sz="2400" dirty="0" err="1" smtClean="0"/>
              <a:t>NumPy</a:t>
            </a:r>
            <a:r>
              <a:rPr lang="en-US" sz="2400" dirty="0" smtClean="0"/>
              <a:t> are used or replicated in Pandas.</a:t>
            </a:r>
          </a:p>
          <a:p>
            <a:r>
              <a:rPr lang="en-US" sz="2400" dirty="0" smtClean="0"/>
              <a:t>The data produced by Pandas is often used as input for plotting functions in </a:t>
            </a:r>
            <a:r>
              <a:rPr lang="en-US" sz="2400" b="1" dirty="0" err="1" smtClean="0">
                <a:hlinkClick r:id="rId3"/>
              </a:rPr>
              <a:t>Matplotlib</a:t>
            </a:r>
            <a:r>
              <a:rPr lang="en-US" sz="2400" dirty="0" smtClean="0"/>
              <a:t>, statistical analysis in </a:t>
            </a:r>
            <a:r>
              <a:rPr lang="en-US" sz="2400" b="1" dirty="0" err="1" smtClean="0">
                <a:hlinkClick r:id="rId4"/>
              </a:rPr>
              <a:t>SciPy</a:t>
            </a:r>
            <a:r>
              <a:rPr lang="en-US" sz="2400" dirty="0" smtClean="0"/>
              <a:t>, and</a:t>
            </a:r>
            <a:r>
              <a:rPr lang="en-US" sz="2400" dirty="0" smtClean="0">
                <a:hlinkClick r:id="rId5"/>
              </a:rPr>
              <a:t> machine learning algorithms</a:t>
            </a:r>
            <a:r>
              <a:rPr lang="en-US" sz="2400" dirty="0" smtClean="0"/>
              <a:t> in </a:t>
            </a:r>
            <a:r>
              <a:rPr lang="en-US" sz="2400" b="1" dirty="0" err="1" smtClean="0">
                <a:hlinkClick r:id="rId6"/>
              </a:rPr>
              <a:t>Scikit</a:t>
            </a:r>
            <a:r>
              <a:rPr lang="en-US" sz="2400" b="1" dirty="0" smtClean="0">
                <a:hlinkClick r:id="rId6"/>
              </a:rPr>
              <a:t>-learn</a:t>
            </a:r>
            <a:r>
              <a:rPr lang="en-US" sz="2400" dirty="0" smtClean="0"/>
              <a:t>.</a:t>
            </a:r>
          </a:p>
          <a:p>
            <a:r>
              <a:rPr lang="en-US" sz="2400" dirty="0" smtClean="0"/>
              <a:t>Python’s Pandas library is the best tool to analyze, clean, and manipulate data.</a:t>
            </a:r>
            <a:endParaRPr lang="en-US" sz="2400" dirty="0"/>
          </a:p>
        </p:txBody>
      </p:sp>
    </p:spTree>
    <p:extLst>
      <p:ext uri="{BB962C8B-B14F-4D97-AF65-F5344CB8AC3E}">
        <p14:creationId xmlns:p14="http://schemas.microsoft.com/office/powerpoint/2010/main" val="4221604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Here is a list of things that we can do using Pandas.</a:t>
            </a:r>
            <a:endParaRPr lang="en-US" dirty="0"/>
          </a:p>
        </p:txBody>
      </p:sp>
      <p:sp>
        <p:nvSpPr>
          <p:cNvPr id="3" name="Content Placeholder 2"/>
          <p:cNvSpPr>
            <a:spLocks noGrp="1"/>
          </p:cNvSpPr>
          <p:nvPr>
            <p:ph idx="1"/>
          </p:nvPr>
        </p:nvSpPr>
        <p:spPr>
          <a:xfrm>
            <a:off x="1733266" y="2133600"/>
            <a:ext cx="9771346" cy="4267200"/>
          </a:xfrm>
        </p:spPr>
        <p:txBody>
          <a:bodyPr>
            <a:normAutofit/>
          </a:bodyPr>
          <a:lstStyle/>
          <a:p>
            <a:r>
              <a:rPr lang="en-US" sz="2800" dirty="0" smtClean="0"/>
              <a:t>Data set cleaning, merging, and joining.</a:t>
            </a:r>
          </a:p>
          <a:p>
            <a:r>
              <a:rPr lang="en-US" sz="2800" dirty="0" smtClean="0"/>
              <a:t>Easy handling of missing data (represented as </a:t>
            </a:r>
            <a:r>
              <a:rPr lang="en-US" sz="2800" dirty="0" err="1" smtClean="0"/>
              <a:t>NaN</a:t>
            </a:r>
            <a:r>
              <a:rPr lang="en-US" sz="2800" dirty="0" smtClean="0"/>
              <a:t>) in floating point as well as non-floating point data.</a:t>
            </a:r>
          </a:p>
          <a:p>
            <a:r>
              <a:rPr lang="en-US" sz="2800" dirty="0" smtClean="0"/>
              <a:t>Columns can be inserted and deleted from DataFrame and higher-dimensional objects.</a:t>
            </a:r>
          </a:p>
          <a:p>
            <a:r>
              <a:rPr lang="en-US" sz="2800" dirty="0" smtClean="0"/>
              <a:t>Powerful group by functionality for performing split-apply-combine operations on data sets.</a:t>
            </a:r>
          </a:p>
          <a:p>
            <a:r>
              <a:rPr lang="en-US" sz="2800" dirty="0" smtClean="0"/>
              <a:t>Data Visualization.</a:t>
            </a:r>
          </a:p>
          <a:p>
            <a:endParaRPr lang="en-US" dirty="0"/>
          </a:p>
        </p:txBody>
      </p:sp>
    </p:spTree>
    <p:extLst>
      <p:ext uri="{BB962C8B-B14F-4D97-AF65-F5344CB8AC3E}">
        <p14:creationId xmlns:p14="http://schemas.microsoft.com/office/powerpoint/2010/main" val="38858498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Installing Pandas</a:t>
            </a:r>
            <a:br>
              <a:rPr lang="en-US" b="1" dirty="0" smtClean="0"/>
            </a:br>
            <a:endParaRPr lang="en-US" dirty="0"/>
          </a:p>
        </p:txBody>
      </p:sp>
      <p:sp>
        <p:nvSpPr>
          <p:cNvPr id="3" name="Content Placeholder 2"/>
          <p:cNvSpPr>
            <a:spLocks noGrp="1"/>
          </p:cNvSpPr>
          <p:nvPr>
            <p:ph idx="1"/>
          </p:nvPr>
        </p:nvSpPr>
        <p:spPr>
          <a:xfrm>
            <a:off x="2210937" y="1587689"/>
            <a:ext cx="9457448" cy="4922293"/>
          </a:xfrm>
        </p:spPr>
        <p:txBody>
          <a:bodyPr>
            <a:normAutofit fontScale="92500" lnSpcReduction="10000"/>
          </a:bodyPr>
          <a:lstStyle/>
          <a:p>
            <a:r>
              <a:rPr lang="en-US" sz="2300" dirty="0" smtClean="0"/>
              <a:t>The first step in working with Pandas is to ensure whether it is installed in the system or not.  If not, then we need to install it on our system using the pip command.</a:t>
            </a:r>
          </a:p>
          <a:p>
            <a:r>
              <a:rPr lang="en-US" sz="2300" dirty="0" smtClean="0"/>
              <a:t>Follow these steps to install Pandas:</a:t>
            </a:r>
          </a:p>
          <a:p>
            <a:r>
              <a:rPr lang="en-US" sz="2300" b="1" dirty="0" smtClean="0"/>
              <a:t>Step 1: </a:t>
            </a:r>
            <a:r>
              <a:rPr lang="en-US" sz="2300" dirty="0" smtClean="0"/>
              <a:t>Type ‘</a:t>
            </a:r>
            <a:r>
              <a:rPr lang="en-US" sz="2300" dirty="0" err="1" smtClean="0"/>
              <a:t>cmd</a:t>
            </a:r>
            <a:r>
              <a:rPr lang="en-US" sz="2300" dirty="0" smtClean="0"/>
              <a:t>’ in the search box and open it.</a:t>
            </a:r>
          </a:p>
          <a:p>
            <a:r>
              <a:rPr lang="en-US" sz="2300" b="1" dirty="0" smtClean="0"/>
              <a:t>Step 2: </a:t>
            </a:r>
            <a:r>
              <a:rPr lang="en-US" sz="2300" dirty="0" smtClean="0"/>
              <a:t>Locate the folder using the cd command where the python-pip file has been installed.</a:t>
            </a:r>
          </a:p>
          <a:p>
            <a:r>
              <a:rPr lang="en-US" sz="2300" b="1" dirty="0" smtClean="0"/>
              <a:t>Step 3: </a:t>
            </a:r>
            <a:r>
              <a:rPr lang="en-US" sz="2300" dirty="0" smtClean="0"/>
              <a:t>After locating it, type the command:</a:t>
            </a:r>
          </a:p>
          <a:p>
            <a:r>
              <a:rPr lang="en-US" sz="2300" b="1" dirty="0" smtClean="0"/>
              <a:t>pip install pandas</a:t>
            </a:r>
          </a:p>
          <a:p>
            <a:r>
              <a:rPr lang="en-US" sz="2300" b="1" dirty="0"/>
              <a:t>Importing Pandas</a:t>
            </a:r>
          </a:p>
          <a:p>
            <a:r>
              <a:rPr lang="en-US" sz="2300" dirty="0" smtClean="0"/>
              <a:t>After </a:t>
            </a:r>
            <a:r>
              <a:rPr lang="en-US" sz="2300" dirty="0"/>
              <a:t>the Pandas have been installed in the system, you need to import the library. This module is generally imported as follows:</a:t>
            </a:r>
          </a:p>
          <a:p>
            <a:r>
              <a:rPr lang="en-US" sz="2300" b="1" dirty="0" smtClean="0"/>
              <a:t>import </a:t>
            </a:r>
            <a:r>
              <a:rPr lang="en-US" sz="2300" b="1" dirty="0"/>
              <a:t>pandas as </a:t>
            </a:r>
            <a:r>
              <a:rPr lang="en-US" sz="2300" b="1" dirty="0" err="1"/>
              <a:t>pd</a:t>
            </a:r>
            <a:endParaRPr lang="en-US" sz="2300" b="1" dirty="0"/>
          </a:p>
          <a:p>
            <a:endParaRPr lang="en-US" sz="2300" dirty="0" smtClean="0"/>
          </a:p>
          <a:p>
            <a:endParaRPr lang="en-US" dirty="0"/>
          </a:p>
        </p:txBody>
      </p:sp>
    </p:spTree>
    <p:extLst>
      <p:ext uri="{BB962C8B-B14F-4D97-AF65-F5344CB8AC3E}">
        <p14:creationId xmlns:p14="http://schemas.microsoft.com/office/powerpoint/2010/main" val="19827867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Structures in Pandas Library</a:t>
            </a:r>
            <a:br>
              <a:rPr lang="en-US" b="1" dirty="0"/>
            </a:br>
            <a:endParaRPr lang="en-US" dirty="0"/>
          </a:p>
        </p:txBody>
      </p:sp>
      <p:sp>
        <p:nvSpPr>
          <p:cNvPr id="3" name="Content Placeholder 2"/>
          <p:cNvSpPr>
            <a:spLocks noGrp="1"/>
          </p:cNvSpPr>
          <p:nvPr>
            <p:ph idx="1"/>
          </p:nvPr>
        </p:nvSpPr>
        <p:spPr>
          <a:xfrm>
            <a:off x="2026504" y="2189871"/>
            <a:ext cx="9602788" cy="3777622"/>
          </a:xfrm>
        </p:spPr>
        <p:txBody>
          <a:bodyPr/>
          <a:lstStyle/>
          <a:p>
            <a:r>
              <a:rPr lang="en-US" sz="2800" dirty="0" smtClean="0"/>
              <a:t>Pandas </a:t>
            </a:r>
            <a:r>
              <a:rPr lang="en-US" sz="2800" dirty="0"/>
              <a:t>generally provide two data structures for manipulating data. They are:</a:t>
            </a:r>
          </a:p>
          <a:p>
            <a:r>
              <a:rPr lang="en-US" sz="2800" b="1" dirty="0"/>
              <a:t>Series</a:t>
            </a:r>
            <a:endParaRPr lang="en-US" sz="2800" dirty="0"/>
          </a:p>
          <a:p>
            <a:r>
              <a:rPr lang="en-US" sz="2800" b="1" dirty="0"/>
              <a:t>DataFrame</a:t>
            </a:r>
            <a:endParaRPr lang="en-US" sz="2800" dirty="0"/>
          </a:p>
          <a:p>
            <a:endParaRPr lang="en-US" dirty="0"/>
          </a:p>
        </p:txBody>
      </p:sp>
    </p:spTree>
    <p:extLst>
      <p:ext uri="{BB962C8B-B14F-4D97-AF65-F5344CB8AC3E}">
        <p14:creationId xmlns:p14="http://schemas.microsoft.com/office/powerpoint/2010/main" val="41939508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Pandas Series</a:t>
            </a:r>
            <a:br>
              <a:rPr lang="en-US" b="1" dirty="0"/>
            </a:br>
            <a:endParaRPr lang="en-US" dirty="0"/>
          </a:p>
        </p:txBody>
      </p:sp>
      <p:sp>
        <p:nvSpPr>
          <p:cNvPr id="3" name="Content Placeholder 2"/>
          <p:cNvSpPr>
            <a:spLocks noGrp="1"/>
          </p:cNvSpPr>
          <p:nvPr>
            <p:ph idx="1"/>
          </p:nvPr>
        </p:nvSpPr>
        <p:spPr>
          <a:xfrm>
            <a:off x="1937982" y="1514901"/>
            <a:ext cx="5497370" cy="4995081"/>
          </a:xfrm>
        </p:spPr>
        <p:txBody>
          <a:bodyPr>
            <a:normAutofit/>
          </a:bodyPr>
          <a:lstStyle/>
          <a:p>
            <a:r>
              <a:rPr lang="en-US" sz="2400" dirty="0" smtClean="0"/>
              <a:t>A </a:t>
            </a:r>
            <a:r>
              <a:rPr lang="en-US" sz="2400" dirty="0">
                <a:hlinkClick r:id="rId2"/>
              </a:rPr>
              <a:t>Pandas Series</a:t>
            </a:r>
            <a:r>
              <a:rPr lang="en-US" sz="2400" dirty="0"/>
              <a:t> is a one-dimensional labeled array capable of holding data of any type (integer, string, float, Python objects, etc.). The axis labels are collectively called </a:t>
            </a:r>
            <a:r>
              <a:rPr lang="en-US" sz="2400" b="1" dirty="0"/>
              <a:t>indexes</a:t>
            </a:r>
            <a:r>
              <a:rPr lang="en-US" sz="2400" dirty="0"/>
              <a:t>.</a:t>
            </a:r>
          </a:p>
          <a:p>
            <a:r>
              <a:rPr lang="en-US" sz="2400" dirty="0"/>
              <a:t>The Pandas Series is nothing but a column in an Excel sheet. Labels need not be unique but must be of a </a:t>
            </a:r>
            <a:r>
              <a:rPr lang="en-US" sz="2400" dirty="0" err="1"/>
              <a:t>hashable</a:t>
            </a:r>
            <a:r>
              <a:rPr lang="en-US" sz="2400" dirty="0"/>
              <a:t> type.</a:t>
            </a:r>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5352" y="1072486"/>
            <a:ext cx="4233341" cy="4973472"/>
          </a:xfrm>
          <a:prstGeom prst="rect">
            <a:avLst/>
          </a:prstGeom>
        </p:spPr>
      </p:pic>
    </p:spTree>
    <p:extLst>
      <p:ext uri="{BB962C8B-B14F-4D97-AF65-F5344CB8AC3E}">
        <p14:creationId xmlns:p14="http://schemas.microsoft.com/office/powerpoint/2010/main" val="4183210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a Series</a:t>
            </a:r>
            <a:br>
              <a:rPr lang="en-US" b="1" dirty="0"/>
            </a:br>
            <a:endParaRPr lang="en-US" dirty="0"/>
          </a:p>
        </p:txBody>
      </p:sp>
      <p:sp>
        <p:nvSpPr>
          <p:cNvPr id="3" name="Content Placeholder 2"/>
          <p:cNvSpPr>
            <a:spLocks noGrp="1"/>
          </p:cNvSpPr>
          <p:nvPr>
            <p:ph idx="1"/>
          </p:nvPr>
        </p:nvSpPr>
        <p:spPr>
          <a:xfrm>
            <a:off x="1760561" y="1464860"/>
            <a:ext cx="9744051" cy="3777622"/>
          </a:xfrm>
        </p:spPr>
        <p:txBody>
          <a:bodyPr>
            <a:normAutofit lnSpcReduction="10000"/>
          </a:bodyPr>
          <a:lstStyle/>
          <a:p>
            <a:r>
              <a:rPr lang="en-US" sz="2400" dirty="0" smtClean="0">
                <a:hlinkClick r:id="rId2"/>
              </a:rPr>
              <a:t>Pandas </a:t>
            </a:r>
            <a:r>
              <a:rPr lang="en-US" sz="2400" dirty="0">
                <a:hlinkClick r:id="rId2"/>
              </a:rPr>
              <a:t>Series</a:t>
            </a:r>
            <a:r>
              <a:rPr lang="en-US" sz="2400" dirty="0"/>
              <a:t> is created by loading the datasets from existing storage (which can be a SQL database, a CSV file, or an Excel file).</a:t>
            </a:r>
          </a:p>
          <a:p>
            <a:r>
              <a:rPr lang="en-US" sz="2400" dirty="0"/>
              <a:t>Pandas Series can be created from lists, dictionaries, scalar values, etc.</a:t>
            </a:r>
          </a:p>
          <a:p>
            <a:r>
              <a:rPr lang="en-US" dirty="0"/>
              <a:t>import pandas as </a:t>
            </a:r>
            <a:r>
              <a:rPr lang="en-US" dirty="0" err="1"/>
              <a:t>pd</a:t>
            </a:r>
            <a:r>
              <a:rPr lang="en-US" dirty="0"/>
              <a:t> </a:t>
            </a:r>
            <a:br>
              <a:rPr lang="en-US" dirty="0"/>
            </a:br>
            <a:r>
              <a:rPr lang="en-US" dirty="0"/>
              <a:t/>
            </a:r>
            <a:br>
              <a:rPr lang="en-US" dirty="0"/>
            </a:br>
            <a:r>
              <a:rPr lang="en-US" dirty="0"/>
              <a:t>a = [1, 7, 2]</a:t>
            </a:r>
            <a:br>
              <a:rPr lang="en-US" dirty="0"/>
            </a:br>
            <a:r>
              <a:rPr lang="en-US" dirty="0"/>
              <a:t/>
            </a:r>
            <a:br>
              <a:rPr lang="en-US" dirty="0"/>
            </a:br>
            <a:r>
              <a:rPr lang="en-US" dirty="0" err="1"/>
              <a:t>myvar</a:t>
            </a:r>
            <a:r>
              <a:rPr lang="en-US" dirty="0"/>
              <a:t> = </a:t>
            </a:r>
            <a:r>
              <a:rPr lang="en-US" dirty="0" err="1"/>
              <a:t>pd.Series</a:t>
            </a:r>
            <a:r>
              <a:rPr lang="en-US" dirty="0"/>
              <a:t>(a, index = ["x", "y", "z"])</a:t>
            </a:r>
            <a:br>
              <a:rPr lang="en-US" dirty="0"/>
            </a:br>
            <a:r>
              <a:rPr lang="en-US" dirty="0"/>
              <a:t/>
            </a:r>
            <a:br>
              <a:rPr lang="en-US" dirty="0"/>
            </a:br>
            <a:r>
              <a:rPr lang="en-US" dirty="0"/>
              <a:t>print(</a:t>
            </a:r>
            <a:r>
              <a:rPr lang="en-US" dirty="0" err="1"/>
              <a:t>myvar</a:t>
            </a:r>
            <a:r>
              <a:rPr lang="en-US" dirty="0"/>
              <a:t>)</a:t>
            </a:r>
          </a:p>
        </p:txBody>
      </p:sp>
    </p:spTree>
    <p:extLst>
      <p:ext uri="{BB962C8B-B14F-4D97-AF65-F5344CB8AC3E}">
        <p14:creationId xmlns:p14="http://schemas.microsoft.com/office/powerpoint/2010/main" val="32507904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Create a simple Pandas Series from a dictionary:</a:t>
            </a:r>
            <a:br>
              <a:rPr lang="en-US" dirty="0"/>
            </a:br>
            <a:endParaRPr lang="en-US" dirty="0"/>
          </a:p>
        </p:txBody>
      </p:sp>
      <p:sp>
        <p:nvSpPr>
          <p:cNvPr id="3" name="Content Placeholder 2"/>
          <p:cNvSpPr>
            <a:spLocks noGrp="1"/>
          </p:cNvSpPr>
          <p:nvPr>
            <p:ph idx="1"/>
          </p:nvPr>
        </p:nvSpPr>
        <p:spPr>
          <a:xfrm>
            <a:off x="1910687" y="2133600"/>
            <a:ext cx="9593925" cy="3777622"/>
          </a:xfrm>
        </p:spPr>
        <p:txBody>
          <a:bodyPr>
            <a:normAutofit/>
          </a:bodyPr>
          <a:lstStyle/>
          <a:p>
            <a:r>
              <a:rPr lang="en-US" sz="2800" dirty="0" smtClean="0"/>
              <a:t>import </a:t>
            </a:r>
            <a:r>
              <a:rPr lang="en-US" sz="2800" dirty="0"/>
              <a:t>pandas as </a:t>
            </a:r>
            <a:r>
              <a:rPr lang="en-US" sz="2800" dirty="0" err="1"/>
              <a:t>pd</a:t>
            </a:r>
            <a:r>
              <a:rPr lang="en-US" sz="2800" dirty="0"/>
              <a:t> </a:t>
            </a:r>
            <a:br>
              <a:rPr lang="en-US" sz="2800" dirty="0"/>
            </a:br>
            <a:r>
              <a:rPr lang="en-US" sz="2800" dirty="0"/>
              <a:t/>
            </a:r>
            <a:br>
              <a:rPr lang="en-US" sz="2800" dirty="0"/>
            </a:br>
            <a:r>
              <a:rPr lang="en-US" sz="2800" dirty="0"/>
              <a:t>calories = {"day1": 420, "day2": 380, "day3": 390}</a:t>
            </a:r>
            <a:br>
              <a:rPr lang="en-US" sz="2800" dirty="0"/>
            </a:br>
            <a:r>
              <a:rPr lang="en-US" sz="2800" dirty="0"/>
              <a:t/>
            </a:r>
            <a:br>
              <a:rPr lang="en-US" sz="2800" dirty="0"/>
            </a:br>
            <a:r>
              <a:rPr lang="en-US" sz="2800" dirty="0" err="1"/>
              <a:t>myvar</a:t>
            </a:r>
            <a:r>
              <a:rPr lang="en-US" sz="2800" dirty="0"/>
              <a:t> = </a:t>
            </a:r>
            <a:r>
              <a:rPr lang="en-US" sz="2800" dirty="0" err="1"/>
              <a:t>pd.Series</a:t>
            </a:r>
            <a:r>
              <a:rPr lang="en-US" sz="2800" dirty="0"/>
              <a:t>(calories)</a:t>
            </a:r>
            <a:br>
              <a:rPr lang="en-US" sz="2800" dirty="0"/>
            </a:br>
            <a:r>
              <a:rPr lang="en-US" sz="2800" dirty="0"/>
              <a:t/>
            </a:r>
            <a:br>
              <a:rPr lang="en-US" sz="2800" dirty="0"/>
            </a:br>
            <a:r>
              <a:rPr lang="en-US" sz="2800" dirty="0"/>
              <a:t>print(</a:t>
            </a:r>
            <a:r>
              <a:rPr lang="en-US" sz="2800" dirty="0" err="1"/>
              <a:t>myvar</a:t>
            </a:r>
            <a:r>
              <a:rPr lang="en-US" sz="2800" dirty="0"/>
              <a:t>)</a:t>
            </a:r>
          </a:p>
          <a:p>
            <a:r>
              <a:rPr lang="en-US" sz="2800" dirty="0"/>
              <a:t>The keys of the dictionary become the labels.</a:t>
            </a:r>
          </a:p>
        </p:txBody>
      </p:sp>
    </p:spTree>
    <p:extLst>
      <p:ext uri="{BB962C8B-B14F-4D97-AF65-F5344CB8AC3E}">
        <p14:creationId xmlns:p14="http://schemas.microsoft.com/office/powerpoint/2010/main" val="34904163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Pandas DataFrame</a:t>
            </a:r>
            <a:br>
              <a:rPr lang="en-US" b="1" dirty="0"/>
            </a:br>
            <a:endParaRPr lang="en-US" dirty="0"/>
          </a:p>
        </p:txBody>
      </p:sp>
      <p:sp>
        <p:nvSpPr>
          <p:cNvPr id="3" name="Content Placeholder 2"/>
          <p:cNvSpPr>
            <a:spLocks noGrp="1"/>
          </p:cNvSpPr>
          <p:nvPr>
            <p:ph idx="1"/>
          </p:nvPr>
        </p:nvSpPr>
        <p:spPr>
          <a:xfrm>
            <a:off x="2411791" y="1710519"/>
            <a:ext cx="8915400" cy="3777622"/>
          </a:xfrm>
        </p:spPr>
        <p:txBody>
          <a:bodyPr/>
          <a:lstStyle/>
          <a:p>
            <a:r>
              <a:rPr lang="en-US" sz="2400" dirty="0">
                <a:hlinkClick r:id="rId2"/>
              </a:rPr>
              <a:t>Pandas DataFrame</a:t>
            </a:r>
            <a:r>
              <a:rPr lang="en-US" sz="2400" dirty="0"/>
              <a:t> is a two-dimensional data structure with labeled axes (rows and columns).</a:t>
            </a:r>
          </a:p>
          <a:p>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r="1435" b="13798"/>
          <a:stretch/>
        </p:blipFill>
        <p:spPr>
          <a:xfrm>
            <a:off x="2592925" y="2566776"/>
            <a:ext cx="8729570" cy="4007774"/>
          </a:xfrm>
          <a:prstGeom prst="rect">
            <a:avLst/>
          </a:prstGeom>
        </p:spPr>
      </p:pic>
    </p:spTree>
    <p:extLst>
      <p:ext uri="{BB962C8B-B14F-4D97-AF65-F5344CB8AC3E}">
        <p14:creationId xmlns:p14="http://schemas.microsoft.com/office/powerpoint/2010/main" val="15171375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DataFrame</a:t>
            </a:r>
            <a:br>
              <a:rPr lang="en-US" b="1" dirty="0"/>
            </a:br>
            <a:endParaRPr lang="en-US" dirty="0"/>
          </a:p>
        </p:txBody>
      </p:sp>
      <p:sp>
        <p:nvSpPr>
          <p:cNvPr id="3" name="Content Placeholder 2"/>
          <p:cNvSpPr>
            <a:spLocks noGrp="1"/>
          </p:cNvSpPr>
          <p:nvPr>
            <p:ph idx="1"/>
          </p:nvPr>
        </p:nvSpPr>
        <p:spPr>
          <a:xfrm>
            <a:off x="1665027" y="1382972"/>
            <a:ext cx="9648517" cy="5263487"/>
          </a:xfrm>
        </p:spPr>
        <p:txBody>
          <a:bodyPr>
            <a:normAutofit fontScale="92500" lnSpcReduction="20000"/>
          </a:bodyPr>
          <a:lstStyle/>
          <a:p>
            <a:r>
              <a:rPr lang="en-US" sz="2400" dirty="0" smtClean="0"/>
              <a:t>Pandas </a:t>
            </a:r>
            <a:r>
              <a:rPr lang="en-US" sz="2400" dirty="0"/>
              <a:t>DataFrame is created by loading the datasets from existing storage (which can be a SQL database, a CSV file, or an Excel file).</a:t>
            </a:r>
          </a:p>
          <a:p>
            <a:r>
              <a:rPr lang="en-US" sz="2400" dirty="0"/>
              <a:t>Pandas DataFrame can be created from lists, dictionaries, a list of dictionaries, etc.</a:t>
            </a:r>
          </a:p>
          <a:p>
            <a:r>
              <a:rPr lang="en-US" sz="2400" b="1" dirty="0"/>
              <a:t>Example: Creating a DataFrame Using the Pandas Library</a:t>
            </a:r>
            <a:endParaRPr lang="en-US" sz="2400" dirty="0"/>
          </a:p>
          <a:p>
            <a:r>
              <a:rPr lang="en-US" dirty="0"/>
              <a:t>import pandas as </a:t>
            </a:r>
            <a:r>
              <a:rPr lang="en-US" dirty="0" err="1"/>
              <a:t>pd</a:t>
            </a:r>
            <a:r>
              <a:rPr lang="en-US" dirty="0"/>
              <a:t> </a:t>
            </a:r>
          </a:p>
          <a:p>
            <a:r>
              <a:rPr lang="en-US" dirty="0"/>
              <a:t>  </a:t>
            </a:r>
          </a:p>
          <a:p>
            <a:r>
              <a:rPr lang="en-US" dirty="0"/>
              <a:t># Calling DataFrame constructor </a:t>
            </a:r>
          </a:p>
          <a:p>
            <a:r>
              <a:rPr lang="en-US" dirty="0" err="1"/>
              <a:t>df</a:t>
            </a:r>
            <a:r>
              <a:rPr lang="en-US" dirty="0"/>
              <a:t> = </a:t>
            </a:r>
            <a:r>
              <a:rPr lang="en-US" dirty="0" err="1"/>
              <a:t>pd.DataFrame</a:t>
            </a:r>
            <a:r>
              <a:rPr lang="en-US" dirty="0"/>
              <a:t>() </a:t>
            </a:r>
          </a:p>
          <a:p>
            <a:r>
              <a:rPr lang="en-US" dirty="0"/>
              <a:t>print(</a:t>
            </a:r>
            <a:r>
              <a:rPr lang="en-US" dirty="0" err="1"/>
              <a:t>df</a:t>
            </a:r>
            <a:r>
              <a:rPr lang="en-US" dirty="0" smtClean="0"/>
              <a:t>)</a:t>
            </a:r>
            <a:endParaRPr lang="en-US" dirty="0"/>
          </a:p>
          <a:p>
            <a:r>
              <a:rPr lang="en-US" dirty="0"/>
              <a:t># list of strings </a:t>
            </a:r>
          </a:p>
          <a:p>
            <a:r>
              <a:rPr lang="en-US" dirty="0" err="1"/>
              <a:t>lst</a:t>
            </a:r>
            <a:r>
              <a:rPr lang="en-US" dirty="0"/>
              <a:t> = </a:t>
            </a:r>
            <a:r>
              <a:rPr lang="en-US" dirty="0" smtClean="0"/>
              <a:t>[‘</a:t>
            </a:r>
            <a:r>
              <a:rPr lang="en-US" dirty="0" err="1" smtClean="0"/>
              <a:t>rgukt</a:t>
            </a:r>
            <a:r>
              <a:rPr lang="en-US" dirty="0" smtClean="0"/>
              <a:t>', </a:t>
            </a:r>
            <a:r>
              <a:rPr lang="en-US" dirty="0"/>
              <a:t>'For', </a:t>
            </a:r>
            <a:r>
              <a:rPr lang="en-US" dirty="0" smtClean="0"/>
              <a:t>‘students',  </a:t>
            </a:r>
            <a:r>
              <a:rPr lang="en-US" dirty="0"/>
              <a:t>'portal', 'for', </a:t>
            </a:r>
            <a:r>
              <a:rPr lang="en-US" dirty="0" smtClean="0"/>
              <a:t>‘CSE']   </a:t>
            </a:r>
            <a:endParaRPr lang="en-US" dirty="0"/>
          </a:p>
          <a:p>
            <a:r>
              <a:rPr lang="en-US" dirty="0"/>
              <a:t># Calling DataFrame constructor on list </a:t>
            </a:r>
          </a:p>
          <a:p>
            <a:r>
              <a:rPr lang="en-US" dirty="0" err="1"/>
              <a:t>df</a:t>
            </a:r>
            <a:r>
              <a:rPr lang="en-US" dirty="0"/>
              <a:t> = </a:t>
            </a:r>
            <a:r>
              <a:rPr lang="en-US" dirty="0" err="1"/>
              <a:t>pd.DataFrame</a:t>
            </a:r>
            <a:r>
              <a:rPr lang="en-US" dirty="0"/>
              <a:t>(</a:t>
            </a:r>
            <a:r>
              <a:rPr lang="en-US" dirty="0" err="1"/>
              <a:t>lst</a:t>
            </a:r>
            <a:r>
              <a:rPr lang="en-US" dirty="0"/>
              <a:t>) </a:t>
            </a:r>
          </a:p>
          <a:p>
            <a:r>
              <a:rPr lang="en-US" dirty="0"/>
              <a:t>print(</a:t>
            </a:r>
            <a:r>
              <a:rPr lang="en-US" dirty="0" err="1"/>
              <a:t>df</a:t>
            </a:r>
            <a:r>
              <a:rPr lang="en-US" dirty="0"/>
              <a:t>)</a:t>
            </a:r>
          </a:p>
        </p:txBody>
      </p:sp>
    </p:spTree>
    <p:extLst>
      <p:ext uri="{BB962C8B-B14F-4D97-AF65-F5344CB8AC3E}">
        <p14:creationId xmlns:p14="http://schemas.microsoft.com/office/powerpoint/2010/main" val="29913422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74426"/>
            <a:ext cx="7290054" cy="1499616"/>
          </a:xfrm>
        </p:spPr>
        <p:txBody>
          <a:bodyPr>
            <a:normAutofit/>
          </a:bodyPr>
          <a:lstStyle/>
          <a:p>
            <a:r>
              <a:rPr lang="en-US" b="1" dirty="0" smtClean="0"/>
              <a:t>Creating a DataFrame:</a:t>
            </a:r>
            <a:br>
              <a:rPr lang="en-US" b="1" dirty="0" smtClean="0"/>
            </a:br>
            <a:endParaRPr lang="en-US" dirty="0"/>
          </a:p>
        </p:txBody>
      </p:sp>
      <p:sp>
        <p:nvSpPr>
          <p:cNvPr id="3" name="Content Placeholder 2"/>
          <p:cNvSpPr>
            <a:spLocks noGrp="1"/>
          </p:cNvSpPr>
          <p:nvPr>
            <p:ph idx="1"/>
          </p:nvPr>
        </p:nvSpPr>
        <p:spPr>
          <a:xfrm>
            <a:off x="1492156" y="842431"/>
            <a:ext cx="10699844" cy="5786969"/>
          </a:xfrm>
        </p:spPr>
        <p:txBody>
          <a:bodyPr>
            <a:noAutofit/>
          </a:bodyPr>
          <a:lstStyle/>
          <a:p>
            <a:r>
              <a:rPr lang="en-US" sz="2000" dirty="0" smtClean="0"/>
              <a:t>In the real world, a Pandas DataFrame will be created by loading the datasets from existing storage, storage can be SQL Database, CSV file, an Excel file. Pandas DataFrame can be created from the lists, dictionary, and from a list of dictionaries, </a:t>
            </a:r>
          </a:p>
          <a:p>
            <a:r>
              <a:rPr lang="en-US" sz="2000" dirty="0" smtClean="0"/>
              <a:t>Syntax:</a:t>
            </a:r>
          </a:p>
          <a:p>
            <a:r>
              <a:rPr lang="it-IT" sz="2000" b="1" i="1" dirty="0"/>
              <a:t>class </a:t>
            </a:r>
            <a:r>
              <a:rPr lang="it-IT" sz="2000" b="1" dirty="0"/>
              <a:t>pandas.DataFrame(</a:t>
            </a:r>
            <a:r>
              <a:rPr lang="it-IT" sz="2000" b="1" i="1" dirty="0"/>
              <a:t>data=None</a:t>
            </a:r>
            <a:r>
              <a:rPr lang="it-IT" sz="2000" b="1" dirty="0"/>
              <a:t>, </a:t>
            </a:r>
            <a:r>
              <a:rPr lang="it-IT" sz="2000" b="1" i="1" dirty="0"/>
              <a:t>index=None</a:t>
            </a:r>
            <a:r>
              <a:rPr lang="it-IT" sz="2000" b="1" dirty="0"/>
              <a:t>, </a:t>
            </a:r>
            <a:r>
              <a:rPr lang="it-IT" sz="2000" b="1" i="1" dirty="0"/>
              <a:t>columns=None</a:t>
            </a:r>
            <a:r>
              <a:rPr lang="it-IT" sz="2000" b="1" dirty="0"/>
              <a:t>, </a:t>
            </a:r>
            <a:r>
              <a:rPr lang="it-IT" sz="2000" b="1" i="1" dirty="0"/>
              <a:t>dtype=None</a:t>
            </a:r>
            <a:r>
              <a:rPr lang="it-IT" sz="2000" b="1" dirty="0"/>
              <a:t>, </a:t>
            </a:r>
            <a:r>
              <a:rPr lang="it-IT" sz="2000" b="1" i="1" dirty="0"/>
              <a:t>copy=None</a:t>
            </a:r>
            <a:r>
              <a:rPr lang="it-IT" sz="2000" b="1" dirty="0" smtClean="0"/>
              <a:t>)</a:t>
            </a:r>
          </a:p>
          <a:p>
            <a:r>
              <a:rPr lang="en-US" sz="2000" b="1" dirty="0"/>
              <a:t>Parameters</a:t>
            </a:r>
          </a:p>
          <a:p>
            <a:pPr>
              <a:buFont typeface="Wingdings" panose="05000000000000000000" pitchFamily="2" charset="2"/>
              <a:buChar char="Ø"/>
            </a:pPr>
            <a:r>
              <a:rPr lang="en-US" sz="2000" dirty="0" smtClean="0"/>
              <a:t>Data </a:t>
            </a:r>
            <a:r>
              <a:rPr lang="en-US" sz="2000" dirty="0" err="1" smtClean="0"/>
              <a:t>ndarray</a:t>
            </a:r>
            <a:r>
              <a:rPr lang="en-US" sz="2000" dirty="0" smtClean="0"/>
              <a:t> </a:t>
            </a:r>
            <a:r>
              <a:rPr lang="en-US" sz="2000" dirty="0"/>
              <a:t>(structured or homogeneous), </a:t>
            </a:r>
            <a:r>
              <a:rPr lang="en-US" sz="2000" dirty="0" err="1"/>
              <a:t>Iterable</a:t>
            </a:r>
            <a:r>
              <a:rPr lang="en-US" sz="2000" dirty="0"/>
              <a:t>, </a:t>
            </a:r>
            <a:r>
              <a:rPr lang="en-US" sz="2000" dirty="0" err="1"/>
              <a:t>dict</a:t>
            </a:r>
            <a:r>
              <a:rPr lang="en-US" sz="2000" dirty="0"/>
              <a:t>, or </a:t>
            </a:r>
            <a:r>
              <a:rPr lang="en-US" sz="2000" dirty="0" smtClean="0"/>
              <a:t>DataFrame</a:t>
            </a:r>
          </a:p>
          <a:p>
            <a:pPr>
              <a:buFont typeface="Wingdings" panose="05000000000000000000" pitchFamily="2" charset="2"/>
              <a:buChar char="Ø"/>
            </a:pPr>
            <a:r>
              <a:rPr lang="en-US" sz="2000" b="1" dirty="0" err="1"/>
              <a:t>index</a:t>
            </a:r>
            <a:r>
              <a:rPr lang="en-US" sz="2000" b="1" i="1" dirty="0" err="1"/>
              <a:t>Index</a:t>
            </a:r>
            <a:r>
              <a:rPr lang="en-US" sz="2000" b="1" i="1" dirty="0"/>
              <a:t> or </a:t>
            </a:r>
            <a:r>
              <a:rPr lang="en-US" sz="2000" b="1" i="1" dirty="0" smtClean="0"/>
              <a:t>array-like</a:t>
            </a:r>
          </a:p>
          <a:p>
            <a:pPr>
              <a:buFont typeface="Wingdings" panose="05000000000000000000" pitchFamily="2" charset="2"/>
              <a:buChar char="Ø"/>
            </a:pPr>
            <a:r>
              <a:rPr lang="en-US" sz="2000" dirty="0" smtClean="0"/>
              <a:t>Columns Index:-Column </a:t>
            </a:r>
            <a:r>
              <a:rPr lang="en-US" sz="2000" dirty="0"/>
              <a:t>labels to use for resulting frame when data does not have them, defaulting to </a:t>
            </a:r>
            <a:r>
              <a:rPr lang="en-US" sz="2000" dirty="0" smtClean="0"/>
              <a:t>Range Index(0</a:t>
            </a:r>
            <a:r>
              <a:rPr lang="en-US" sz="2000" dirty="0"/>
              <a:t>, 1, 2, …, n). If data contains column labels, will perform column selection instead</a:t>
            </a:r>
            <a:r>
              <a:rPr lang="en-US" sz="2000" dirty="0" smtClean="0"/>
              <a:t>.</a:t>
            </a:r>
          </a:p>
          <a:p>
            <a:pPr>
              <a:buFont typeface="Wingdings" panose="05000000000000000000" pitchFamily="2" charset="2"/>
              <a:buChar char="Ø"/>
            </a:pPr>
            <a:r>
              <a:rPr lang="en-US" sz="2000" dirty="0" err="1"/>
              <a:t>dtypedtype</a:t>
            </a:r>
            <a:r>
              <a:rPr lang="en-US" sz="2000" dirty="0"/>
              <a:t>, default </a:t>
            </a:r>
            <a:r>
              <a:rPr lang="en-US" sz="2000" dirty="0" smtClean="0"/>
              <a:t>None:-Data </a:t>
            </a:r>
            <a:r>
              <a:rPr lang="en-US" sz="2000" dirty="0"/>
              <a:t>type to force. Only a single </a:t>
            </a:r>
            <a:r>
              <a:rPr lang="en-US" sz="2000" dirty="0" err="1"/>
              <a:t>dtype</a:t>
            </a:r>
            <a:r>
              <a:rPr lang="en-US" sz="2000" dirty="0"/>
              <a:t> is allowed</a:t>
            </a:r>
            <a:r>
              <a:rPr lang="en-US" sz="2000" dirty="0" smtClean="0"/>
              <a:t>.</a:t>
            </a:r>
          </a:p>
          <a:p>
            <a:pPr>
              <a:buFont typeface="Wingdings" panose="05000000000000000000" pitchFamily="2" charset="2"/>
              <a:buChar char="Ø"/>
            </a:pPr>
            <a:r>
              <a:rPr lang="en-US" sz="2000" dirty="0" smtClean="0"/>
              <a:t>Copy </a:t>
            </a:r>
            <a:r>
              <a:rPr lang="en-US" sz="2000" dirty="0" err="1" smtClean="0"/>
              <a:t>bool</a:t>
            </a:r>
            <a:r>
              <a:rPr lang="en-US" sz="2000" dirty="0" smtClean="0"/>
              <a:t> </a:t>
            </a:r>
            <a:r>
              <a:rPr lang="en-US" sz="2000" dirty="0"/>
              <a:t>or None, default </a:t>
            </a:r>
            <a:r>
              <a:rPr lang="en-US" sz="2000" dirty="0" smtClean="0"/>
              <a:t>None:-Copy </a:t>
            </a:r>
            <a:r>
              <a:rPr lang="en-US" sz="2000" dirty="0"/>
              <a:t>data from inputs. For </a:t>
            </a:r>
            <a:r>
              <a:rPr lang="en-US" sz="2000" dirty="0" err="1"/>
              <a:t>dict</a:t>
            </a:r>
            <a:r>
              <a:rPr lang="en-US" sz="2000" dirty="0"/>
              <a:t> data, the default of None behaves like copy=True. For DataFrame or 2d </a:t>
            </a:r>
            <a:r>
              <a:rPr lang="en-US" sz="2000" dirty="0" err="1"/>
              <a:t>ndarray</a:t>
            </a:r>
            <a:r>
              <a:rPr lang="en-US" sz="2000" dirty="0"/>
              <a:t> input, the default of None behaves like copy=False.</a:t>
            </a:r>
          </a:p>
        </p:txBody>
      </p:sp>
    </p:spTree>
    <p:extLst>
      <p:ext uri="{BB962C8B-B14F-4D97-AF65-F5344CB8AC3E}">
        <p14:creationId xmlns:p14="http://schemas.microsoft.com/office/powerpoint/2010/main" val="5971034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2589212" y="1433015"/>
            <a:ext cx="6554788" cy="5145205"/>
          </a:xfrm>
        </p:spPr>
        <p:txBody>
          <a:bodyPr>
            <a:normAutofit lnSpcReduction="10000"/>
          </a:bodyPr>
          <a:lstStyle/>
          <a:p>
            <a:r>
              <a:rPr lang="en-US" dirty="0" smtClean="0"/>
              <a:t>import pandas as pd</a:t>
            </a:r>
          </a:p>
          <a:p>
            <a:r>
              <a:rPr lang="en-US" dirty="0" smtClean="0"/>
              <a:t>   </a:t>
            </a:r>
          </a:p>
          <a:p>
            <a:r>
              <a:rPr lang="en-US" dirty="0" smtClean="0"/>
              <a:t># Calling DataFrame constructor</a:t>
            </a:r>
          </a:p>
          <a:p>
            <a:r>
              <a:rPr lang="en-US" dirty="0" err="1" smtClean="0"/>
              <a:t>df</a:t>
            </a:r>
            <a:r>
              <a:rPr lang="en-US" dirty="0" smtClean="0"/>
              <a:t> = </a:t>
            </a:r>
            <a:r>
              <a:rPr lang="en-US" dirty="0" err="1" smtClean="0"/>
              <a:t>pd.DataFrame</a:t>
            </a:r>
            <a:r>
              <a:rPr lang="en-US" dirty="0" smtClean="0"/>
              <a:t>()</a:t>
            </a:r>
          </a:p>
          <a:p>
            <a:r>
              <a:rPr lang="en-US" dirty="0" smtClean="0"/>
              <a:t>print(</a:t>
            </a:r>
            <a:r>
              <a:rPr lang="en-US" dirty="0" err="1" smtClean="0"/>
              <a:t>df</a:t>
            </a:r>
            <a:r>
              <a:rPr lang="en-US" dirty="0" smtClean="0"/>
              <a:t>)</a:t>
            </a:r>
          </a:p>
          <a:p>
            <a:r>
              <a:rPr lang="en-US" dirty="0" smtClean="0"/>
              <a:t> </a:t>
            </a:r>
          </a:p>
          <a:p>
            <a:r>
              <a:rPr lang="en-US" dirty="0" smtClean="0"/>
              <a:t># list of strings</a:t>
            </a:r>
          </a:p>
          <a:p>
            <a:r>
              <a:rPr lang="en-US" dirty="0" err="1" smtClean="0"/>
              <a:t>lst</a:t>
            </a:r>
            <a:r>
              <a:rPr lang="en-US" dirty="0" smtClean="0"/>
              <a:t> = [‘</a:t>
            </a:r>
            <a:r>
              <a:rPr lang="en-US" dirty="0" err="1" smtClean="0"/>
              <a:t>rgukt</a:t>
            </a:r>
            <a:r>
              <a:rPr lang="en-US" dirty="0" smtClean="0"/>
              <a:t>', ‘</a:t>
            </a:r>
            <a:r>
              <a:rPr lang="en-US" dirty="0" err="1" smtClean="0"/>
              <a:t>cse</a:t>
            </a:r>
            <a:r>
              <a:rPr lang="en-US" dirty="0" smtClean="0"/>
              <a:t>’, ‘students', </a:t>
            </a:r>
          </a:p>
          <a:p>
            <a:r>
              <a:rPr lang="en-US" dirty="0" smtClean="0"/>
              <a:t>            'pandas', ‘python‘, ’Data Frame’]</a:t>
            </a:r>
          </a:p>
          <a:p>
            <a:r>
              <a:rPr lang="en-US" dirty="0" smtClean="0"/>
              <a:t>   </a:t>
            </a:r>
          </a:p>
          <a:p>
            <a:r>
              <a:rPr lang="en-US" dirty="0" smtClean="0"/>
              <a:t># Calling DataFrame constructor on list</a:t>
            </a:r>
          </a:p>
          <a:p>
            <a:r>
              <a:rPr lang="en-US" dirty="0" err="1" smtClean="0"/>
              <a:t>df</a:t>
            </a:r>
            <a:r>
              <a:rPr lang="en-US" dirty="0" smtClean="0"/>
              <a:t> = </a:t>
            </a:r>
            <a:r>
              <a:rPr lang="en-US" dirty="0" err="1" smtClean="0"/>
              <a:t>pd.DataFrame</a:t>
            </a:r>
            <a:r>
              <a:rPr lang="en-US" dirty="0" smtClean="0"/>
              <a:t>(</a:t>
            </a:r>
            <a:r>
              <a:rPr lang="en-US" dirty="0" err="1" smtClean="0"/>
              <a:t>lst</a:t>
            </a:r>
            <a:r>
              <a:rPr lang="en-US" dirty="0" smtClean="0"/>
              <a:t>)</a:t>
            </a:r>
          </a:p>
          <a:p>
            <a:r>
              <a:rPr lang="en-US" dirty="0" smtClean="0"/>
              <a:t>print(</a:t>
            </a:r>
            <a:r>
              <a:rPr lang="en-US" dirty="0" err="1" smtClean="0"/>
              <a:t>df</a:t>
            </a:r>
            <a:r>
              <a:rPr lang="en-US" dirty="0" smtClean="0"/>
              <a:t>)</a:t>
            </a:r>
          </a:p>
          <a:p>
            <a:endParaRPr lang="en-US" dirty="0"/>
          </a:p>
        </p:txBody>
      </p:sp>
    </p:spTree>
    <p:extLst>
      <p:ext uri="{BB962C8B-B14F-4D97-AF65-F5344CB8AC3E}">
        <p14:creationId xmlns:p14="http://schemas.microsoft.com/office/powerpoint/2010/main" val="39981463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Load Files Into a DataFrame</a:t>
            </a:r>
            <a:br>
              <a:rPr lang="en-US" b="1" dirty="0"/>
            </a:br>
            <a:endParaRPr lang="en-US" dirty="0"/>
          </a:p>
        </p:txBody>
      </p:sp>
      <p:sp>
        <p:nvSpPr>
          <p:cNvPr id="3" name="Content Placeholder 2"/>
          <p:cNvSpPr>
            <a:spLocks noGrp="1"/>
          </p:cNvSpPr>
          <p:nvPr>
            <p:ph idx="1"/>
          </p:nvPr>
        </p:nvSpPr>
        <p:spPr/>
        <p:txBody>
          <a:bodyPr/>
          <a:lstStyle/>
          <a:p>
            <a:r>
              <a:rPr lang="en-US" dirty="0"/>
              <a:t>If your data sets are stored in a file, Pandas can load them into a DataFrame</a:t>
            </a:r>
            <a:r>
              <a:rPr lang="en-US" dirty="0" smtClean="0"/>
              <a:t>.</a:t>
            </a:r>
          </a:p>
          <a:p>
            <a:r>
              <a:rPr lang="en-US" dirty="0"/>
              <a:t>import pandas as </a:t>
            </a:r>
            <a:r>
              <a:rPr lang="en-US" dirty="0" err="1"/>
              <a:t>pd</a:t>
            </a:r>
            <a:r>
              <a:rPr lang="en-US" dirty="0"/>
              <a:t/>
            </a:r>
            <a:br>
              <a:rPr lang="en-US" dirty="0"/>
            </a:br>
            <a:r>
              <a:rPr lang="en-US" dirty="0"/>
              <a:t/>
            </a:r>
            <a:br>
              <a:rPr lang="en-US" dirty="0"/>
            </a:br>
            <a:r>
              <a:rPr lang="en-US" dirty="0" err="1"/>
              <a:t>df</a:t>
            </a:r>
            <a:r>
              <a:rPr lang="en-US" dirty="0"/>
              <a:t> = </a:t>
            </a:r>
            <a:r>
              <a:rPr lang="en-US" dirty="0" err="1"/>
              <a:t>pd.read_csv</a:t>
            </a:r>
            <a:r>
              <a:rPr lang="en-US" dirty="0"/>
              <a:t>('data.csv')</a:t>
            </a:r>
            <a:br>
              <a:rPr lang="en-US" dirty="0"/>
            </a:br>
            <a:endParaRPr lang="en-US" dirty="0" smtClean="0"/>
          </a:p>
          <a:p>
            <a:r>
              <a:rPr lang="en-US" dirty="0" smtClean="0"/>
              <a:t>print(</a:t>
            </a:r>
            <a:r>
              <a:rPr lang="en-US" dirty="0" err="1" smtClean="0"/>
              <a:t>df.to_string</a:t>
            </a:r>
            <a:r>
              <a:rPr lang="en-US" dirty="0"/>
              <a:t>()) </a:t>
            </a:r>
            <a:br>
              <a:rPr lang="en-US" dirty="0"/>
            </a:br>
            <a:r>
              <a:rPr lang="en-US" dirty="0"/>
              <a:t>print(</a:t>
            </a:r>
            <a:r>
              <a:rPr lang="en-US" dirty="0" err="1"/>
              <a:t>df</a:t>
            </a:r>
            <a:r>
              <a:rPr lang="en-US" dirty="0"/>
              <a:t>) </a:t>
            </a:r>
          </a:p>
        </p:txBody>
      </p:sp>
    </p:spTree>
    <p:extLst>
      <p:ext uri="{BB962C8B-B14F-4D97-AF65-F5344CB8AC3E}">
        <p14:creationId xmlns:p14="http://schemas.microsoft.com/office/powerpoint/2010/main" val="41688310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Importing Excel files (single sheet)</a:t>
            </a:r>
            <a:br>
              <a:rPr lang="en-US" dirty="0"/>
            </a:br>
            <a:endParaRPr lang="en-US" dirty="0"/>
          </a:p>
        </p:txBody>
      </p:sp>
      <p:sp>
        <p:nvSpPr>
          <p:cNvPr id="3" name="Content Placeholder 2"/>
          <p:cNvSpPr>
            <a:spLocks noGrp="1"/>
          </p:cNvSpPr>
          <p:nvPr>
            <p:ph idx="1"/>
          </p:nvPr>
        </p:nvSpPr>
        <p:spPr/>
        <p:txBody>
          <a:bodyPr/>
          <a:lstStyle/>
          <a:p>
            <a:endParaRPr lang="en-US" dirty="0"/>
          </a:p>
          <a:p>
            <a:r>
              <a:rPr lang="en-US" sz="2800" dirty="0"/>
              <a:t>Reading excel files (both XLS and XLSX) is as easy as the </a:t>
            </a:r>
            <a:r>
              <a:rPr lang="en-US" sz="2800" dirty="0" err="1"/>
              <a:t>read_excel</a:t>
            </a:r>
            <a:r>
              <a:rPr lang="en-US" sz="2800" dirty="0"/>
              <a:t>() function, using the file path as an input.</a:t>
            </a:r>
          </a:p>
          <a:p>
            <a:endParaRPr lang="en-US" sz="2800" dirty="0"/>
          </a:p>
          <a:p>
            <a:r>
              <a:rPr lang="en-US" sz="2800" dirty="0" err="1"/>
              <a:t>df</a:t>
            </a:r>
            <a:r>
              <a:rPr lang="en-US" sz="2800" dirty="0"/>
              <a:t> = </a:t>
            </a:r>
            <a:r>
              <a:rPr lang="en-US" sz="2800" dirty="0" err="1"/>
              <a:t>pd.read_excel</a:t>
            </a:r>
            <a:r>
              <a:rPr lang="en-US" sz="2800" dirty="0"/>
              <a:t>('diabetes.xlsx')</a:t>
            </a:r>
          </a:p>
        </p:txBody>
      </p:sp>
    </p:spTree>
    <p:extLst>
      <p:ext uri="{BB962C8B-B14F-4D97-AF65-F5344CB8AC3E}">
        <p14:creationId xmlns:p14="http://schemas.microsoft.com/office/powerpoint/2010/main" val="15177830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Pandas - Analyzing DataFrames</a:t>
            </a:r>
            <a:br>
              <a:rPr lang="en-US" b="1" dirty="0"/>
            </a:br>
            <a:endParaRPr lang="en-US" dirty="0"/>
          </a:p>
        </p:txBody>
      </p:sp>
      <p:sp>
        <p:nvSpPr>
          <p:cNvPr id="3" name="Content Placeholder 2"/>
          <p:cNvSpPr>
            <a:spLocks noGrp="1"/>
          </p:cNvSpPr>
          <p:nvPr>
            <p:ph idx="1"/>
          </p:nvPr>
        </p:nvSpPr>
        <p:spPr>
          <a:xfrm>
            <a:off x="1555845" y="1460310"/>
            <a:ext cx="9948767" cy="4913194"/>
          </a:xfrm>
        </p:spPr>
        <p:txBody>
          <a:bodyPr>
            <a:normAutofit lnSpcReduction="10000"/>
          </a:bodyPr>
          <a:lstStyle/>
          <a:p>
            <a:r>
              <a:rPr lang="en-US" sz="2400" dirty="0"/>
              <a:t>One of the most used method for getting a quick overview of the DataFrame, is the head() method</a:t>
            </a:r>
            <a:r>
              <a:rPr lang="en-US" sz="2400" dirty="0" smtClean="0"/>
              <a:t>.</a:t>
            </a:r>
            <a:endParaRPr lang="en-US" sz="2400" dirty="0"/>
          </a:p>
          <a:p>
            <a:r>
              <a:rPr lang="en-US" sz="2400" dirty="0"/>
              <a:t>The head() method returns the headers and a specified number of rows, starting from the top</a:t>
            </a:r>
            <a:r>
              <a:rPr lang="en-US" sz="2400" dirty="0" smtClean="0"/>
              <a:t>.</a:t>
            </a:r>
          </a:p>
          <a:p>
            <a:r>
              <a:rPr lang="en-US" sz="2400" dirty="0"/>
              <a:t>There is also a tail() method for viewing the last rows of the DataFrame</a:t>
            </a:r>
            <a:r>
              <a:rPr lang="en-US" sz="2400" dirty="0" smtClean="0"/>
              <a:t>.</a:t>
            </a:r>
            <a:endParaRPr lang="en-US" sz="2400" dirty="0"/>
          </a:p>
          <a:p>
            <a:r>
              <a:rPr lang="en-US" sz="2400" dirty="0"/>
              <a:t>The tail() method returns the headers and a specified number of rows, starting from the bottom</a:t>
            </a:r>
            <a:r>
              <a:rPr lang="en-US" sz="2400" dirty="0" smtClean="0"/>
              <a:t>.</a:t>
            </a:r>
          </a:p>
          <a:p>
            <a:r>
              <a:rPr lang="en-US" sz="2400" dirty="0" err="1"/>
              <a:t>printingThe</a:t>
            </a:r>
            <a:r>
              <a:rPr lang="en-US" sz="2400" dirty="0"/>
              <a:t> DataFrames object has a method called info(), that gives you more information about the data set. the first </a:t>
            </a:r>
            <a:r>
              <a:rPr lang="en-US" sz="2400" dirty="0" smtClean="0"/>
              <a:t>10 </a:t>
            </a:r>
            <a:r>
              <a:rPr lang="en-US" sz="2400" dirty="0"/>
              <a:t>rows of the DataFrame</a:t>
            </a:r>
            <a:r>
              <a:rPr lang="en-US" sz="2400" dirty="0" smtClean="0"/>
              <a:t>:</a:t>
            </a:r>
          </a:p>
          <a:p>
            <a:r>
              <a:rPr lang="en-US" sz="2400" dirty="0"/>
              <a:t>Info() will also give about Null Values in data</a:t>
            </a:r>
          </a:p>
          <a:p>
            <a:endParaRPr lang="en-US" sz="2400" dirty="0" smtClean="0"/>
          </a:p>
        </p:txBody>
      </p:sp>
    </p:spTree>
    <p:extLst>
      <p:ext uri="{BB962C8B-B14F-4D97-AF65-F5344CB8AC3E}">
        <p14:creationId xmlns:p14="http://schemas.microsoft.com/office/powerpoint/2010/main" val="42297442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9027" y="132790"/>
            <a:ext cx="8915400" cy="3777622"/>
          </a:xfrm>
        </p:spPr>
        <p:txBody>
          <a:bodyPr>
            <a:normAutofit/>
          </a:bodyPr>
          <a:lstStyle/>
          <a:p>
            <a:r>
              <a:rPr lang="en-US" sz="2400" dirty="0"/>
              <a:t>import pandas as </a:t>
            </a:r>
            <a:r>
              <a:rPr lang="en-US" sz="2400" dirty="0" err="1"/>
              <a:t>pd</a:t>
            </a:r>
            <a:r>
              <a:rPr lang="en-US" sz="2400" dirty="0"/>
              <a:t/>
            </a:r>
            <a:br>
              <a:rPr lang="en-US" sz="2400" dirty="0"/>
            </a:br>
            <a:r>
              <a:rPr lang="en-US" sz="2400" dirty="0"/>
              <a:t/>
            </a:r>
            <a:br>
              <a:rPr lang="en-US" sz="2400" dirty="0"/>
            </a:br>
            <a:r>
              <a:rPr lang="en-US" sz="2400" dirty="0" err="1"/>
              <a:t>df</a:t>
            </a:r>
            <a:r>
              <a:rPr lang="en-US" sz="2400" dirty="0"/>
              <a:t> = </a:t>
            </a:r>
            <a:r>
              <a:rPr lang="en-US" sz="2400" dirty="0" err="1"/>
              <a:t>pd.read_csv</a:t>
            </a:r>
            <a:r>
              <a:rPr lang="en-US" sz="2400" dirty="0"/>
              <a:t>('data.csv</a:t>
            </a:r>
            <a:r>
              <a:rPr lang="en-US" sz="2400" dirty="0" smtClean="0"/>
              <a:t>')</a:t>
            </a:r>
            <a:r>
              <a:rPr lang="en-US" sz="2400" dirty="0"/>
              <a:t/>
            </a:r>
            <a:br>
              <a:rPr lang="en-US" sz="2400" dirty="0"/>
            </a:br>
            <a:r>
              <a:rPr lang="en-US" sz="2400" dirty="0"/>
              <a:t>print(</a:t>
            </a:r>
            <a:r>
              <a:rPr lang="en-US" sz="2400" dirty="0" err="1"/>
              <a:t>df.head</a:t>
            </a:r>
            <a:r>
              <a:rPr lang="en-US" sz="2400" dirty="0"/>
              <a:t>(10)) </a:t>
            </a:r>
          </a:p>
          <a:p>
            <a:r>
              <a:rPr lang="en-US" sz="2000" dirty="0"/>
              <a:t>print(</a:t>
            </a:r>
            <a:r>
              <a:rPr lang="en-US" sz="2000" dirty="0" err="1"/>
              <a:t>df.tail</a:t>
            </a:r>
            <a:r>
              <a:rPr lang="en-US" sz="2000" dirty="0"/>
              <a:t>())   #last 5 rows of the DataFrame:</a:t>
            </a:r>
            <a:endParaRPr lang="en-US" sz="2400" dirty="0"/>
          </a:p>
          <a:p>
            <a:r>
              <a:rPr lang="en-US" sz="2400" dirty="0"/>
              <a:t>print(df.info())  #more information about the data set.</a:t>
            </a:r>
          </a:p>
        </p:txBody>
      </p:sp>
      <p:pic>
        <p:nvPicPr>
          <p:cNvPr id="4" name="Picture 3"/>
          <p:cNvPicPr>
            <a:picLocks noChangeAspect="1"/>
          </p:cNvPicPr>
          <p:nvPr/>
        </p:nvPicPr>
        <p:blipFill>
          <a:blip r:embed="rId2"/>
          <a:stretch>
            <a:fillRect/>
          </a:stretch>
        </p:blipFill>
        <p:spPr>
          <a:xfrm>
            <a:off x="8001355" y="3138985"/>
            <a:ext cx="4063266" cy="3448831"/>
          </a:xfrm>
          <a:prstGeom prst="rect">
            <a:avLst/>
          </a:prstGeom>
        </p:spPr>
      </p:pic>
      <p:sp>
        <p:nvSpPr>
          <p:cNvPr id="8" name="Rectangle 7"/>
          <p:cNvSpPr/>
          <p:nvPr/>
        </p:nvSpPr>
        <p:spPr>
          <a:xfrm>
            <a:off x="1401857" y="3016740"/>
            <a:ext cx="6096000" cy="3693319"/>
          </a:xfrm>
          <a:prstGeom prst="rect">
            <a:avLst/>
          </a:prstGeom>
        </p:spPr>
        <p:txBody>
          <a:bodyPr>
            <a:spAutoFit/>
          </a:bodyPr>
          <a:lstStyle/>
          <a:p>
            <a:r>
              <a:rPr lang="en-US" dirty="0" smtClean="0"/>
              <a:t>The info() method also tells us how many Non-Null values there are present in each column, and in our data set it seems like there are 164 of 169 Non-Null values in the "Calories" column.</a:t>
            </a:r>
          </a:p>
          <a:p>
            <a:endParaRPr lang="en-US" dirty="0" smtClean="0"/>
          </a:p>
          <a:p>
            <a:r>
              <a:rPr lang="en-US" dirty="0" smtClean="0"/>
              <a:t>Which means that there are 5 rows with no value at all, in the "Calories" column, for whatever reason.</a:t>
            </a:r>
          </a:p>
          <a:p>
            <a:endParaRPr lang="en-US" dirty="0" smtClean="0"/>
          </a:p>
          <a:p>
            <a:r>
              <a:rPr lang="en-US" dirty="0" smtClean="0"/>
              <a:t>Empty values, or Null values, can be bad when analyzing data, and you should consider removing rows with empty values. This is a step towards what is called cleaning data, and you will learn more about that in the next chapters.</a:t>
            </a:r>
            <a:endParaRPr lang="en-US" dirty="0"/>
          </a:p>
        </p:txBody>
      </p:sp>
    </p:spTree>
    <p:extLst>
      <p:ext uri="{BB962C8B-B14F-4D97-AF65-F5344CB8AC3E}">
        <p14:creationId xmlns:p14="http://schemas.microsoft.com/office/powerpoint/2010/main" val="24184376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view data using .head() and .tail()</a:t>
            </a:r>
          </a:p>
        </p:txBody>
      </p:sp>
      <p:sp>
        <p:nvSpPr>
          <p:cNvPr id="3" name="Content Placeholder 2"/>
          <p:cNvSpPr>
            <a:spLocks noGrp="1"/>
          </p:cNvSpPr>
          <p:nvPr>
            <p:ph idx="1"/>
          </p:nvPr>
        </p:nvSpPr>
        <p:spPr/>
        <p:txBody>
          <a:bodyPr/>
          <a:lstStyle/>
          <a:p>
            <a:r>
              <a:rPr lang="en-US" dirty="0"/>
              <a:t>You can view the first few or last few rows of a DataFrame using the .head() or .tail() methods, respectively. You can specify the number of rows through the n argument (the default value is 5</a:t>
            </a:r>
            <a:r>
              <a:rPr lang="en-US" dirty="0" smtClean="0"/>
              <a:t>).</a:t>
            </a:r>
          </a:p>
          <a:p>
            <a:r>
              <a:rPr lang="en-US" dirty="0" err="1"/>
              <a:t>df.head</a:t>
            </a:r>
            <a:r>
              <a:rPr lang="en-US" dirty="0" smtClean="0"/>
              <a:t>()</a:t>
            </a:r>
          </a:p>
          <a:p>
            <a:r>
              <a:rPr lang="en-US" dirty="0" err="1"/>
              <a:t>df.tail</a:t>
            </a:r>
            <a:r>
              <a:rPr lang="en-US" dirty="0"/>
              <a:t>(n = 10)</a:t>
            </a:r>
          </a:p>
        </p:txBody>
      </p:sp>
    </p:spTree>
    <p:extLst>
      <p:ext uri="{BB962C8B-B14F-4D97-AF65-F5344CB8AC3E}">
        <p14:creationId xmlns:p14="http://schemas.microsoft.com/office/powerpoint/2010/main" val="41533765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Outputting a DataFrame into a CSV file</a:t>
            </a:r>
            <a:br>
              <a:rPr lang="en-US" dirty="0"/>
            </a:br>
            <a:endParaRPr lang="en-US" dirty="0"/>
          </a:p>
        </p:txBody>
      </p:sp>
      <p:sp>
        <p:nvSpPr>
          <p:cNvPr id="3" name="Content Placeholder 2"/>
          <p:cNvSpPr>
            <a:spLocks noGrp="1"/>
          </p:cNvSpPr>
          <p:nvPr>
            <p:ph idx="1"/>
          </p:nvPr>
        </p:nvSpPr>
        <p:spPr>
          <a:xfrm>
            <a:off x="2275313" y="1478508"/>
            <a:ext cx="8915400" cy="4724400"/>
          </a:xfrm>
        </p:spPr>
        <p:txBody>
          <a:bodyPr>
            <a:normAutofit fontScale="92500"/>
          </a:bodyPr>
          <a:lstStyle/>
          <a:p>
            <a:r>
              <a:rPr lang="en-US" sz="2400" dirty="0" smtClean="0"/>
              <a:t>A pandas DataFrame (here we are using </a:t>
            </a:r>
            <a:r>
              <a:rPr lang="en-US" sz="2400" dirty="0" err="1" smtClean="0"/>
              <a:t>df</a:t>
            </a:r>
            <a:r>
              <a:rPr lang="en-US" sz="2400" dirty="0" smtClean="0"/>
              <a:t>) is saved as a CSV file using the .to_csv() method. The arguments include the filename with path and index – where index = True implies writing the DataFrame’s index.</a:t>
            </a:r>
          </a:p>
          <a:p>
            <a:r>
              <a:rPr lang="en-US" sz="2200" dirty="0"/>
              <a:t>df.to_excel("diabetes_out.xlsx", index=False)</a:t>
            </a:r>
            <a:endParaRPr lang="en-US" sz="2200" dirty="0" smtClean="0"/>
          </a:p>
          <a:p>
            <a:r>
              <a:rPr lang="en-US" sz="2400" dirty="0" smtClean="0"/>
              <a:t>df.to_csv("diabetes_out.csv", index=False)</a:t>
            </a:r>
          </a:p>
          <a:p>
            <a:r>
              <a:rPr lang="en-US" sz="2400" dirty="0" smtClean="0"/>
              <a:t>df.to_json("diabetes_out.json")</a:t>
            </a:r>
          </a:p>
          <a:p>
            <a:r>
              <a:rPr lang="en-US" sz="2400" dirty="0" smtClean="0"/>
              <a:t>df.to_csv('diabetes_out.txt', header=</a:t>
            </a:r>
            <a:r>
              <a:rPr lang="en-US" sz="2400" dirty="0" err="1" smtClean="0"/>
              <a:t>df.columns</a:t>
            </a:r>
            <a:r>
              <a:rPr lang="en-US" sz="2400" dirty="0" smtClean="0"/>
              <a:t>, index=None, </a:t>
            </a:r>
            <a:r>
              <a:rPr lang="en-US" sz="2400" dirty="0" err="1" smtClean="0"/>
              <a:t>sep</a:t>
            </a:r>
            <a:r>
              <a:rPr lang="en-US" sz="2400" dirty="0" smtClean="0"/>
              <a:t>=' ')</a:t>
            </a:r>
          </a:p>
          <a:p>
            <a:r>
              <a:rPr lang="en-US" sz="2400" dirty="0"/>
              <a:t>As with writing DataFrames to CSV files, you can call .to_csv(). The only differences are that the output file format is in .txt, and you need to specify a separator using the </a:t>
            </a:r>
            <a:r>
              <a:rPr lang="en-US" sz="2400" dirty="0" err="1"/>
              <a:t>sep</a:t>
            </a:r>
            <a:r>
              <a:rPr lang="en-US" sz="2400" dirty="0"/>
              <a:t> argument.</a:t>
            </a:r>
          </a:p>
        </p:txBody>
      </p:sp>
    </p:spTree>
    <p:extLst>
      <p:ext uri="{BB962C8B-B14F-4D97-AF65-F5344CB8AC3E}">
        <p14:creationId xmlns:p14="http://schemas.microsoft.com/office/powerpoint/2010/main" val="31529098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data using .describe()</a:t>
            </a:r>
          </a:p>
        </p:txBody>
      </p:sp>
      <p:sp>
        <p:nvSpPr>
          <p:cNvPr id="3" name="Content Placeholder 2"/>
          <p:cNvSpPr>
            <a:spLocks noGrp="1"/>
          </p:cNvSpPr>
          <p:nvPr>
            <p:ph idx="1"/>
          </p:nvPr>
        </p:nvSpPr>
        <p:spPr>
          <a:xfrm>
            <a:off x="1228299" y="1692322"/>
            <a:ext cx="10672549" cy="4913194"/>
          </a:xfrm>
        </p:spPr>
        <p:txBody>
          <a:bodyPr>
            <a:normAutofit fontScale="92500" lnSpcReduction="20000"/>
          </a:bodyPr>
          <a:lstStyle/>
          <a:p>
            <a:r>
              <a:rPr lang="en-US" sz="2000" dirty="0"/>
              <a:t>The .describe() method prints the summary statistics of all numeric columns, such as count, mean, standard deviation, range, and quartiles of numeric columns</a:t>
            </a:r>
            <a:r>
              <a:rPr lang="en-US" sz="2000" dirty="0" smtClean="0"/>
              <a:t>.</a:t>
            </a:r>
          </a:p>
          <a:p>
            <a:r>
              <a:rPr lang="en-US" sz="2000" b="1" dirty="0" err="1"/>
              <a:t>df.describe</a:t>
            </a:r>
            <a:r>
              <a:rPr lang="en-US" sz="2000" b="1" dirty="0" smtClean="0"/>
              <a:t>()</a:t>
            </a:r>
          </a:p>
          <a:p>
            <a:r>
              <a:rPr lang="en-US" sz="2000" dirty="0"/>
              <a:t>It gives a quick look at the scale, skew, and range of numeric data</a:t>
            </a:r>
            <a:r>
              <a:rPr lang="en-US" sz="2000" dirty="0" smtClean="0"/>
              <a:t>.</a:t>
            </a:r>
            <a:endParaRPr lang="en-US" sz="2000" dirty="0"/>
          </a:p>
          <a:p>
            <a:r>
              <a:rPr lang="en-US" sz="2000" dirty="0"/>
              <a:t>You can also modify the quartiles using the percentiles argument. Here, for example, we’re looking at the 30%, 50%, and 70% percentiles of the numeric columns in DataFrame </a:t>
            </a:r>
            <a:r>
              <a:rPr lang="en-US" sz="2000" dirty="0" err="1"/>
              <a:t>df</a:t>
            </a:r>
            <a:r>
              <a:rPr lang="en-US" sz="2000" dirty="0" smtClean="0"/>
              <a:t>. </a:t>
            </a:r>
            <a:r>
              <a:rPr lang="en-US" sz="2000" b="1" dirty="0" err="1" smtClean="0"/>
              <a:t>df.describe</a:t>
            </a:r>
            <a:r>
              <a:rPr lang="en-US" sz="2000" b="1" dirty="0" smtClean="0"/>
              <a:t>(percentiles</a:t>
            </a:r>
            <a:r>
              <a:rPr lang="en-US" sz="2000" b="1" dirty="0"/>
              <a:t>=[0.3, 0.5, 0.7</a:t>
            </a:r>
            <a:r>
              <a:rPr lang="en-US" sz="2000" b="1" dirty="0" smtClean="0"/>
              <a:t>])</a:t>
            </a:r>
          </a:p>
          <a:p>
            <a:r>
              <a:rPr lang="en-US" sz="2000" dirty="0"/>
              <a:t>You can also isolate specific data types in your summary output by using the include argument. Here, for example, we’re only summarizing the columns with the integer data type</a:t>
            </a:r>
            <a:r>
              <a:rPr lang="en-US" sz="2000" dirty="0" smtClean="0"/>
              <a:t>.  </a:t>
            </a:r>
            <a:r>
              <a:rPr lang="en-US" sz="2000" b="1" dirty="0" err="1"/>
              <a:t>df.describe</a:t>
            </a:r>
            <a:r>
              <a:rPr lang="en-US" sz="2000" b="1" dirty="0"/>
              <a:t>(include=[</a:t>
            </a:r>
            <a:r>
              <a:rPr lang="en-US" sz="2000" b="1" dirty="0" err="1"/>
              <a:t>int</a:t>
            </a:r>
            <a:r>
              <a:rPr lang="en-US" sz="2000" b="1" dirty="0" smtClean="0"/>
              <a:t>])</a:t>
            </a:r>
          </a:p>
          <a:p>
            <a:r>
              <a:rPr lang="en-US" sz="2000" dirty="0"/>
              <a:t>Similarly, you might want to exclude certain data types using exclude argument.</a:t>
            </a:r>
          </a:p>
          <a:p>
            <a:r>
              <a:rPr lang="en-US" sz="2000" b="1" dirty="0" err="1" smtClean="0"/>
              <a:t>df.describe</a:t>
            </a:r>
            <a:r>
              <a:rPr lang="en-US" sz="2000" b="1" dirty="0" smtClean="0"/>
              <a:t>(exclude</a:t>
            </a:r>
            <a:r>
              <a:rPr lang="en-US" sz="2000" b="1" dirty="0"/>
              <a:t>=[</a:t>
            </a:r>
            <a:r>
              <a:rPr lang="en-US" sz="2000" b="1" dirty="0" err="1"/>
              <a:t>int</a:t>
            </a:r>
            <a:r>
              <a:rPr lang="en-US" sz="2000" b="1" dirty="0" smtClean="0"/>
              <a:t>])</a:t>
            </a:r>
          </a:p>
          <a:p>
            <a:r>
              <a:rPr lang="en-US" sz="2000" dirty="0"/>
              <a:t>Often, practitioners find it easy to view such statistics by transposing them with the .T attribute.</a:t>
            </a:r>
          </a:p>
          <a:p>
            <a:r>
              <a:rPr lang="en-US" sz="2000" b="1" dirty="0" err="1" smtClean="0"/>
              <a:t>df.describe</a:t>
            </a:r>
            <a:r>
              <a:rPr lang="en-US" sz="2000" b="1" dirty="0"/>
              <a:t>().T</a:t>
            </a:r>
            <a:endParaRPr lang="en-US" sz="2000" b="1" dirty="0" smtClean="0"/>
          </a:p>
          <a:p>
            <a:endParaRPr lang="en-US" sz="2000" b="1" dirty="0"/>
          </a:p>
        </p:txBody>
      </p:sp>
    </p:spTree>
    <p:extLst>
      <p:ext uri="{BB962C8B-B14F-4D97-AF65-F5344CB8AC3E}">
        <p14:creationId xmlns:p14="http://schemas.microsoft.com/office/powerpoint/2010/main" val="16999245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your data using .shape</a:t>
            </a:r>
          </a:p>
        </p:txBody>
      </p:sp>
      <p:sp>
        <p:nvSpPr>
          <p:cNvPr id="3" name="Content Placeholder 2"/>
          <p:cNvSpPr>
            <a:spLocks noGrp="1"/>
          </p:cNvSpPr>
          <p:nvPr>
            <p:ph idx="1"/>
          </p:nvPr>
        </p:nvSpPr>
        <p:spPr>
          <a:xfrm>
            <a:off x="2097892" y="1519450"/>
            <a:ext cx="9406720" cy="3777622"/>
          </a:xfrm>
        </p:spPr>
        <p:txBody>
          <a:bodyPr>
            <a:normAutofit/>
          </a:bodyPr>
          <a:lstStyle/>
          <a:p>
            <a:r>
              <a:rPr lang="en-US" sz="2800" dirty="0" err="1"/>
              <a:t>df.shape</a:t>
            </a:r>
            <a:r>
              <a:rPr lang="en-US" sz="2800" dirty="0"/>
              <a:t> # Get the number of rows and columns</a:t>
            </a:r>
          </a:p>
          <a:p>
            <a:r>
              <a:rPr lang="en-US" sz="2800" dirty="0" err="1"/>
              <a:t>df.shape</a:t>
            </a:r>
            <a:r>
              <a:rPr lang="en-US" sz="2800" dirty="0"/>
              <a:t>[0] # Get the number of rows only</a:t>
            </a:r>
          </a:p>
          <a:p>
            <a:r>
              <a:rPr lang="en-US" sz="2800" dirty="0" err="1" smtClean="0"/>
              <a:t>df.shape</a:t>
            </a:r>
            <a:r>
              <a:rPr lang="en-US" sz="2800" dirty="0" smtClean="0"/>
              <a:t>[1</a:t>
            </a:r>
            <a:r>
              <a:rPr lang="en-US" sz="2800" dirty="0"/>
              <a:t>] # Get the number of columns </a:t>
            </a:r>
            <a:r>
              <a:rPr lang="en-US" sz="2800" dirty="0" smtClean="0"/>
              <a:t>only</a:t>
            </a:r>
          </a:p>
          <a:p>
            <a:r>
              <a:rPr lang="en-US" sz="2800" dirty="0"/>
              <a:t>Get all columns and column </a:t>
            </a:r>
            <a:r>
              <a:rPr lang="en-US" sz="2800" dirty="0" smtClean="0"/>
              <a:t>names</a:t>
            </a:r>
          </a:p>
          <a:p>
            <a:r>
              <a:rPr lang="en-US" sz="2800" dirty="0" err="1" smtClean="0"/>
              <a:t>df.columns</a:t>
            </a:r>
            <a:endParaRPr lang="en-US" sz="2800" dirty="0" smtClean="0"/>
          </a:p>
          <a:p>
            <a:r>
              <a:rPr lang="en-US" sz="2400" dirty="0"/>
              <a:t>It can be converted to a list using a list() function.</a:t>
            </a:r>
          </a:p>
          <a:p>
            <a:r>
              <a:rPr lang="en-US" dirty="0" smtClean="0"/>
              <a:t>list(</a:t>
            </a:r>
            <a:r>
              <a:rPr lang="en-US" dirty="0" err="1" smtClean="0"/>
              <a:t>df.columns</a:t>
            </a:r>
            <a:r>
              <a:rPr lang="en-US" dirty="0"/>
              <a:t>)</a:t>
            </a:r>
          </a:p>
        </p:txBody>
      </p:sp>
      <p:pic>
        <p:nvPicPr>
          <p:cNvPr id="5" name="Picture 4"/>
          <p:cNvPicPr>
            <a:picLocks noChangeAspect="1"/>
          </p:cNvPicPr>
          <p:nvPr/>
        </p:nvPicPr>
        <p:blipFill>
          <a:blip r:embed="rId2"/>
          <a:stretch>
            <a:fillRect/>
          </a:stretch>
        </p:blipFill>
        <p:spPr>
          <a:xfrm>
            <a:off x="4948806" y="3572035"/>
            <a:ext cx="6334125" cy="523875"/>
          </a:xfrm>
          <a:prstGeom prst="rect">
            <a:avLst/>
          </a:prstGeom>
        </p:spPr>
      </p:pic>
    </p:spTree>
    <p:extLst>
      <p:ext uri="{BB962C8B-B14F-4D97-AF65-F5344CB8AC3E}">
        <p14:creationId xmlns:p14="http://schemas.microsoft.com/office/powerpoint/2010/main" val="28357700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Functions</a:t>
            </a:r>
            <a:r>
              <a:rPr lang="en-US" dirty="0" smtClean="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2030005"/>
              </p:ext>
            </p:extLst>
          </p:nvPr>
        </p:nvGraphicFramePr>
        <p:xfrm>
          <a:off x="2043467" y="1266067"/>
          <a:ext cx="9011219" cy="4896909"/>
        </p:xfrm>
        <a:graphic>
          <a:graphicData uri="http://schemas.openxmlformats.org/drawingml/2006/table">
            <a:tbl>
              <a:tblPr bandRow="1">
                <a:tableStyleId>{5C22544A-7EE6-4342-B048-85BDC9FD1C3A}</a:tableStyleId>
              </a:tblPr>
              <a:tblGrid>
                <a:gridCol w="2836865"/>
                <a:gridCol w="2836865"/>
                <a:gridCol w="3337489"/>
              </a:tblGrid>
              <a:tr h="482512">
                <a:tc>
                  <a:txBody>
                    <a:bodyPr/>
                    <a:lstStyle/>
                    <a:p>
                      <a:r>
                        <a:rPr lang="en-US" dirty="0" smtClean="0"/>
                        <a:t>DataFrame.groupby()</a:t>
                      </a:r>
                      <a:endParaRPr lang="en-US" dirty="0" smtClean="0">
                        <a:hlinkClick r:id="rId2"/>
                      </a:endParaRPr>
                    </a:p>
                  </a:txBody>
                  <a:tcPr marL="87630" marR="87630"/>
                </a:tc>
                <a:tc>
                  <a:txBody>
                    <a:bodyPr/>
                    <a:lstStyle/>
                    <a:p>
                      <a:r>
                        <a:rPr lang="en-US" dirty="0" smtClean="0"/>
                        <a:t>DataFrame.merge()</a:t>
                      </a:r>
                      <a:endParaRPr lang="en-US" dirty="0">
                        <a:hlinkClick r:id="rId3"/>
                      </a:endParaRPr>
                    </a:p>
                  </a:txBody>
                  <a:tcPr marL="87630" marR="876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DataFrame.query()</a:t>
                      </a:r>
                    </a:p>
                  </a:txBody>
                  <a:tcPr marL="87630" marR="87630"/>
                </a:tc>
              </a:tr>
              <a:tr h="675517">
                <a:tc>
                  <a:txBody>
                    <a:bodyPr/>
                    <a:lstStyle/>
                    <a:p>
                      <a:pPr marL="0" algn="l" defTabSz="914400" rtl="0" eaLnBrk="1" latinLnBrk="0" hangingPunct="1"/>
                      <a:r>
                        <a:rPr lang="en-US" sz="1800" kern="1200" dirty="0" smtClean="0">
                          <a:solidFill>
                            <a:schemeClr val="dk1"/>
                          </a:solidFill>
                          <a:latin typeface="+mn-lt"/>
                          <a:ea typeface="+mn-ea"/>
                          <a:cs typeface="+mn-cs"/>
                        </a:rPr>
                        <a:t>DataFrame.sort()</a:t>
                      </a:r>
                      <a:endParaRPr lang="en-US" sz="1800" kern="1200" dirty="0" smtClean="0">
                        <a:solidFill>
                          <a:schemeClr val="dk1"/>
                        </a:solidFill>
                        <a:latin typeface="+mn-lt"/>
                        <a:ea typeface="+mn-ea"/>
                        <a:cs typeface="+mn-cs"/>
                        <a:hlinkClick r:id="rId4"/>
                      </a:endParaRPr>
                    </a:p>
                    <a:p>
                      <a:pPr marL="0" algn="l" defTabSz="914400" rtl="0" eaLnBrk="1" latinLnBrk="0" hangingPunct="1"/>
                      <a:r>
                        <a:rPr lang="en-US" sz="1800" kern="1200" dirty="0" smtClean="0">
                          <a:solidFill>
                            <a:schemeClr val="dk1"/>
                          </a:solidFill>
                          <a:latin typeface="+mn-lt"/>
                          <a:ea typeface="+mn-ea"/>
                          <a:cs typeface="+mn-cs"/>
                        </a:rPr>
                        <a:t>DataFrame.sum()</a:t>
                      </a:r>
                      <a:endParaRPr lang="en-US" sz="1800" kern="1200" dirty="0">
                        <a:solidFill>
                          <a:schemeClr val="dk1"/>
                        </a:solidFill>
                        <a:latin typeface="+mn-lt"/>
                        <a:ea typeface="+mn-ea"/>
                        <a:cs typeface="+mn-cs"/>
                        <a:hlinkClick r:id="rId3"/>
                      </a:endParaRPr>
                    </a:p>
                  </a:txBody>
                  <a:tcPr marL="87630" marR="87630"/>
                </a:tc>
                <a:tc>
                  <a:txBody>
                    <a:bodyPr/>
                    <a:lstStyle/>
                    <a:p>
                      <a:r>
                        <a:rPr lang="en-US" b="0" dirty="0" smtClean="0"/>
                        <a:t>DataFrame.melt()</a:t>
                      </a:r>
                      <a:endParaRPr lang="en-US" b="0" dirty="0" smtClean="0">
                        <a:hlinkClick r:id="rId5"/>
                      </a:endParaRPr>
                    </a:p>
                    <a:p>
                      <a:r>
                        <a:rPr lang="en-US" b="0" dirty="0" smtClean="0"/>
                        <a:t>DataFrame.merge()</a:t>
                      </a:r>
                      <a:endParaRPr lang="en-US" dirty="0">
                        <a:hlinkClick r:id="rId3"/>
                      </a:endParaRPr>
                    </a:p>
                  </a:txBody>
                  <a:tcPr marL="87630" marR="87630"/>
                </a:tc>
                <a:tc>
                  <a:txBody>
                    <a:bodyPr/>
                    <a:lstStyle/>
                    <a:p>
                      <a:pPr marL="0" algn="l" defTabSz="914400" rtl="0" eaLnBrk="1" latinLnBrk="0" hangingPunct="1"/>
                      <a:r>
                        <a:rPr lang="en-US" sz="1800" kern="1200" dirty="0" smtClean="0">
                          <a:solidFill>
                            <a:schemeClr val="dk1"/>
                          </a:solidFill>
                          <a:latin typeface="+mn-lt"/>
                          <a:ea typeface="+mn-ea"/>
                          <a:cs typeface="+mn-cs"/>
                        </a:rPr>
                        <a:t>DataFrame.iterrows()</a:t>
                      </a:r>
                      <a:endParaRPr lang="en-US" sz="1800" kern="1200" dirty="0" smtClean="0">
                        <a:solidFill>
                          <a:schemeClr val="dk1"/>
                        </a:solidFill>
                        <a:latin typeface="+mn-lt"/>
                        <a:ea typeface="+mn-ea"/>
                        <a:cs typeface="+mn-cs"/>
                        <a:hlinkClick r:id="rId6"/>
                      </a:endParaRPr>
                    </a:p>
                    <a:p>
                      <a:pPr marL="0" algn="l" defTabSz="914400" rtl="0" eaLnBrk="1" latinLnBrk="0" hangingPunct="1"/>
                      <a:r>
                        <a:rPr lang="en-US" sz="1800" kern="1200" dirty="0" smtClean="0">
                          <a:solidFill>
                            <a:schemeClr val="dk1"/>
                          </a:solidFill>
                          <a:latin typeface="+mn-lt"/>
                          <a:ea typeface="+mn-ea"/>
                          <a:cs typeface="+mn-cs"/>
                        </a:rPr>
                        <a:t>DataFrame.join()</a:t>
                      </a:r>
                      <a:endParaRPr lang="en-US" dirty="0">
                        <a:hlinkClick r:id="rId3"/>
                      </a:endParaRPr>
                    </a:p>
                  </a:txBody>
                  <a:tcPr marL="87630" marR="87630"/>
                </a:tc>
              </a:tr>
              <a:tr h="391371">
                <a:tc>
                  <a:txBody>
                    <a:bodyPr/>
                    <a:lstStyle/>
                    <a:p>
                      <a:r>
                        <a:rPr lang="en-US" dirty="0" smtClean="0"/>
                        <a:t>DataFrame.to_excel()</a:t>
                      </a:r>
                      <a:endParaRPr lang="en-US" dirty="0">
                        <a:hlinkClick r:id="rId3"/>
                      </a:endParaRPr>
                    </a:p>
                  </a:txBody>
                  <a:tcPr marL="87630" marR="87630"/>
                </a:tc>
                <a:tc>
                  <a:txBody>
                    <a:bodyPr/>
                    <a:lstStyle/>
                    <a:p>
                      <a:r>
                        <a:rPr lang="en-US" b="0" dirty="0" smtClean="0"/>
                        <a:t>DataFrame.pivot_table()</a:t>
                      </a:r>
                      <a:endParaRPr lang="en-US" dirty="0">
                        <a:hlinkClick r:id="rId3"/>
                      </a:endParaRPr>
                    </a:p>
                  </a:txBody>
                  <a:tcPr marL="87630" marR="87630"/>
                </a:tc>
                <a:tc>
                  <a:txBody>
                    <a:bodyPr/>
                    <a:lstStyle/>
                    <a:p>
                      <a:r>
                        <a:rPr lang="en-US" b="0" dirty="0" smtClean="0"/>
                        <a:t>DataFrame.rename()</a:t>
                      </a:r>
                      <a:endParaRPr lang="en-US" dirty="0">
                        <a:hlinkClick r:id="rId3"/>
                      </a:endParaRPr>
                    </a:p>
                  </a:txBody>
                  <a:tcPr marL="87630" marR="87630"/>
                </a:tc>
              </a:tr>
              <a:tr h="391371">
                <a:tc>
                  <a:txBody>
                    <a:bodyPr/>
                    <a:lstStyle/>
                    <a:p>
                      <a:r>
                        <a:rPr lang="en-US" dirty="0" smtClean="0"/>
                        <a:t>DataFrame.transpose()</a:t>
                      </a:r>
                      <a:endParaRPr lang="en-US" dirty="0">
                        <a:hlinkClick r:id="rId3"/>
                      </a:endParaRPr>
                    </a:p>
                  </a:txBody>
                  <a:tcPr marL="87630" marR="876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DataFrame.query()</a:t>
                      </a:r>
                      <a:endParaRPr lang="en-US" dirty="0">
                        <a:hlinkClick r:id="rId3"/>
                      </a:endParaRPr>
                    </a:p>
                  </a:txBody>
                  <a:tcPr marL="87630" marR="876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DataFrame.sample()</a:t>
                      </a:r>
                      <a:endParaRPr lang="en-US" dirty="0">
                        <a:hlinkClick r:id="rId3"/>
                      </a:endParaRPr>
                    </a:p>
                  </a:txBody>
                  <a:tcPr marL="87630" marR="87630"/>
                </a:tc>
              </a:tr>
              <a:tr h="3913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DataFrame.where()</a:t>
                      </a:r>
                      <a:endParaRPr lang="en-US" dirty="0">
                        <a:hlinkClick r:id="rId3"/>
                      </a:endParaRPr>
                    </a:p>
                  </a:txBody>
                  <a:tcPr marL="87630" marR="876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DataFrame.shift()</a:t>
                      </a:r>
                      <a:endParaRPr lang="en-US" dirty="0">
                        <a:hlinkClick r:id="rId3"/>
                      </a:endParaRPr>
                    </a:p>
                  </a:txBody>
                  <a:tcPr marL="87630" marR="876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DataFrame.shift()</a:t>
                      </a:r>
                      <a:endParaRPr lang="en-US" dirty="0">
                        <a:hlinkClick r:id="rId3"/>
                      </a:endParaRPr>
                    </a:p>
                  </a:txBody>
                  <a:tcPr marL="87630" marR="87630"/>
                </a:tc>
              </a:tr>
              <a:tr h="67551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DataFrame.transform()</a:t>
                      </a:r>
                      <a:endParaRPr lang="en-US" dirty="0" smtClean="0">
                        <a:hlinkClick r:id="rId7"/>
                      </a:endParaRPr>
                    </a:p>
                    <a:p>
                      <a:endParaRPr lang="en-US" dirty="0">
                        <a:hlinkClick r:id="rId3"/>
                      </a:endParaRPr>
                    </a:p>
                  </a:txBody>
                  <a:tcPr marL="87630" marR="87630"/>
                </a:tc>
                <a:tc>
                  <a:txBody>
                    <a:bodyPr/>
                    <a:lstStyle/>
                    <a:p>
                      <a:r>
                        <a:rPr lang="en-US" dirty="0" smtClean="0"/>
                        <a:t>DataFrame.mean()</a:t>
                      </a:r>
                      <a:endParaRPr lang="en-US" dirty="0" smtClean="0">
                        <a:hlinkClick r:id="rId8"/>
                      </a:endParaRPr>
                    </a:p>
                    <a:p>
                      <a:r>
                        <a:rPr lang="en-US" dirty="0" smtClean="0"/>
                        <a:t>DataFrame.melt()</a:t>
                      </a:r>
                      <a:endParaRPr lang="en-US" dirty="0">
                        <a:hlinkClick r:id="rId3"/>
                      </a:endParaRPr>
                    </a:p>
                  </a:txBody>
                  <a:tcPr marL="87630" marR="8763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latin typeface="+mn-lt"/>
                          <a:ea typeface="+mn-ea"/>
                          <a:cs typeface="+mn-cs"/>
                        </a:rPr>
                        <a:t>DataFrame.drop_duplicates()</a:t>
                      </a:r>
                    </a:p>
                  </a:txBody>
                  <a:tcPr marL="87630" marR="87630"/>
                </a:tc>
              </a:tr>
              <a:tr h="675517">
                <a:tc>
                  <a:txBody>
                    <a:bodyPr/>
                    <a:lstStyle/>
                    <a:p>
                      <a:r>
                        <a:rPr lang="en-US" dirty="0" smtClean="0"/>
                        <a:t>DataFrame.iterrows()</a:t>
                      </a:r>
                      <a:endParaRPr lang="en-US" dirty="0" smtClean="0">
                        <a:hlinkClick r:id="rId6"/>
                      </a:endParaRPr>
                    </a:p>
                    <a:p>
                      <a:r>
                        <a:rPr lang="en-US" dirty="0" smtClean="0"/>
                        <a:t>DataFrame.join()</a:t>
                      </a:r>
                      <a:endParaRPr lang="en-US" dirty="0">
                        <a:hlinkClick r:id="rId3"/>
                      </a:endParaRPr>
                    </a:p>
                  </a:txBody>
                  <a:tcPr marL="87630" marR="87630"/>
                </a:tc>
                <a:tc>
                  <a:txBody>
                    <a:bodyPr/>
                    <a:lstStyle/>
                    <a:p>
                      <a:r>
                        <a:rPr lang="en-US" dirty="0" smtClean="0"/>
                        <a:t>DataFrame.head()</a:t>
                      </a:r>
                      <a:endParaRPr lang="en-US" dirty="0" smtClean="0">
                        <a:hlinkClick r:id="rId9"/>
                      </a:endParaRPr>
                    </a:p>
                    <a:p>
                      <a:r>
                        <a:rPr lang="en-US" dirty="0" smtClean="0"/>
                        <a:t>DataFrame.hist()</a:t>
                      </a:r>
                      <a:endParaRPr lang="en-US" dirty="0">
                        <a:hlinkClick r:id="rId3"/>
                      </a:endParaRPr>
                    </a:p>
                  </a:txBody>
                  <a:tcPr marL="87630" marR="87630"/>
                </a:tc>
                <a:tc>
                  <a:txBody>
                    <a:bodyPr/>
                    <a:lstStyle/>
                    <a:p>
                      <a:r>
                        <a:rPr lang="en-US" dirty="0" smtClean="0"/>
                        <a:t>DataFrame.apply()</a:t>
                      </a:r>
                      <a:endParaRPr lang="en-US" dirty="0" smtClean="0">
                        <a:hlinkClick r:id="rId10"/>
                      </a:endParaRPr>
                    </a:p>
                    <a:p>
                      <a:r>
                        <a:rPr lang="en-US" dirty="0" smtClean="0"/>
                        <a:t>DataFrame.aggregate()</a:t>
                      </a:r>
                    </a:p>
                  </a:txBody>
                  <a:tcPr marL="87630" marR="87630"/>
                </a:tc>
              </a:tr>
              <a:tr h="9650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DataFrame.append()</a:t>
                      </a:r>
                    </a:p>
                  </a:txBody>
                  <a:tcPr marL="87630" marR="87630"/>
                </a:tc>
                <a:tc>
                  <a:txBody>
                    <a:bodyPr/>
                    <a:lstStyle/>
                    <a:p>
                      <a:pPr marL="0" algn="l" defTabSz="914400" rtl="0" eaLnBrk="1" latinLnBrk="0" hangingPunct="1"/>
                      <a:r>
                        <a:rPr lang="en-US" sz="1800" kern="1200" dirty="0" smtClean="0">
                          <a:solidFill>
                            <a:schemeClr val="dk1"/>
                          </a:solidFill>
                          <a:latin typeface="+mn-lt"/>
                          <a:ea typeface="+mn-ea"/>
                          <a:cs typeface="+mn-cs"/>
                        </a:rPr>
                        <a:t>DataFrame.count()</a:t>
                      </a:r>
                      <a:endParaRPr lang="en-US" sz="1800" kern="1200" dirty="0" smtClean="0">
                        <a:solidFill>
                          <a:schemeClr val="dk1"/>
                        </a:solidFill>
                        <a:latin typeface="+mn-lt"/>
                        <a:ea typeface="+mn-ea"/>
                        <a:cs typeface="+mn-cs"/>
                        <a:hlinkClick r:id="rId11"/>
                      </a:endParaRPr>
                    </a:p>
                    <a:p>
                      <a:pPr marL="0" algn="l" defTabSz="914400" rtl="0" eaLnBrk="1" latinLnBrk="0" hangingPunct="1"/>
                      <a:r>
                        <a:rPr lang="en-US" sz="1800" kern="1200" dirty="0" smtClean="0">
                          <a:solidFill>
                            <a:schemeClr val="dk1"/>
                          </a:solidFill>
                          <a:latin typeface="+mn-lt"/>
                          <a:ea typeface="+mn-ea"/>
                          <a:cs typeface="+mn-cs"/>
                        </a:rPr>
                        <a:t>DataFrame.cut()</a:t>
                      </a:r>
                      <a:endParaRPr lang="en-US" sz="1800" kern="1200" dirty="0" smtClean="0">
                        <a:solidFill>
                          <a:schemeClr val="dk1"/>
                        </a:solidFill>
                        <a:latin typeface="+mn-lt"/>
                        <a:ea typeface="+mn-ea"/>
                        <a:cs typeface="+mn-cs"/>
                        <a:hlinkClick r:id="rId12"/>
                      </a:endParaRPr>
                    </a:p>
                    <a:p>
                      <a:pPr marL="0" algn="l" defTabSz="914400" rtl="0" eaLnBrk="1" latinLnBrk="0" hangingPunct="1"/>
                      <a:r>
                        <a:rPr lang="en-US" sz="1800" kern="1200" dirty="0" smtClean="0">
                          <a:solidFill>
                            <a:schemeClr val="dk1"/>
                          </a:solidFill>
                          <a:latin typeface="+mn-lt"/>
                          <a:ea typeface="+mn-ea"/>
                          <a:cs typeface="+mn-cs"/>
                        </a:rPr>
                        <a:t>DataFrame.describe()</a:t>
                      </a:r>
                    </a:p>
                  </a:txBody>
                  <a:tcPr marL="87630" marR="87630"/>
                </a:tc>
                <a:tc>
                  <a:txBody>
                    <a:bodyPr/>
                    <a:lstStyle/>
                    <a:p>
                      <a:pPr marL="0" algn="l" defTabSz="914400" rtl="0" eaLnBrk="1" latinLnBrk="0" hangingPunct="1"/>
                      <a:r>
                        <a:rPr lang="en-US" sz="1800" kern="1200" dirty="0" smtClean="0">
                          <a:solidFill>
                            <a:schemeClr val="dk1"/>
                          </a:solidFill>
                          <a:latin typeface="+mn-lt"/>
                          <a:ea typeface="+mn-ea"/>
                          <a:cs typeface="+mn-cs"/>
                        </a:rPr>
                        <a:t>DataFrame.head()</a:t>
                      </a:r>
                      <a:endParaRPr lang="en-US" sz="1800" kern="1200" dirty="0" smtClean="0">
                        <a:solidFill>
                          <a:schemeClr val="dk1"/>
                        </a:solidFill>
                        <a:latin typeface="+mn-lt"/>
                        <a:ea typeface="+mn-ea"/>
                        <a:cs typeface="+mn-cs"/>
                        <a:hlinkClick r:id="rId9"/>
                      </a:endParaRPr>
                    </a:p>
                    <a:p>
                      <a:pPr marL="0" algn="l" defTabSz="914400" rtl="0" eaLnBrk="1" latinLnBrk="0" hangingPunct="1"/>
                      <a:r>
                        <a:rPr lang="en-US" sz="1800" kern="1200" dirty="0" smtClean="0">
                          <a:solidFill>
                            <a:schemeClr val="dk1"/>
                          </a:solidFill>
                          <a:latin typeface="+mn-lt"/>
                          <a:ea typeface="+mn-ea"/>
                          <a:cs typeface="+mn-cs"/>
                        </a:rPr>
                        <a:t>DataFrame.hist()</a:t>
                      </a:r>
                      <a:endParaRPr lang="en-US" sz="1800" kern="1200" dirty="0" smtClean="0">
                        <a:solidFill>
                          <a:schemeClr val="dk1"/>
                        </a:solidFill>
                        <a:latin typeface="+mn-lt"/>
                        <a:ea typeface="+mn-ea"/>
                        <a:cs typeface="+mn-cs"/>
                        <a:hlinkClick r:id="rId13"/>
                      </a:endParaRPr>
                    </a:p>
                    <a:p>
                      <a:pPr marL="0" algn="l" defTabSz="914400" rtl="0" eaLnBrk="1" latinLnBrk="0" hangingPunct="1"/>
                      <a:r>
                        <a:rPr lang="en-US" sz="1800" kern="1200" dirty="0" smtClean="0">
                          <a:solidFill>
                            <a:schemeClr val="dk1"/>
                          </a:solidFill>
                          <a:latin typeface="+mn-lt"/>
                          <a:ea typeface="+mn-ea"/>
                          <a:cs typeface="+mn-cs"/>
                        </a:rPr>
                        <a:t>DataFrame.mean()</a:t>
                      </a:r>
                    </a:p>
                  </a:txBody>
                  <a:tcPr marL="87630" marR="87630"/>
                </a:tc>
              </a:tr>
            </a:tbl>
          </a:graphicData>
        </a:graphic>
      </p:graphicFrame>
    </p:spTree>
    <p:extLst>
      <p:ext uri="{BB962C8B-B14F-4D97-AF65-F5344CB8AC3E}">
        <p14:creationId xmlns:p14="http://schemas.microsoft.com/office/powerpoint/2010/main" val="4008975417"/>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1210</TotalTime>
  <Words>1455</Words>
  <Application>Microsoft Office PowerPoint</Application>
  <PresentationFormat>Widescreen</PresentationFormat>
  <Paragraphs>166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Century Gothic</vt:lpstr>
      <vt:lpstr>Wingdings</vt:lpstr>
      <vt:lpstr>Wingdings 3</vt:lpstr>
      <vt:lpstr>Wisp</vt:lpstr>
      <vt:lpstr>PowerPoint Presentation</vt:lpstr>
      <vt:lpstr>Pandas Introduction </vt:lpstr>
      <vt:lpstr>What is Python Pandas used for? </vt:lpstr>
      <vt:lpstr>Here is a list of things that we can do using Pandas.</vt:lpstr>
      <vt:lpstr>Installing Pandas </vt:lpstr>
      <vt:lpstr>Data Structures in Pandas Library </vt:lpstr>
      <vt:lpstr>Pandas Series </vt:lpstr>
      <vt:lpstr>Creating a Series </vt:lpstr>
      <vt:lpstr>Create a simple Pandas Series from a dictionary: </vt:lpstr>
      <vt:lpstr>Pandas DataFrame </vt:lpstr>
      <vt:lpstr>Creating DataFrame </vt:lpstr>
      <vt:lpstr>Creating a DataFrame: </vt:lpstr>
      <vt:lpstr>Example</vt:lpstr>
      <vt:lpstr>Load Files Into a DataFrame </vt:lpstr>
      <vt:lpstr>Importing Excel files (single sheet) </vt:lpstr>
      <vt:lpstr>Pandas - Analyzing DataFrames </vt:lpstr>
      <vt:lpstr>PowerPoint Presentation</vt:lpstr>
      <vt:lpstr>How to view data using .head() and .tail()</vt:lpstr>
      <vt:lpstr>Outputting a DataFrame into a CSV file </vt:lpstr>
      <vt:lpstr>Understanding data using .describe()</vt:lpstr>
      <vt:lpstr>Understanding your data using .shape</vt:lpstr>
      <vt:lpstr>Functions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28</cp:revision>
  <dcterms:created xsi:type="dcterms:W3CDTF">2025-01-02T16:15:08Z</dcterms:created>
  <dcterms:modified xsi:type="dcterms:W3CDTF">2025-01-03T14:31:33Z</dcterms:modified>
</cp:coreProperties>
</file>