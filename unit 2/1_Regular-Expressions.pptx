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FCF-C288-4A5E-B8E0-FF26171CC024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598C-F9E7-4213-82A6-27EB7D34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95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FCF-C288-4A5E-B8E0-FF26171CC024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598C-F9E7-4213-82A6-27EB7D34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99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FCF-C288-4A5E-B8E0-FF26171CC024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598C-F9E7-4213-82A6-27EB7D34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90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FCF-C288-4A5E-B8E0-FF26171CC024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598C-F9E7-4213-82A6-27EB7D34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80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FCF-C288-4A5E-B8E0-FF26171CC024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598C-F9E7-4213-82A6-27EB7D34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7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FCF-C288-4A5E-B8E0-FF26171CC024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598C-F9E7-4213-82A6-27EB7D34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48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FCF-C288-4A5E-B8E0-FF26171CC024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598C-F9E7-4213-82A6-27EB7D34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32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FCF-C288-4A5E-B8E0-FF26171CC024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598C-F9E7-4213-82A6-27EB7D34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86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FCF-C288-4A5E-B8E0-FF26171CC024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598C-F9E7-4213-82A6-27EB7D34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41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FCF-C288-4A5E-B8E0-FF26171CC024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598C-F9E7-4213-82A6-27EB7D34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725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FCF-C288-4A5E-B8E0-FF26171CC024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598C-F9E7-4213-82A6-27EB7D34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66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FCF-C288-4A5E-B8E0-FF26171CC024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598C-F9E7-4213-82A6-27EB7D34435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1178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FCF-C288-4A5E-B8E0-FF26171CC024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598C-F9E7-4213-82A6-27EB7D34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82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FCF-C288-4A5E-B8E0-FF26171CC024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598C-F9E7-4213-82A6-27EB7D34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91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FCF-C288-4A5E-B8E0-FF26171CC024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598C-F9E7-4213-82A6-27EB7D34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07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FCF-C288-4A5E-B8E0-FF26171CC024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598C-F9E7-4213-82A6-27EB7D34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59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FCF-C288-4A5E-B8E0-FF26171CC024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598C-F9E7-4213-82A6-27EB7D34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78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43B0FCF-C288-4A5E-B8E0-FF26171CC024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5598C-F9E7-4213-82A6-27EB7D34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192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import-module-python/" TargetMode="External"/><Relationship Id="rId2" Type="http://schemas.openxmlformats.org/officeDocument/2006/relationships/hyperlink" Target="https://www.geeksforgeeks.org/python-programming-language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Regular Expression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Python </a:t>
            </a:r>
            <a:r>
              <a:rPr lang="en-US" b="1" dirty="0" err="1"/>
              <a:t>RegEx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774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</a:t>
            </a:r>
            <a:r>
              <a:rPr lang="en-US" b="1" dirty="0" err="1"/>
              <a:t>RegEx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Regular Expression or </a:t>
            </a:r>
            <a:r>
              <a:rPr lang="en-US" b="1" dirty="0" err="1"/>
              <a:t>RegEx</a:t>
            </a:r>
            <a:r>
              <a:rPr lang="en-US" b="1" dirty="0"/>
              <a:t> </a:t>
            </a:r>
            <a:r>
              <a:rPr lang="en-US" dirty="0"/>
              <a:t>is a special sequence of characters that uses a search pattern to find a string or set of strings.</a:t>
            </a:r>
          </a:p>
          <a:p>
            <a:r>
              <a:rPr lang="en-US" dirty="0"/>
              <a:t>It can detect the presence or absence of a text by matching it with a particular pattern and also can split a pattern into one or more sub-patterns. </a:t>
            </a:r>
          </a:p>
          <a:p>
            <a:r>
              <a:rPr lang="en-US" b="1" dirty="0"/>
              <a:t>Regex Module in Python</a:t>
            </a:r>
          </a:p>
          <a:p>
            <a:r>
              <a:rPr lang="en-US" dirty="0">
                <a:hlinkClick r:id="rId2"/>
              </a:rPr>
              <a:t>Python </a:t>
            </a:r>
            <a:r>
              <a:rPr lang="en-US" dirty="0"/>
              <a:t>has a built-in module named “</a:t>
            </a:r>
            <a:r>
              <a:rPr lang="en-US" b="1" dirty="0"/>
              <a:t>re” </a:t>
            </a:r>
            <a:r>
              <a:rPr lang="en-US" dirty="0"/>
              <a:t>that is used for regular expressions in Python. We can import this module by using the </a:t>
            </a:r>
            <a:r>
              <a:rPr lang="en-US" dirty="0">
                <a:hlinkClick r:id="rId3"/>
              </a:rPr>
              <a:t>import statement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  <a:r>
              <a:rPr lang="en-US" dirty="0"/>
              <a:t> Importing re module in Python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06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The Match object has properties and methods used to retrieve information about the search, and the result</a:t>
            </a:r>
            <a:r>
              <a:rPr lang="en-US" sz="2800" dirty="0" smtClean="0"/>
              <a:t>:</a:t>
            </a:r>
            <a:endParaRPr lang="en-US" sz="2800" dirty="0"/>
          </a:p>
          <a:p>
            <a:r>
              <a:rPr lang="en-US" sz="2800" dirty="0"/>
              <a:t>.span() returns a tuple containing the start-, and end positions of the match.</a:t>
            </a:r>
          </a:p>
          <a:p>
            <a:r>
              <a:rPr lang="en-US" sz="2800" dirty="0"/>
              <a:t>.string returns the string passed into the function</a:t>
            </a:r>
          </a:p>
          <a:p>
            <a:r>
              <a:rPr lang="en-US" sz="2800" dirty="0"/>
              <a:t>.group() returns the part of the string where there was a match</a:t>
            </a:r>
          </a:p>
        </p:txBody>
      </p:sp>
    </p:spTree>
    <p:extLst>
      <p:ext uri="{BB962C8B-B14F-4D97-AF65-F5344CB8AC3E}">
        <p14:creationId xmlns:p14="http://schemas.microsoft.com/office/powerpoint/2010/main" val="236772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980" y="450376"/>
            <a:ext cx="11013742" cy="614149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Example:</a:t>
            </a:r>
          </a:p>
          <a:p>
            <a:r>
              <a:rPr lang="en-US" dirty="0"/>
              <a:t>import re</a:t>
            </a:r>
          </a:p>
          <a:p>
            <a:endParaRPr lang="en-US" dirty="0"/>
          </a:p>
          <a:p>
            <a:r>
              <a:rPr lang="en-US" dirty="0"/>
              <a:t>s = </a:t>
            </a:r>
            <a:r>
              <a:rPr lang="en-US" dirty="0" smtClean="0"/>
              <a:t>‘A </a:t>
            </a:r>
            <a:r>
              <a:rPr lang="en-US" dirty="0"/>
              <a:t>computer science portal for  </a:t>
            </a:r>
            <a:r>
              <a:rPr lang="en-US" dirty="0" smtClean="0"/>
              <a:t>CSE students'</a:t>
            </a:r>
            <a:endParaRPr lang="en-US" dirty="0"/>
          </a:p>
          <a:p>
            <a:endParaRPr lang="en-US" dirty="0"/>
          </a:p>
          <a:p>
            <a:r>
              <a:rPr lang="en-US" dirty="0"/>
              <a:t>match = </a:t>
            </a:r>
            <a:r>
              <a:rPr lang="en-US" dirty="0" err="1"/>
              <a:t>re.search</a:t>
            </a:r>
            <a:r>
              <a:rPr lang="en-US" dirty="0"/>
              <a:t>(</a:t>
            </a:r>
            <a:r>
              <a:rPr lang="en-US" dirty="0" err="1"/>
              <a:t>r'portal</a:t>
            </a:r>
            <a:r>
              <a:rPr lang="en-US" dirty="0"/>
              <a:t>', s)</a:t>
            </a:r>
          </a:p>
          <a:p>
            <a:endParaRPr lang="en-US" dirty="0"/>
          </a:p>
          <a:p>
            <a:r>
              <a:rPr lang="en-US" dirty="0"/>
              <a:t>print('Start Index:', </a:t>
            </a:r>
            <a:r>
              <a:rPr lang="en-US" dirty="0" err="1"/>
              <a:t>match.start</a:t>
            </a:r>
            <a:r>
              <a:rPr lang="en-US" dirty="0"/>
              <a:t>())</a:t>
            </a:r>
          </a:p>
          <a:p>
            <a:r>
              <a:rPr lang="en-US" dirty="0"/>
              <a:t>print('End Index:', </a:t>
            </a:r>
            <a:r>
              <a:rPr lang="en-US" dirty="0" err="1"/>
              <a:t>match.end</a:t>
            </a:r>
            <a:r>
              <a:rPr lang="en-US" dirty="0" smtClean="0"/>
              <a:t>())</a:t>
            </a:r>
          </a:p>
          <a:p>
            <a:r>
              <a:rPr lang="en-US" b="1" dirty="0"/>
              <a:t>Note: </a:t>
            </a:r>
            <a:r>
              <a:rPr lang="en-US" dirty="0"/>
              <a:t>Here r character (</a:t>
            </a:r>
            <a:r>
              <a:rPr lang="en-US" dirty="0" err="1"/>
              <a:t>r’portal</a:t>
            </a:r>
            <a:r>
              <a:rPr lang="en-US" dirty="0"/>
              <a:t>’) stands for raw, not regex. The raw string is slightly different from a regular string, it won’t interpret the \ character as an escape character. This is because the regular expression engine uses \ character for its own escaping purpose</a:t>
            </a:r>
            <a:r>
              <a:rPr lang="en-US" dirty="0" smtClean="0"/>
              <a:t>.</a:t>
            </a:r>
          </a:p>
          <a:p>
            <a:r>
              <a:rPr lang="en-US" dirty="0"/>
              <a:t>use Python’s raw string notation for regular expression patterns; backslashes are not handled in any special way in a string literal prefixed with 'r'. So r"\n" is a two-character string containing '\' and 'n', while "\n" is a one-character string containing a newline. Usually patterns will be expressed in Python code using this raw string notation.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358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2593"/>
            <a:ext cx="11241089" cy="1400530"/>
          </a:xfrm>
        </p:spPr>
        <p:txBody>
          <a:bodyPr/>
          <a:lstStyle/>
          <a:p>
            <a:r>
              <a:rPr lang="en-US" dirty="0" err="1"/>
              <a:t>metacharacters</a:t>
            </a:r>
            <a:r>
              <a:rPr lang="en-US" dirty="0"/>
              <a:t> or special sequences. 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6417752"/>
              </p:ext>
            </p:extLst>
          </p:nvPr>
        </p:nvGraphicFramePr>
        <p:xfrm>
          <a:off x="707528" y="1479432"/>
          <a:ext cx="894715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0263"/>
                <a:gridCol w="685688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Description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re.findall()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finds and returns all matching occurrences in a list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</a:rPr>
                        <a:t>re.compile</a:t>
                      </a:r>
                      <a:r>
                        <a:rPr lang="en-US" sz="2400" dirty="0">
                          <a:effectLst/>
                        </a:rPr>
                        <a:t>()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Regular expressions are compiled into pattern objects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re.split()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Split string by the occurrences of a character or a pattern.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re.sub()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Replaces all occurrences of a character or patter with a replacement string.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re.escape()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Escapes special character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re.search()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Searches for first occurrence of character or pattern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3079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re.findall</a:t>
            </a:r>
            <a:r>
              <a:rPr lang="en-US" b="1" dirty="0"/>
              <a:t>()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672" y="1460310"/>
            <a:ext cx="11109277" cy="5172502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/>
              <a:t>Return </a:t>
            </a:r>
            <a:r>
              <a:rPr lang="en-US" sz="2800" dirty="0"/>
              <a:t>all non-overlapping matches of pattern in string, as a list of strings. The string is scanned left-to-right, and matches are returned in the order found</a:t>
            </a:r>
            <a:r>
              <a:rPr lang="en-US" sz="2800" dirty="0" smtClean="0"/>
              <a:t>.</a:t>
            </a:r>
          </a:p>
          <a:p>
            <a:r>
              <a:rPr lang="en-US" sz="2800" dirty="0"/>
              <a:t>This code uses a regular expression (\d+) to find all the sequences of one or more digits in the given string. It searches for numeric values and stores them in a list. In this example, it finds and prints the numbers “123456789” and “987654321” from the input string.</a:t>
            </a:r>
          </a:p>
          <a:p>
            <a:r>
              <a:rPr lang="en-US" dirty="0"/>
              <a:t>import re</a:t>
            </a:r>
          </a:p>
          <a:p>
            <a:r>
              <a:rPr lang="en-US" dirty="0"/>
              <a:t>string = """Hello my Number is 123456789 and</a:t>
            </a:r>
          </a:p>
          <a:p>
            <a:r>
              <a:rPr lang="en-US" dirty="0"/>
              <a:t>            my friend's number is 987654321"""</a:t>
            </a:r>
          </a:p>
          <a:p>
            <a:r>
              <a:rPr lang="en-US" dirty="0"/>
              <a:t>regex = '\d+'</a:t>
            </a:r>
          </a:p>
          <a:p>
            <a:r>
              <a:rPr lang="en-US" dirty="0" smtClean="0"/>
              <a:t>match </a:t>
            </a:r>
            <a:r>
              <a:rPr lang="en-US" dirty="0"/>
              <a:t>= </a:t>
            </a:r>
            <a:r>
              <a:rPr lang="en-US" dirty="0" err="1"/>
              <a:t>re.findall</a:t>
            </a:r>
            <a:r>
              <a:rPr lang="en-US" dirty="0"/>
              <a:t>(regex, string)</a:t>
            </a:r>
          </a:p>
          <a:p>
            <a:r>
              <a:rPr lang="en-US" dirty="0"/>
              <a:t>print(match)</a:t>
            </a:r>
          </a:p>
        </p:txBody>
      </p:sp>
    </p:spTree>
    <p:extLst>
      <p:ext uri="{BB962C8B-B14F-4D97-AF65-F5344CB8AC3E}">
        <p14:creationId xmlns:p14="http://schemas.microsoft.com/office/powerpoint/2010/main" val="1788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re.compile</a:t>
            </a:r>
            <a:r>
              <a:rPr lang="en-US" dirty="0"/>
              <a:t>()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194" y="1351128"/>
            <a:ext cx="10631606" cy="4897271"/>
          </a:xfrm>
        </p:spPr>
        <p:txBody>
          <a:bodyPr>
            <a:normAutofit/>
          </a:bodyPr>
          <a:lstStyle/>
          <a:p>
            <a:r>
              <a:rPr lang="en-US" dirty="0" smtClean="0"/>
              <a:t>Regular </a:t>
            </a:r>
            <a:r>
              <a:rPr lang="en-US" dirty="0"/>
              <a:t>expressions are compiled into pattern objects, which have methods for various operations such as searching for pattern matches or performing string substitutions. </a:t>
            </a:r>
          </a:p>
          <a:p>
            <a:r>
              <a:rPr lang="en-US" dirty="0"/>
              <a:t>Example 1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/>
              <a:t>The code uses a regular expression pattern[a-e] to find and list all lowercase letters from ‘a’ to ‘e’ in the input string “Aye, said Mr. </a:t>
            </a:r>
            <a:r>
              <a:rPr lang="en-US" dirty="0" err="1"/>
              <a:t>Gibenson</a:t>
            </a:r>
            <a:r>
              <a:rPr lang="en-US" dirty="0"/>
              <a:t> Stark”. The output will be ['e', 'a', 'd', 'b', 'e'], which are the matching characters</a:t>
            </a:r>
            <a:r>
              <a:rPr lang="en-US" dirty="0" smtClean="0"/>
              <a:t>.</a:t>
            </a:r>
          </a:p>
          <a:p>
            <a:r>
              <a:rPr lang="en-US" dirty="0"/>
              <a:t>import re</a:t>
            </a:r>
          </a:p>
          <a:p>
            <a:r>
              <a:rPr lang="en-US" dirty="0"/>
              <a:t>p = </a:t>
            </a:r>
            <a:r>
              <a:rPr lang="en-US" dirty="0" err="1"/>
              <a:t>re.compile</a:t>
            </a:r>
            <a:r>
              <a:rPr lang="en-US" dirty="0"/>
              <a:t>('[a-e]')</a:t>
            </a:r>
          </a:p>
          <a:p>
            <a:endParaRPr lang="en-US" dirty="0"/>
          </a:p>
          <a:p>
            <a:r>
              <a:rPr lang="en-US" dirty="0"/>
              <a:t>print(</a:t>
            </a:r>
            <a:r>
              <a:rPr lang="en-US" dirty="0" err="1"/>
              <a:t>p.findall</a:t>
            </a:r>
            <a:r>
              <a:rPr lang="en-US" dirty="0"/>
              <a:t>("Aye, said Mr. </a:t>
            </a:r>
            <a:r>
              <a:rPr lang="en-US" dirty="0" err="1"/>
              <a:t>Gibenson</a:t>
            </a:r>
            <a:r>
              <a:rPr lang="en-US" dirty="0"/>
              <a:t> Stark"))</a:t>
            </a:r>
          </a:p>
        </p:txBody>
      </p:sp>
    </p:spTree>
    <p:extLst>
      <p:ext uri="{BB962C8B-B14F-4D97-AF65-F5344CB8AC3E}">
        <p14:creationId xmlns:p14="http://schemas.microsoft.com/office/powerpoint/2010/main" val="3775925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968" y="1351128"/>
            <a:ext cx="11068334" cy="5240741"/>
          </a:xfrm>
        </p:spPr>
        <p:txBody>
          <a:bodyPr>
            <a:normAutofit/>
          </a:bodyPr>
          <a:lstStyle/>
          <a:p>
            <a:r>
              <a:rPr lang="en-US" dirty="0"/>
              <a:t>The code uses a regular expression pattern ‘</a:t>
            </a:r>
            <a:r>
              <a:rPr lang="en-US" dirty="0" err="1"/>
              <a:t>ab</a:t>
            </a:r>
            <a:r>
              <a:rPr lang="en-US" dirty="0"/>
              <a:t>*’ to find and list all occurrences of ‘</a:t>
            </a:r>
            <a:r>
              <a:rPr lang="en-US" dirty="0" err="1"/>
              <a:t>ab</a:t>
            </a:r>
            <a:r>
              <a:rPr lang="en-US" dirty="0"/>
              <a:t>’ followed by zero or more ‘b’ characters in the input string “</a:t>
            </a:r>
            <a:r>
              <a:rPr lang="en-US" dirty="0" err="1"/>
              <a:t>ababbaabbb</a:t>
            </a:r>
            <a:r>
              <a:rPr lang="en-US" dirty="0"/>
              <a:t>”. It returns the following list of matches: [‘</a:t>
            </a:r>
            <a:r>
              <a:rPr lang="en-US" dirty="0" err="1"/>
              <a:t>ab</a:t>
            </a:r>
            <a:r>
              <a:rPr lang="en-US" dirty="0"/>
              <a:t>’, ‘</a:t>
            </a:r>
            <a:r>
              <a:rPr lang="en-US" dirty="0" err="1"/>
              <a:t>abb</a:t>
            </a:r>
            <a:r>
              <a:rPr lang="en-US" dirty="0"/>
              <a:t>’, ‘</a:t>
            </a:r>
            <a:r>
              <a:rPr lang="en-US" dirty="0" err="1"/>
              <a:t>abbb</a:t>
            </a:r>
            <a:r>
              <a:rPr lang="en-US" dirty="0" smtClean="0"/>
              <a:t>’].</a:t>
            </a:r>
          </a:p>
          <a:p>
            <a:r>
              <a:rPr lang="en-US" dirty="0" smtClean="0"/>
              <a:t>import </a:t>
            </a:r>
            <a:r>
              <a:rPr lang="en-US" dirty="0"/>
              <a:t>re</a:t>
            </a:r>
          </a:p>
          <a:p>
            <a:r>
              <a:rPr lang="en-US" dirty="0"/>
              <a:t>p = </a:t>
            </a:r>
            <a:r>
              <a:rPr lang="en-US" dirty="0" err="1"/>
              <a:t>re.compile</a:t>
            </a:r>
            <a:r>
              <a:rPr lang="en-US" dirty="0"/>
              <a:t>('</a:t>
            </a:r>
            <a:r>
              <a:rPr lang="en-US" dirty="0" err="1"/>
              <a:t>ab</a:t>
            </a:r>
            <a:r>
              <a:rPr lang="en-US" dirty="0"/>
              <a:t>*')</a:t>
            </a:r>
          </a:p>
          <a:p>
            <a:r>
              <a:rPr lang="en-US" dirty="0"/>
              <a:t>print(</a:t>
            </a:r>
            <a:r>
              <a:rPr lang="en-US" dirty="0" err="1"/>
              <a:t>p.findall</a:t>
            </a:r>
            <a:r>
              <a:rPr lang="en-US" dirty="0"/>
              <a:t>("</a:t>
            </a:r>
            <a:r>
              <a:rPr lang="en-US" dirty="0" err="1"/>
              <a:t>ababbaabbb</a:t>
            </a:r>
            <a:r>
              <a:rPr lang="en-US" dirty="0" smtClean="0"/>
              <a:t>"))</a:t>
            </a:r>
          </a:p>
          <a:p>
            <a:r>
              <a:rPr lang="en-US" b="1" dirty="0"/>
              <a:t>Understanding the Output: </a:t>
            </a:r>
            <a:endParaRPr lang="en-US" dirty="0"/>
          </a:p>
          <a:p>
            <a:r>
              <a:rPr lang="en-US" dirty="0"/>
              <a:t>Our RE is </a:t>
            </a:r>
            <a:r>
              <a:rPr lang="en-US" dirty="0" err="1"/>
              <a:t>ab</a:t>
            </a:r>
            <a:r>
              <a:rPr lang="en-US" dirty="0"/>
              <a:t>*, which ‘a’ accompanied by any no. of ‘b’s, starting from 0.</a:t>
            </a:r>
          </a:p>
          <a:p>
            <a:r>
              <a:rPr lang="en-US" dirty="0"/>
              <a:t>Output ‘</a:t>
            </a:r>
            <a:r>
              <a:rPr lang="en-US" dirty="0" err="1"/>
              <a:t>ab</a:t>
            </a:r>
            <a:r>
              <a:rPr lang="en-US" dirty="0"/>
              <a:t>’, is valid because of single ‘a’ accompanied by single ‘b’.</a:t>
            </a:r>
          </a:p>
          <a:p>
            <a:r>
              <a:rPr lang="en-US" dirty="0"/>
              <a:t>Output ‘</a:t>
            </a:r>
            <a:r>
              <a:rPr lang="en-US" dirty="0" err="1"/>
              <a:t>abb</a:t>
            </a:r>
            <a:r>
              <a:rPr lang="en-US" dirty="0"/>
              <a:t>’, is valid because of single ‘a’ accompanied by 2 ‘b’.</a:t>
            </a:r>
          </a:p>
          <a:p>
            <a:r>
              <a:rPr lang="en-US" dirty="0"/>
              <a:t>Output ‘a’, is valid because of single ‘a’ accompanied by 0 ‘b’.</a:t>
            </a:r>
          </a:p>
          <a:p>
            <a:r>
              <a:rPr lang="en-US" dirty="0"/>
              <a:t>Output ‘</a:t>
            </a:r>
            <a:r>
              <a:rPr lang="en-US" dirty="0" err="1"/>
              <a:t>abbb</a:t>
            </a:r>
            <a:r>
              <a:rPr lang="en-US" dirty="0"/>
              <a:t>’, is valid because of single ‘a’ accompanied by 3 ‘b’.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02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re.split</a:t>
            </a:r>
            <a:r>
              <a:rPr lang="en-US" dirty="0"/>
              <a:t>()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376" y="1105470"/>
            <a:ext cx="10631605" cy="5527342"/>
          </a:xfrm>
        </p:spPr>
        <p:txBody>
          <a:bodyPr/>
          <a:lstStyle/>
          <a:p>
            <a:r>
              <a:rPr lang="en-US" dirty="0" smtClean="0"/>
              <a:t>Split </a:t>
            </a:r>
            <a:r>
              <a:rPr lang="en-US" dirty="0"/>
              <a:t>string by the occurrences of a character or a pattern, upon finding that pattern, the remaining characters from the string are returned as part of the resulting list. </a:t>
            </a:r>
          </a:p>
          <a:p>
            <a:r>
              <a:rPr lang="en-US" dirty="0"/>
              <a:t>Syntax : </a:t>
            </a:r>
          </a:p>
          <a:p>
            <a:r>
              <a:rPr lang="en-US" dirty="0" err="1"/>
              <a:t>re.split</a:t>
            </a:r>
            <a:r>
              <a:rPr lang="en-US" dirty="0"/>
              <a:t>(pattern, string, </a:t>
            </a:r>
            <a:r>
              <a:rPr lang="en-US" dirty="0" err="1"/>
              <a:t>maxsplit</a:t>
            </a:r>
            <a:r>
              <a:rPr lang="en-US" dirty="0"/>
              <a:t>=0, flags=0</a:t>
            </a:r>
            <a:r>
              <a:rPr lang="en-US" dirty="0" smtClean="0"/>
              <a:t>)</a:t>
            </a:r>
          </a:p>
          <a:p>
            <a:r>
              <a:rPr lang="en-US" dirty="0"/>
              <a:t>The First parameter, pattern denotes the regular expression, string is the given string in which pattern will be searched for and in which splitting occurs, </a:t>
            </a:r>
            <a:r>
              <a:rPr lang="en-US" dirty="0" smtClean="0"/>
              <a:t>max split </a:t>
            </a:r>
            <a:r>
              <a:rPr lang="en-US" dirty="0"/>
              <a:t>if not provided is considered to be zero ‘0’, and if any nonzero value is provided, then at most that many splits occur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If </a:t>
            </a:r>
            <a:r>
              <a:rPr lang="en-US" dirty="0" err="1"/>
              <a:t>maxsplit</a:t>
            </a:r>
            <a:r>
              <a:rPr lang="en-US" dirty="0"/>
              <a:t> = 1, then the string will split once only, resulting in a list of length 2. The flags are very useful and can help to shorten code, they are not necessary parameters</a:t>
            </a:r>
            <a:r>
              <a:rPr lang="en-US" dirty="0" smtClean="0"/>
              <a:t>,</a:t>
            </a:r>
          </a:p>
          <a:p>
            <a:r>
              <a:rPr lang="en-US" dirty="0" smtClean="0"/>
              <a:t> </a:t>
            </a:r>
            <a:r>
              <a:rPr lang="en-US" dirty="0" err="1"/>
              <a:t>eg</a:t>
            </a:r>
            <a:r>
              <a:rPr lang="en-US" dirty="0"/>
              <a:t>: flags = </a:t>
            </a:r>
            <a:r>
              <a:rPr lang="en-US" dirty="0" err="1"/>
              <a:t>re.IGNORECASE</a:t>
            </a:r>
            <a:r>
              <a:rPr lang="en-US" dirty="0"/>
              <a:t>, in this split, the case, i.e. the lowercase or the uppercase will be ignored.</a:t>
            </a:r>
          </a:p>
        </p:txBody>
      </p:sp>
    </p:spTree>
    <p:extLst>
      <p:ext uri="{BB962C8B-B14F-4D97-AF65-F5344CB8AC3E}">
        <p14:creationId xmlns:p14="http://schemas.microsoft.com/office/powerpoint/2010/main" val="538860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296538"/>
            <a:ext cx="9883136" cy="4951862"/>
          </a:xfrm>
        </p:spPr>
        <p:txBody>
          <a:bodyPr/>
          <a:lstStyle/>
          <a:p>
            <a:r>
              <a:rPr lang="en-US" dirty="0" smtClean="0"/>
              <a:t>Splits </a:t>
            </a:r>
            <a:r>
              <a:rPr lang="en-US" dirty="0"/>
              <a:t>a string using non-word characters and spaces as delimiters, returning words: ['Words', 'words', 'Words']. Considers apostrophes as non-word characters: ['Word', 's', 'words', 'Words']. Splits using non-word characters and digits:['On', '12th', 'Jan', '2016', 'at', '11', '02', 'AM']. Splits using digits as the delimiter: ['On ', '</a:t>
            </a:r>
            <a:r>
              <a:rPr lang="en-US" dirty="0" err="1"/>
              <a:t>th</a:t>
            </a:r>
            <a:r>
              <a:rPr lang="en-US" dirty="0"/>
              <a:t> Jan ', ', at ', ':', ' AM</a:t>
            </a:r>
            <a:r>
              <a:rPr lang="en-US" dirty="0" smtClean="0"/>
              <a:t>'].</a:t>
            </a:r>
          </a:p>
          <a:p>
            <a:endParaRPr lang="en-US" dirty="0" smtClean="0"/>
          </a:p>
          <a:p>
            <a:r>
              <a:rPr lang="en-US" dirty="0" smtClean="0"/>
              <a:t>from </a:t>
            </a:r>
            <a:r>
              <a:rPr lang="en-US" dirty="0"/>
              <a:t>re import split</a:t>
            </a:r>
          </a:p>
          <a:p>
            <a:r>
              <a:rPr lang="en-US" dirty="0" smtClean="0"/>
              <a:t>print(split</a:t>
            </a:r>
            <a:r>
              <a:rPr lang="en-US" dirty="0"/>
              <a:t>('\W+', 'Words, words , Words'))</a:t>
            </a:r>
          </a:p>
          <a:p>
            <a:r>
              <a:rPr lang="en-US" dirty="0"/>
              <a:t>print(split('\W+', "Word's words Words"))</a:t>
            </a:r>
          </a:p>
          <a:p>
            <a:r>
              <a:rPr lang="en-US" dirty="0"/>
              <a:t>print(split('\W+', 'On 12th Jan 2016, at 11:02 AM'))</a:t>
            </a:r>
          </a:p>
          <a:p>
            <a:r>
              <a:rPr lang="en-US" dirty="0"/>
              <a:t>print(split('\d+', 'On 12th Jan 2016, at 11:02 AM'))</a:t>
            </a:r>
          </a:p>
        </p:txBody>
      </p:sp>
    </p:spTree>
    <p:extLst>
      <p:ext uri="{BB962C8B-B14F-4D97-AF65-F5344CB8AC3E}">
        <p14:creationId xmlns:p14="http://schemas.microsoft.com/office/powerpoint/2010/main" val="3497555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</a:t>
            </a:r>
            <a:r>
              <a:rPr lang="en-US" b="1" dirty="0" err="1"/>
              <a:t>re.sub</a:t>
            </a:r>
            <a:r>
              <a:rPr lang="en-US" b="1" dirty="0"/>
              <a:t>()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405720"/>
            <a:ext cx="10667883" cy="4842680"/>
          </a:xfrm>
        </p:spPr>
        <p:txBody>
          <a:bodyPr/>
          <a:lstStyle/>
          <a:p>
            <a:r>
              <a:rPr lang="en-US" sz="2800" dirty="0" smtClean="0"/>
              <a:t>The </a:t>
            </a:r>
            <a:r>
              <a:rPr lang="en-US" sz="2800" dirty="0"/>
              <a:t>‘sub’ in the function stands for </a:t>
            </a:r>
            <a:r>
              <a:rPr lang="en-US" sz="2800" dirty="0" err="1"/>
              <a:t>SubString</a:t>
            </a:r>
            <a:r>
              <a:rPr lang="en-US" sz="2800" dirty="0"/>
              <a:t>, a certain regular expression pattern is searched in the given string(3rd parameter), and upon finding the substring pattern is replaced by </a:t>
            </a:r>
            <a:r>
              <a:rPr lang="en-US" sz="2800" dirty="0" err="1"/>
              <a:t>repl</a:t>
            </a:r>
            <a:r>
              <a:rPr lang="en-US" sz="2800" dirty="0"/>
              <a:t>(2nd parameter), count checks and maintains the number of times this occurs. </a:t>
            </a:r>
            <a:endParaRPr lang="en-US" sz="2800" dirty="0" smtClean="0"/>
          </a:p>
          <a:p>
            <a:r>
              <a:rPr lang="en-US" sz="2800" dirty="0"/>
              <a:t>Syntax:</a:t>
            </a:r>
          </a:p>
          <a:p>
            <a:endParaRPr lang="en-US" sz="2800" dirty="0"/>
          </a:p>
          <a:p>
            <a:r>
              <a:rPr lang="en-US" sz="2800" dirty="0"/>
              <a:t> </a:t>
            </a:r>
            <a:r>
              <a:rPr lang="en-US" sz="2800" dirty="0" err="1"/>
              <a:t>re.sub</a:t>
            </a:r>
            <a:r>
              <a:rPr lang="en-US" sz="2800" dirty="0"/>
              <a:t>(pattern, </a:t>
            </a:r>
            <a:r>
              <a:rPr lang="en-US" sz="2800" dirty="0" err="1"/>
              <a:t>repl</a:t>
            </a:r>
            <a:r>
              <a:rPr lang="en-US" sz="2800" dirty="0"/>
              <a:t>, string, count=0, flags=0)</a:t>
            </a:r>
            <a:endParaRPr lang="en-US" sz="2800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331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603" y="1310186"/>
            <a:ext cx="10959151" cy="4938214"/>
          </a:xfrm>
        </p:spPr>
        <p:txBody>
          <a:bodyPr>
            <a:normAutofit/>
          </a:bodyPr>
          <a:lstStyle/>
          <a:p>
            <a:r>
              <a:rPr lang="en-US" sz="2800" dirty="0" smtClean="0"/>
              <a:t>    </a:t>
            </a:r>
            <a:r>
              <a:rPr lang="en-US" sz="2800" dirty="0"/>
              <a:t>First statement replaces all occurrences of ‘</a:t>
            </a:r>
            <a:r>
              <a:rPr lang="en-US" sz="2800" dirty="0" err="1"/>
              <a:t>ub</a:t>
            </a:r>
            <a:r>
              <a:rPr lang="en-US" sz="2800" dirty="0"/>
              <a:t>’ with ‘~*’ (case-insensitive): 'S~*</a:t>
            </a:r>
            <a:r>
              <a:rPr lang="en-US" sz="2800" dirty="0" err="1"/>
              <a:t>ject</a:t>
            </a:r>
            <a:r>
              <a:rPr lang="en-US" sz="2800" dirty="0"/>
              <a:t> has ~*</a:t>
            </a:r>
            <a:r>
              <a:rPr lang="en-US" sz="2800" dirty="0" err="1"/>
              <a:t>er</a:t>
            </a:r>
            <a:r>
              <a:rPr lang="en-US" sz="2800" dirty="0"/>
              <a:t> booked already' .</a:t>
            </a:r>
          </a:p>
          <a:p>
            <a:r>
              <a:rPr lang="en-US" sz="2800" dirty="0"/>
              <a:t>    Second statement replaces all occurrences of ‘</a:t>
            </a:r>
            <a:r>
              <a:rPr lang="en-US" sz="2800" dirty="0" err="1"/>
              <a:t>ub</a:t>
            </a:r>
            <a:r>
              <a:rPr lang="en-US" sz="2800" dirty="0"/>
              <a:t>’ with ‘~*’ (case-sensitive): 'S~*</a:t>
            </a:r>
            <a:r>
              <a:rPr lang="en-US" sz="2800" dirty="0" err="1"/>
              <a:t>ject</a:t>
            </a:r>
            <a:r>
              <a:rPr lang="en-US" sz="2800" dirty="0"/>
              <a:t> has </a:t>
            </a:r>
            <a:r>
              <a:rPr lang="en-US" sz="2800" dirty="0" err="1"/>
              <a:t>Uber</a:t>
            </a:r>
            <a:r>
              <a:rPr lang="en-US" sz="2800" dirty="0"/>
              <a:t> booked already' .</a:t>
            </a:r>
          </a:p>
          <a:p>
            <a:r>
              <a:rPr lang="en-US" sz="2800" dirty="0"/>
              <a:t>    Third statement replaces the first occurrence of ‘</a:t>
            </a:r>
            <a:r>
              <a:rPr lang="en-US" sz="2800" dirty="0" err="1"/>
              <a:t>ub</a:t>
            </a:r>
            <a:r>
              <a:rPr lang="en-US" sz="2800" dirty="0"/>
              <a:t>’ with ‘~*’ (case-insensitive): 'S~*</a:t>
            </a:r>
            <a:r>
              <a:rPr lang="en-US" sz="2800" dirty="0" err="1"/>
              <a:t>ject</a:t>
            </a:r>
            <a:r>
              <a:rPr lang="en-US" sz="2800" dirty="0"/>
              <a:t> has </a:t>
            </a:r>
            <a:r>
              <a:rPr lang="en-US" sz="2800" dirty="0" err="1"/>
              <a:t>Uber</a:t>
            </a:r>
            <a:r>
              <a:rPr lang="en-US" sz="2800" dirty="0"/>
              <a:t> booked already' .</a:t>
            </a:r>
          </a:p>
          <a:p>
            <a:r>
              <a:rPr lang="en-US" sz="2800" dirty="0"/>
              <a:t>    Fourth replaces ‘AND’ with ‘ &amp; ‘ (case-insensitive): 'Baked Beans &amp; Spam' . </a:t>
            </a:r>
          </a:p>
        </p:txBody>
      </p:sp>
    </p:spTree>
    <p:extLst>
      <p:ext uri="{BB962C8B-B14F-4D97-AF65-F5344CB8AC3E}">
        <p14:creationId xmlns:p14="http://schemas.microsoft.com/office/powerpoint/2010/main" val="3462126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595" y="1629838"/>
            <a:ext cx="10507795" cy="4195481"/>
          </a:xfrm>
        </p:spPr>
        <p:txBody>
          <a:bodyPr>
            <a:noAutofit/>
          </a:bodyPr>
          <a:lstStyle/>
          <a:p>
            <a:r>
              <a:rPr lang="en-US" sz="2800" dirty="0"/>
              <a:t>import re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re.sub</a:t>
            </a:r>
            <a:r>
              <a:rPr lang="en-US" sz="2800" dirty="0"/>
              <a:t>('</a:t>
            </a:r>
            <a:r>
              <a:rPr lang="en-US" sz="2800" dirty="0" err="1"/>
              <a:t>ub</a:t>
            </a:r>
            <a:r>
              <a:rPr lang="en-US" sz="2800" dirty="0"/>
              <a:t>', '~*', 'Subject has </a:t>
            </a:r>
            <a:r>
              <a:rPr lang="en-US" sz="2800" dirty="0" err="1"/>
              <a:t>Uber</a:t>
            </a:r>
            <a:r>
              <a:rPr lang="en-US" sz="2800" dirty="0"/>
              <a:t> booked already', </a:t>
            </a:r>
          </a:p>
          <a:p>
            <a:r>
              <a:rPr lang="en-US" sz="2800" dirty="0"/>
              <a:t>             flags=</a:t>
            </a:r>
            <a:r>
              <a:rPr lang="en-US" sz="2800" dirty="0" err="1"/>
              <a:t>re.IGNORECASE</a:t>
            </a:r>
            <a:r>
              <a:rPr lang="en-US" sz="2800" dirty="0"/>
              <a:t>))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re.sub</a:t>
            </a:r>
            <a:r>
              <a:rPr lang="en-US" sz="2800" dirty="0"/>
              <a:t>('</a:t>
            </a:r>
            <a:r>
              <a:rPr lang="en-US" sz="2800" dirty="0" err="1"/>
              <a:t>ub</a:t>
            </a:r>
            <a:r>
              <a:rPr lang="en-US" sz="2800" dirty="0"/>
              <a:t>', '~*', 'Subject has </a:t>
            </a:r>
            <a:r>
              <a:rPr lang="en-US" sz="2800" dirty="0" err="1"/>
              <a:t>Uber</a:t>
            </a:r>
            <a:r>
              <a:rPr lang="en-US" sz="2800" dirty="0"/>
              <a:t> booked already'))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re.sub</a:t>
            </a:r>
            <a:r>
              <a:rPr lang="en-US" sz="2800" dirty="0"/>
              <a:t>('</a:t>
            </a:r>
            <a:r>
              <a:rPr lang="en-US" sz="2800" dirty="0" err="1"/>
              <a:t>ub</a:t>
            </a:r>
            <a:r>
              <a:rPr lang="en-US" sz="2800" dirty="0"/>
              <a:t>', '~*', 'Subject has </a:t>
            </a:r>
            <a:r>
              <a:rPr lang="en-US" sz="2800" dirty="0" err="1"/>
              <a:t>Uber</a:t>
            </a:r>
            <a:r>
              <a:rPr lang="en-US" sz="2800" dirty="0"/>
              <a:t> booked already',</a:t>
            </a:r>
          </a:p>
          <a:p>
            <a:r>
              <a:rPr lang="en-US" sz="2800" dirty="0"/>
              <a:t>             count=1, flags=</a:t>
            </a:r>
            <a:r>
              <a:rPr lang="en-US" sz="2800" dirty="0" err="1"/>
              <a:t>re.IGNORECASE</a:t>
            </a:r>
            <a:r>
              <a:rPr lang="en-US" sz="2800" dirty="0"/>
              <a:t>))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re.sub</a:t>
            </a:r>
            <a:r>
              <a:rPr lang="en-US" sz="2800" dirty="0"/>
              <a:t>(r'\</a:t>
            </a:r>
            <a:r>
              <a:rPr lang="en-US" sz="2800" dirty="0" err="1"/>
              <a:t>sAND</a:t>
            </a:r>
            <a:r>
              <a:rPr lang="en-US" sz="2800" dirty="0"/>
              <a:t>\s', ' &amp; ', 'Baked Beans And Spam', </a:t>
            </a:r>
          </a:p>
          <a:p>
            <a:r>
              <a:rPr lang="en-US" sz="2800" dirty="0"/>
              <a:t>             flags=</a:t>
            </a:r>
            <a:r>
              <a:rPr lang="en-US" sz="2800" dirty="0" err="1"/>
              <a:t>re.IGNORECASE</a:t>
            </a:r>
            <a:r>
              <a:rPr lang="en-US" sz="2800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868196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37" y="138819"/>
            <a:ext cx="9404723" cy="1400530"/>
          </a:xfrm>
        </p:spPr>
        <p:txBody>
          <a:bodyPr/>
          <a:lstStyle/>
          <a:p>
            <a:r>
              <a:rPr lang="en-US" b="1" dirty="0" err="1"/>
              <a:t>Metacharacters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8331418"/>
              </p:ext>
            </p:extLst>
          </p:nvPr>
        </p:nvGraphicFramePr>
        <p:xfrm>
          <a:off x="218364" y="839084"/>
          <a:ext cx="10549720" cy="5896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429"/>
                <a:gridCol w="7432917"/>
                <a:gridCol w="2058374"/>
              </a:tblGrid>
              <a:tr h="393751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Character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Example</a:t>
                      </a:r>
                    </a:p>
                  </a:txBody>
                  <a:tcPr anchor="ctr"/>
                </a:tc>
              </a:tr>
              <a:tr h="393751">
                <a:tc>
                  <a:txBody>
                    <a:bodyPr/>
                    <a:lstStyle/>
                    <a:p>
                      <a:r>
                        <a:rPr lang="en-US" dirty="0"/>
                        <a:t>[]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 set of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"[a-m]"</a:t>
                      </a:r>
                    </a:p>
                  </a:txBody>
                  <a:tcPr anchor="ctr"/>
                </a:tc>
              </a:tr>
              <a:tr h="747455">
                <a:tc>
                  <a:txBody>
                    <a:bodyPr/>
                    <a:lstStyle/>
                    <a:p>
                      <a:r>
                        <a:rPr lang="en-US" dirty="0"/>
                        <a:t>\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Signals a special sequence (can also be used to escape special characters)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"\d"</a:t>
                      </a:r>
                    </a:p>
                  </a:txBody>
                  <a:tcPr anchor="ctr"/>
                </a:tc>
              </a:tr>
              <a:tr h="679626"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character (except newline character)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"he..o"</a:t>
                      </a:r>
                    </a:p>
                  </a:txBody>
                  <a:tcPr anchor="ctr"/>
                </a:tc>
              </a:tr>
              <a:tr h="393751">
                <a:tc>
                  <a:txBody>
                    <a:bodyPr/>
                    <a:lstStyle/>
                    <a:p>
                      <a:r>
                        <a:rPr lang="en-US" dirty="0"/>
                        <a:t>^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Starts with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"^hello"</a:t>
                      </a:r>
                    </a:p>
                  </a:txBody>
                  <a:tcPr anchor="ctr"/>
                </a:tc>
              </a:tr>
              <a:tr h="393751"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Ends with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"planet$"</a:t>
                      </a:r>
                    </a:p>
                  </a:txBody>
                  <a:tcPr anchor="ctr"/>
                </a:tc>
              </a:tr>
              <a:tr h="393751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Zero or more occurrences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"he.*o"</a:t>
                      </a:r>
                    </a:p>
                  </a:txBody>
                  <a:tcPr anchor="ctr"/>
                </a:tc>
              </a:tr>
              <a:tr h="393751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One or more occurrences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</a:t>
                      </a:r>
                      <a:r>
                        <a:rPr lang="en-US" dirty="0" err="1"/>
                        <a:t>he.+o</a:t>
                      </a:r>
                      <a:r>
                        <a:rPr lang="en-US" dirty="0"/>
                        <a:t>"</a:t>
                      </a:r>
                    </a:p>
                  </a:txBody>
                  <a:tcPr anchor="ctr"/>
                </a:tc>
              </a:tr>
              <a:tr h="393751"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Zero or one occurrences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</a:t>
                      </a:r>
                      <a:r>
                        <a:rPr lang="en-US" dirty="0" err="1"/>
                        <a:t>he.?o</a:t>
                      </a:r>
                      <a:r>
                        <a:rPr lang="en-US" dirty="0"/>
                        <a:t>"</a:t>
                      </a:r>
                    </a:p>
                  </a:txBody>
                  <a:tcPr anchor="ctr"/>
                </a:tc>
              </a:tr>
              <a:tr h="679626">
                <a:tc>
                  <a:txBody>
                    <a:bodyPr/>
                    <a:lstStyle/>
                    <a:p>
                      <a:r>
                        <a:rPr lang="en-US" dirty="0"/>
                        <a:t>{}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Exactly the specified number of occurrences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"he.{2}o"</a:t>
                      </a:r>
                    </a:p>
                  </a:txBody>
                  <a:tcPr anchor="ctr"/>
                </a:tc>
              </a:tr>
              <a:tr h="393751">
                <a:tc>
                  <a:txBody>
                    <a:bodyPr/>
                    <a:lstStyle/>
                    <a:p>
                      <a:r>
                        <a:rPr lang="en-US" dirty="0"/>
                        <a:t>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Either 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</a:t>
                      </a:r>
                      <a:r>
                        <a:rPr lang="en-US" dirty="0" err="1"/>
                        <a:t>falls|stays</a:t>
                      </a:r>
                      <a:r>
                        <a:rPr lang="en-US" dirty="0"/>
                        <a:t>"</a:t>
                      </a:r>
                    </a:p>
                  </a:txBody>
                  <a:tcPr anchor="ctr"/>
                </a:tc>
              </a:tr>
              <a:tr h="393751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Capture and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404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b="1" dirty="0"/>
              <a:t>Special Sequences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2428253"/>
              </p:ext>
            </p:extLst>
          </p:nvPr>
        </p:nvGraphicFramePr>
        <p:xfrm>
          <a:off x="122830" y="581454"/>
          <a:ext cx="11627892" cy="625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7230"/>
                <a:gridCol w="9016962"/>
                <a:gridCol w="15737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Character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Example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 match if the specified characters are at the beginning of the 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"\AThe"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 match where the specified characters are at the beginning or at the end of a word</a:t>
                      </a:r>
                      <a:br>
                        <a:rPr lang="en-US" dirty="0"/>
                      </a:br>
                      <a:r>
                        <a:rPr lang="en-US" dirty="0"/>
                        <a:t>(the "r" in the beginning is making sure that the string is being treated as a "raw string")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r"\</a:t>
                      </a:r>
                      <a:r>
                        <a:rPr lang="en-US" dirty="0" err="1"/>
                        <a:t>bain</a:t>
                      </a:r>
                      <a:r>
                        <a:rPr lang="en-US" dirty="0"/>
                        <a:t>"</a:t>
                      </a:r>
                      <a:br>
                        <a:rPr lang="en-US" dirty="0"/>
                      </a:b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r>
                        <a:rPr lang="en-US" dirty="0" err="1"/>
                        <a:t>r"ain</a:t>
                      </a:r>
                      <a:r>
                        <a:rPr lang="en-US" dirty="0"/>
                        <a:t>\b"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Returns a match where the specified characters are present, but NOT at the beginning (or at the end) of a word</a:t>
                      </a:r>
                      <a:br>
                        <a:rPr lang="en-US"/>
                      </a:br>
                      <a:r>
                        <a:rPr lang="en-US"/>
                        <a:t>(the "r" in the beginning is making sure that the string is being treated as a "raw string")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r"\Bain"</a:t>
                      </a:r>
                      <a:br>
                        <a:rPr lang="en-US"/>
                      </a:br>
                      <a:r>
                        <a:rPr lang="en-US"/>
                        <a:t/>
                      </a:r>
                      <a:br>
                        <a:rPr lang="en-US"/>
                      </a:br>
                      <a:r>
                        <a:rPr lang="en-US"/>
                        <a:t>r"ain\B"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Returns a match where the string contains digits (numbers from 0-9)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"\d"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Returns a match where the string DOES NOT contain digits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"\D"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Returns a match where the string contains a white space character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"\s"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Returns a match where the string DOES NOT contain a white space character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"\S"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 match where the string contains any word characters (characters from a to Z, digits from 0-9, and the underscore _ character)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"\w"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Returns a match where the string DOES NOT contain any word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"\W"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 match if the specified characters are at the end of the 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"Spain\Z"</a:t>
                      </a:r>
                      <a:endParaRPr lang="en-US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0651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281" y="0"/>
            <a:ext cx="9404723" cy="1400530"/>
          </a:xfrm>
        </p:spPr>
        <p:txBody>
          <a:bodyPr/>
          <a:lstStyle/>
          <a:p>
            <a:r>
              <a:rPr lang="en-US" b="1" dirty="0"/>
              <a:t>Sets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40" y="1015688"/>
            <a:ext cx="8946541" cy="4195481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set is a set of characters inside a pair of square brackets [] with a special meaning: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251397"/>
              </p:ext>
            </p:extLst>
          </p:nvPr>
        </p:nvGraphicFramePr>
        <p:xfrm>
          <a:off x="898595" y="1934316"/>
          <a:ext cx="9992318" cy="441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949"/>
                <a:gridCol w="846936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[arn]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Returns a match where one of the specified characters (a, r, or n) is present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[a-n]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 match for any lower case character, alphabetically between a and 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[^</a:t>
                      </a:r>
                      <a:r>
                        <a:rPr lang="en-US" dirty="0" err="1"/>
                        <a:t>arn</a:t>
                      </a:r>
                      <a:r>
                        <a:rPr lang="en-US" dirty="0"/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 match for any character EXCEPT a, r, and 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[0123]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 match where any of the specified digits (0, 1, 2, or 3) are present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[0-9]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 match for any digit between 0 and 9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[0-5][0-9]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 match for any two-digit numbers from 00 and 59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[a-</a:t>
                      </a:r>
                      <a:r>
                        <a:rPr lang="en-US" dirty="0" err="1"/>
                        <a:t>zA</a:t>
                      </a:r>
                      <a:r>
                        <a:rPr lang="en-US" dirty="0"/>
                        <a:t>-Z]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 match for any character alphabetically between a and z, lower case OR upper case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[+]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sets, +, *, ., |, (), $,{} has no special meaning, so [+] means: return a match for any + character in the string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6774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407</TotalTime>
  <Words>1686</Words>
  <Application>Microsoft Office PowerPoint</Application>
  <PresentationFormat>Widescreen</PresentationFormat>
  <Paragraphs>191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Ion</vt:lpstr>
      <vt:lpstr>Regular Expression</vt:lpstr>
      <vt:lpstr>Python RegEx </vt:lpstr>
      <vt:lpstr>Match object</vt:lpstr>
      <vt:lpstr>PowerPoint Presentation</vt:lpstr>
      <vt:lpstr>metacharacters or special sequences. </vt:lpstr>
      <vt:lpstr>re.findall() </vt:lpstr>
      <vt:lpstr>2. re.compile()  </vt:lpstr>
      <vt:lpstr>Example</vt:lpstr>
      <vt:lpstr>3. re.split()  </vt:lpstr>
      <vt:lpstr>Example</vt:lpstr>
      <vt:lpstr>4. re.sub() </vt:lpstr>
      <vt:lpstr>Example 1: </vt:lpstr>
      <vt:lpstr>Example</vt:lpstr>
      <vt:lpstr>Metacharacters </vt:lpstr>
      <vt:lpstr>Special Sequences </vt:lpstr>
      <vt:lpstr>Sets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 Expression</dc:title>
  <dc:creator>Windows User</dc:creator>
  <cp:lastModifiedBy>Windows User</cp:lastModifiedBy>
  <cp:revision>24</cp:revision>
  <dcterms:created xsi:type="dcterms:W3CDTF">2025-01-02T01:40:02Z</dcterms:created>
  <dcterms:modified xsi:type="dcterms:W3CDTF">2025-01-02T10:35:52Z</dcterms:modified>
</cp:coreProperties>
</file>