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59" r:id="rId5"/>
    <p:sldId id="260" r:id="rId6"/>
    <p:sldId id="266" r:id="rId7"/>
    <p:sldId id="261" r:id="rId8"/>
    <p:sldId id="265" r:id="rId9"/>
    <p:sldId id="262" r:id="rId10"/>
    <p:sldId id="264" r:id="rId11"/>
    <p:sldId id="263" r:id="rId12"/>
    <p:sldId id="267" r:id="rId13"/>
    <p:sldId id="268" r:id="rId14"/>
    <p:sldId id="269" r:id="rId15"/>
    <p:sldId id="276" r:id="rId16"/>
    <p:sldId id="270" r:id="rId17"/>
    <p:sldId id="271" r:id="rId18"/>
    <p:sldId id="272" r:id="rId19"/>
    <p:sldId id="273" r:id="rId20"/>
    <p:sldId id="277" r:id="rId21"/>
    <p:sldId id="278" r:id="rId22"/>
    <p:sldId id="274" r:id="rId23"/>
    <p:sldId id="279" r:id="rId24"/>
    <p:sldId id="280" r:id="rId25"/>
    <p:sldId id="281" r:id="rId26"/>
    <p:sldId id="285" r:id="rId27"/>
    <p:sldId id="286" r:id="rId28"/>
    <p:sldId id="282" r:id="rId29"/>
    <p:sldId id="283" r:id="rId30"/>
    <p:sldId id="28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6004" autoAdjust="0"/>
  </p:normalViewPr>
  <p:slideViewPr>
    <p:cSldViewPr snapToGrid="0">
      <p:cViewPr varScale="1">
        <p:scale>
          <a:sx n="62" d="100"/>
          <a:sy n="62" d="100"/>
        </p:scale>
        <p:origin x="10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082C0E-7B4E-425D-A39A-0BFFEBF422EC}" type="datetimeFigureOut">
              <a:rPr lang="en-IN" smtClean="0"/>
              <a:t>13-02-2024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00716C-5405-4F95-81C5-B2864D5E9141}" type="slidenum">
              <a:rPr lang="en-IN" smtClean="0"/>
              <a:t>‹#›</a:t>
            </a:fld>
            <a:endParaRPr lang="en-IN"/>
          </a:p>
        </p:txBody>
      </p:sp>
    </p:spTree>
    <p:extLst>
      <p:ext uri="{BB962C8B-B14F-4D97-AF65-F5344CB8AC3E}">
        <p14:creationId xmlns:p14="http://schemas.microsoft.com/office/powerpoint/2010/main" val="648121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900716C-5405-4F95-81C5-B2864D5E9141}" type="slidenum">
              <a:rPr lang="en-IN" smtClean="0"/>
              <a:t>6</a:t>
            </a:fld>
            <a:endParaRPr lang="en-IN"/>
          </a:p>
        </p:txBody>
      </p:sp>
    </p:spTree>
    <p:extLst>
      <p:ext uri="{BB962C8B-B14F-4D97-AF65-F5344CB8AC3E}">
        <p14:creationId xmlns:p14="http://schemas.microsoft.com/office/powerpoint/2010/main" val="1537002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04C75-720C-D56F-7D5E-AA5D409DB4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F0379B-9DEC-8862-7E38-16AB2C8CB6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663B0F9-F112-EB6E-A050-738E58A58232}"/>
              </a:ext>
            </a:extLst>
          </p:cNvPr>
          <p:cNvSpPr>
            <a:spLocks noGrp="1"/>
          </p:cNvSpPr>
          <p:nvPr>
            <p:ph type="dt" sz="half" idx="10"/>
          </p:nvPr>
        </p:nvSpPr>
        <p:spPr/>
        <p:txBody>
          <a:bodyPr/>
          <a:lstStyle/>
          <a:p>
            <a:fld id="{59BD9D52-ED77-413B-9A2E-E98AB082E504}" type="datetimeFigureOut">
              <a:rPr lang="en-IN" smtClean="0"/>
              <a:t>13-02-2024</a:t>
            </a:fld>
            <a:endParaRPr lang="en-IN"/>
          </a:p>
        </p:txBody>
      </p:sp>
      <p:sp>
        <p:nvSpPr>
          <p:cNvPr id="5" name="Footer Placeholder 4">
            <a:extLst>
              <a:ext uri="{FF2B5EF4-FFF2-40B4-BE49-F238E27FC236}">
                <a16:creationId xmlns:a16="http://schemas.microsoft.com/office/drawing/2014/main" id="{55A7C481-C804-5AF2-4C6E-D68A4926D5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CAA602-86C9-09D9-8BFC-CEDC8F03BCEB}"/>
              </a:ext>
            </a:extLst>
          </p:cNvPr>
          <p:cNvSpPr>
            <a:spLocks noGrp="1"/>
          </p:cNvSpPr>
          <p:nvPr>
            <p:ph type="sldNum" sz="quarter" idx="12"/>
          </p:nvPr>
        </p:nvSpPr>
        <p:spPr/>
        <p:txBody>
          <a:bodyPr/>
          <a:lstStyle/>
          <a:p>
            <a:fld id="{BD232056-A59B-44B6-ADAB-DEAE3AD056D3}" type="slidenum">
              <a:rPr lang="en-IN" smtClean="0"/>
              <a:t>‹#›</a:t>
            </a:fld>
            <a:endParaRPr lang="en-IN"/>
          </a:p>
        </p:txBody>
      </p:sp>
    </p:spTree>
    <p:extLst>
      <p:ext uri="{BB962C8B-B14F-4D97-AF65-F5344CB8AC3E}">
        <p14:creationId xmlns:p14="http://schemas.microsoft.com/office/powerpoint/2010/main" val="874938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4E9B2-E396-FF9A-8ECF-E248C9E5BB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A9F9C4A-3C26-E21D-DBB2-783FA6F7B9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3E6D8B-BF5D-CF95-E9BB-5D73D6136DFD}"/>
              </a:ext>
            </a:extLst>
          </p:cNvPr>
          <p:cNvSpPr>
            <a:spLocks noGrp="1"/>
          </p:cNvSpPr>
          <p:nvPr>
            <p:ph type="dt" sz="half" idx="10"/>
          </p:nvPr>
        </p:nvSpPr>
        <p:spPr/>
        <p:txBody>
          <a:bodyPr/>
          <a:lstStyle/>
          <a:p>
            <a:fld id="{59BD9D52-ED77-413B-9A2E-E98AB082E504}" type="datetimeFigureOut">
              <a:rPr lang="en-IN" smtClean="0"/>
              <a:t>13-02-2024</a:t>
            </a:fld>
            <a:endParaRPr lang="en-IN"/>
          </a:p>
        </p:txBody>
      </p:sp>
      <p:sp>
        <p:nvSpPr>
          <p:cNvPr id="5" name="Footer Placeholder 4">
            <a:extLst>
              <a:ext uri="{FF2B5EF4-FFF2-40B4-BE49-F238E27FC236}">
                <a16:creationId xmlns:a16="http://schemas.microsoft.com/office/drawing/2014/main" id="{7F91105B-371B-449C-6425-E047723F57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582E97-B2D8-7204-E15F-DBF55A60737C}"/>
              </a:ext>
            </a:extLst>
          </p:cNvPr>
          <p:cNvSpPr>
            <a:spLocks noGrp="1"/>
          </p:cNvSpPr>
          <p:nvPr>
            <p:ph type="sldNum" sz="quarter" idx="12"/>
          </p:nvPr>
        </p:nvSpPr>
        <p:spPr/>
        <p:txBody>
          <a:bodyPr/>
          <a:lstStyle/>
          <a:p>
            <a:fld id="{BD232056-A59B-44B6-ADAB-DEAE3AD056D3}" type="slidenum">
              <a:rPr lang="en-IN" smtClean="0"/>
              <a:t>‹#›</a:t>
            </a:fld>
            <a:endParaRPr lang="en-IN"/>
          </a:p>
        </p:txBody>
      </p:sp>
    </p:spTree>
    <p:extLst>
      <p:ext uri="{BB962C8B-B14F-4D97-AF65-F5344CB8AC3E}">
        <p14:creationId xmlns:p14="http://schemas.microsoft.com/office/powerpoint/2010/main" val="3311159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9391F-CCCD-E877-4D08-9179FB00E3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1AF16B-B09B-2DDD-A5E8-4AD24D0850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EDF511-8ADC-23A1-35C3-A55AC82CE91E}"/>
              </a:ext>
            </a:extLst>
          </p:cNvPr>
          <p:cNvSpPr>
            <a:spLocks noGrp="1"/>
          </p:cNvSpPr>
          <p:nvPr>
            <p:ph type="dt" sz="half" idx="10"/>
          </p:nvPr>
        </p:nvSpPr>
        <p:spPr/>
        <p:txBody>
          <a:bodyPr/>
          <a:lstStyle/>
          <a:p>
            <a:fld id="{59BD9D52-ED77-413B-9A2E-E98AB082E504}" type="datetimeFigureOut">
              <a:rPr lang="en-IN" smtClean="0"/>
              <a:t>13-02-2024</a:t>
            </a:fld>
            <a:endParaRPr lang="en-IN"/>
          </a:p>
        </p:txBody>
      </p:sp>
      <p:sp>
        <p:nvSpPr>
          <p:cNvPr id="5" name="Footer Placeholder 4">
            <a:extLst>
              <a:ext uri="{FF2B5EF4-FFF2-40B4-BE49-F238E27FC236}">
                <a16:creationId xmlns:a16="http://schemas.microsoft.com/office/drawing/2014/main" id="{4F0E5857-F931-5071-EB76-7467A9B4BC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9EBEF8-850E-AB6E-4BE3-AEA435CD2BE4}"/>
              </a:ext>
            </a:extLst>
          </p:cNvPr>
          <p:cNvSpPr>
            <a:spLocks noGrp="1"/>
          </p:cNvSpPr>
          <p:nvPr>
            <p:ph type="sldNum" sz="quarter" idx="12"/>
          </p:nvPr>
        </p:nvSpPr>
        <p:spPr/>
        <p:txBody>
          <a:bodyPr/>
          <a:lstStyle/>
          <a:p>
            <a:fld id="{BD232056-A59B-44B6-ADAB-DEAE3AD056D3}" type="slidenum">
              <a:rPr lang="en-IN" smtClean="0"/>
              <a:t>‹#›</a:t>
            </a:fld>
            <a:endParaRPr lang="en-IN"/>
          </a:p>
        </p:txBody>
      </p:sp>
    </p:spTree>
    <p:extLst>
      <p:ext uri="{BB962C8B-B14F-4D97-AF65-F5344CB8AC3E}">
        <p14:creationId xmlns:p14="http://schemas.microsoft.com/office/powerpoint/2010/main" val="932961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60BE8-BD8F-6DDF-EBF6-F152ACFD05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8A886F-0B50-DFE9-0DFC-0D29AC5DE7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986DE48-5CDE-2130-6872-C4CE87BEF0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684E8DE-6D16-609D-34E2-0B05D46034D9}"/>
              </a:ext>
            </a:extLst>
          </p:cNvPr>
          <p:cNvSpPr>
            <a:spLocks noGrp="1"/>
          </p:cNvSpPr>
          <p:nvPr>
            <p:ph type="dt" sz="half" idx="10"/>
          </p:nvPr>
        </p:nvSpPr>
        <p:spPr/>
        <p:txBody>
          <a:bodyPr/>
          <a:lstStyle/>
          <a:p>
            <a:fld id="{59BD9D52-ED77-413B-9A2E-E98AB082E504}" type="datetimeFigureOut">
              <a:rPr lang="en-IN" smtClean="0"/>
              <a:t>13-02-2024</a:t>
            </a:fld>
            <a:endParaRPr lang="en-IN"/>
          </a:p>
        </p:txBody>
      </p:sp>
      <p:sp>
        <p:nvSpPr>
          <p:cNvPr id="6" name="Footer Placeholder 5">
            <a:extLst>
              <a:ext uri="{FF2B5EF4-FFF2-40B4-BE49-F238E27FC236}">
                <a16:creationId xmlns:a16="http://schemas.microsoft.com/office/drawing/2014/main" id="{A4C774E5-40B6-2D50-E371-2A2F18D92D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DF1CF9-FF3A-54FD-1C39-0D018FDF9EAF}"/>
              </a:ext>
            </a:extLst>
          </p:cNvPr>
          <p:cNvSpPr>
            <a:spLocks noGrp="1"/>
          </p:cNvSpPr>
          <p:nvPr>
            <p:ph type="sldNum" sz="quarter" idx="12"/>
          </p:nvPr>
        </p:nvSpPr>
        <p:spPr/>
        <p:txBody>
          <a:bodyPr/>
          <a:lstStyle/>
          <a:p>
            <a:fld id="{BD232056-A59B-44B6-ADAB-DEAE3AD056D3}" type="slidenum">
              <a:rPr lang="en-IN" smtClean="0"/>
              <a:t>‹#›</a:t>
            </a:fld>
            <a:endParaRPr lang="en-IN"/>
          </a:p>
        </p:txBody>
      </p:sp>
    </p:spTree>
    <p:extLst>
      <p:ext uri="{BB962C8B-B14F-4D97-AF65-F5344CB8AC3E}">
        <p14:creationId xmlns:p14="http://schemas.microsoft.com/office/powerpoint/2010/main" val="2220339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BC6A6-E1DC-F4F1-1041-9A77713CED7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8050DE-CF86-4F98-136C-7A4DF25466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219AC2-C145-A3B6-96B6-9CE3F8DA36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003D76B-CE0E-C01C-132B-055BC03D6E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C80A8D-6DE0-6AD5-AFAA-DB4A63A263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6B262B9-1692-98F1-81BF-8F5DE3837CF1}"/>
              </a:ext>
            </a:extLst>
          </p:cNvPr>
          <p:cNvSpPr>
            <a:spLocks noGrp="1"/>
          </p:cNvSpPr>
          <p:nvPr>
            <p:ph type="dt" sz="half" idx="10"/>
          </p:nvPr>
        </p:nvSpPr>
        <p:spPr/>
        <p:txBody>
          <a:bodyPr/>
          <a:lstStyle/>
          <a:p>
            <a:fld id="{59BD9D52-ED77-413B-9A2E-E98AB082E504}" type="datetimeFigureOut">
              <a:rPr lang="en-IN" smtClean="0"/>
              <a:t>13-02-2024</a:t>
            </a:fld>
            <a:endParaRPr lang="en-IN"/>
          </a:p>
        </p:txBody>
      </p:sp>
      <p:sp>
        <p:nvSpPr>
          <p:cNvPr id="8" name="Footer Placeholder 7">
            <a:extLst>
              <a:ext uri="{FF2B5EF4-FFF2-40B4-BE49-F238E27FC236}">
                <a16:creationId xmlns:a16="http://schemas.microsoft.com/office/drawing/2014/main" id="{F0C3D050-4960-DC5B-7AC2-15F011E0324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5BF7A99-61B6-D836-C8BA-CC41B49D2770}"/>
              </a:ext>
            </a:extLst>
          </p:cNvPr>
          <p:cNvSpPr>
            <a:spLocks noGrp="1"/>
          </p:cNvSpPr>
          <p:nvPr>
            <p:ph type="sldNum" sz="quarter" idx="12"/>
          </p:nvPr>
        </p:nvSpPr>
        <p:spPr/>
        <p:txBody>
          <a:bodyPr/>
          <a:lstStyle/>
          <a:p>
            <a:fld id="{BD232056-A59B-44B6-ADAB-DEAE3AD056D3}" type="slidenum">
              <a:rPr lang="en-IN" smtClean="0"/>
              <a:t>‹#›</a:t>
            </a:fld>
            <a:endParaRPr lang="en-IN"/>
          </a:p>
        </p:txBody>
      </p:sp>
    </p:spTree>
    <p:extLst>
      <p:ext uri="{BB962C8B-B14F-4D97-AF65-F5344CB8AC3E}">
        <p14:creationId xmlns:p14="http://schemas.microsoft.com/office/powerpoint/2010/main" val="1509540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03895-D5EA-6282-4C1B-BF222E5753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993966-1AA4-FC94-E66F-161E6F711BDC}"/>
              </a:ext>
            </a:extLst>
          </p:cNvPr>
          <p:cNvSpPr>
            <a:spLocks noGrp="1"/>
          </p:cNvSpPr>
          <p:nvPr>
            <p:ph type="dt" sz="half" idx="10"/>
          </p:nvPr>
        </p:nvSpPr>
        <p:spPr/>
        <p:txBody>
          <a:bodyPr/>
          <a:lstStyle/>
          <a:p>
            <a:fld id="{59BD9D52-ED77-413B-9A2E-E98AB082E504}" type="datetimeFigureOut">
              <a:rPr lang="en-IN" smtClean="0"/>
              <a:t>13-02-2024</a:t>
            </a:fld>
            <a:endParaRPr lang="en-IN"/>
          </a:p>
        </p:txBody>
      </p:sp>
      <p:sp>
        <p:nvSpPr>
          <p:cNvPr id="4" name="Footer Placeholder 3">
            <a:extLst>
              <a:ext uri="{FF2B5EF4-FFF2-40B4-BE49-F238E27FC236}">
                <a16:creationId xmlns:a16="http://schemas.microsoft.com/office/drawing/2014/main" id="{775DBFDC-4C78-E047-4D0F-4C3CD4EB483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8020163-AA61-554B-EDA1-37FD5A04E3E0}"/>
              </a:ext>
            </a:extLst>
          </p:cNvPr>
          <p:cNvSpPr>
            <a:spLocks noGrp="1"/>
          </p:cNvSpPr>
          <p:nvPr>
            <p:ph type="sldNum" sz="quarter" idx="12"/>
          </p:nvPr>
        </p:nvSpPr>
        <p:spPr/>
        <p:txBody>
          <a:bodyPr/>
          <a:lstStyle/>
          <a:p>
            <a:fld id="{BD232056-A59B-44B6-ADAB-DEAE3AD056D3}" type="slidenum">
              <a:rPr lang="en-IN" smtClean="0"/>
              <a:t>‹#›</a:t>
            </a:fld>
            <a:endParaRPr lang="en-IN"/>
          </a:p>
        </p:txBody>
      </p:sp>
    </p:spTree>
    <p:extLst>
      <p:ext uri="{BB962C8B-B14F-4D97-AF65-F5344CB8AC3E}">
        <p14:creationId xmlns:p14="http://schemas.microsoft.com/office/powerpoint/2010/main" val="2182075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E3EEE-63EB-580E-9ABE-70A0B4853D39}"/>
              </a:ext>
            </a:extLst>
          </p:cNvPr>
          <p:cNvSpPr>
            <a:spLocks noGrp="1"/>
          </p:cNvSpPr>
          <p:nvPr>
            <p:ph type="dt" sz="half" idx="10"/>
          </p:nvPr>
        </p:nvSpPr>
        <p:spPr/>
        <p:txBody>
          <a:bodyPr/>
          <a:lstStyle/>
          <a:p>
            <a:fld id="{59BD9D52-ED77-413B-9A2E-E98AB082E504}" type="datetimeFigureOut">
              <a:rPr lang="en-IN" smtClean="0"/>
              <a:t>13-02-2024</a:t>
            </a:fld>
            <a:endParaRPr lang="en-IN"/>
          </a:p>
        </p:txBody>
      </p:sp>
      <p:sp>
        <p:nvSpPr>
          <p:cNvPr id="3" name="Footer Placeholder 2">
            <a:extLst>
              <a:ext uri="{FF2B5EF4-FFF2-40B4-BE49-F238E27FC236}">
                <a16:creationId xmlns:a16="http://schemas.microsoft.com/office/drawing/2014/main" id="{44204961-1C7B-160C-26D2-B942BAA014D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71A376-85D4-81F9-795F-CE90705371BE}"/>
              </a:ext>
            </a:extLst>
          </p:cNvPr>
          <p:cNvSpPr>
            <a:spLocks noGrp="1"/>
          </p:cNvSpPr>
          <p:nvPr>
            <p:ph type="sldNum" sz="quarter" idx="12"/>
          </p:nvPr>
        </p:nvSpPr>
        <p:spPr/>
        <p:txBody>
          <a:bodyPr/>
          <a:lstStyle/>
          <a:p>
            <a:fld id="{BD232056-A59B-44B6-ADAB-DEAE3AD056D3}" type="slidenum">
              <a:rPr lang="en-IN" smtClean="0"/>
              <a:t>‹#›</a:t>
            </a:fld>
            <a:endParaRPr lang="en-IN"/>
          </a:p>
        </p:txBody>
      </p:sp>
    </p:spTree>
    <p:extLst>
      <p:ext uri="{BB962C8B-B14F-4D97-AF65-F5344CB8AC3E}">
        <p14:creationId xmlns:p14="http://schemas.microsoft.com/office/powerpoint/2010/main" val="2199580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1EF2A-B7F4-8D38-9C1B-69C269B4BB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EFBB68D-05E9-237D-096F-EA827BEE75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C6BAF83-41CA-58F6-B8ED-A16AB6E93F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0A7475-1969-7EC5-2352-866B42C83EA0}"/>
              </a:ext>
            </a:extLst>
          </p:cNvPr>
          <p:cNvSpPr>
            <a:spLocks noGrp="1"/>
          </p:cNvSpPr>
          <p:nvPr>
            <p:ph type="dt" sz="half" idx="10"/>
          </p:nvPr>
        </p:nvSpPr>
        <p:spPr/>
        <p:txBody>
          <a:bodyPr/>
          <a:lstStyle/>
          <a:p>
            <a:fld id="{59BD9D52-ED77-413B-9A2E-E98AB082E504}" type="datetimeFigureOut">
              <a:rPr lang="en-IN" smtClean="0"/>
              <a:t>13-02-2024</a:t>
            </a:fld>
            <a:endParaRPr lang="en-IN"/>
          </a:p>
        </p:txBody>
      </p:sp>
      <p:sp>
        <p:nvSpPr>
          <p:cNvPr id="6" name="Footer Placeholder 5">
            <a:extLst>
              <a:ext uri="{FF2B5EF4-FFF2-40B4-BE49-F238E27FC236}">
                <a16:creationId xmlns:a16="http://schemas.microsoft.com/office/drawing/2014/main" id="{FF009F93-F482-B323-5D98-D0A43769F9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602DA8-BD4E-8A27-7274-2F1F0ED1B1F2}"/>
              </a:ext>
            </a:extLst>
          </p:cNvPr>
          <p:cNvSpPr>
            <a:spLocks noGrp="1"/>
          </p:cNvSpPr>
          <p:nvPr>
            <p:ph type="sldNum" sz="quarter" idx="12"/>
          </p:nvPr>
        </p:nvSpPr>
        <p:spPr/>
        <p:txBody>
          <a:bodyPr/>
          <a:lstStyle/>
          <a:p>
            <a:fld id="{BD232056-A59B-44B6-ADAB-DEAE3AD056D3}" type="slidenum">
              <a:rPr lang="en-IN" smtClean="0"/>
              <a:t>‹#›</a:t>
            </a:fld>
            <a:endParaRPr lang="en-IN"/>
          </a:p>
        </p:txBody>
      </p:sp>
    </p:spTree>
    <p:extLst>
      <p:ext uri="{BB962C8B-B14F-4D97-AF65-F5344CB8AC3E}">
        <p14:creationId xmlns:p14="http://schemas.microsoft.com/office/powerpoint/2010/main" val="2879289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8B4A9-43F0-6AD4-29B8-E2134286F4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1ED8D5-79F7-9D5A-3845-0E8A669C75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806726B-C0A3-0F86-7DDB-FF4B693F42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4AEEA1-5D84-C346-D064-820967217803}"/>
              </a:ext>
            </a:extLst>
          </p:cNvPr>
          <p:cNvSpPr>
            <a:spLocks noGrp="1"/>
          </p:cNvSpPr>
          <p:nvPr>
            <p:ph type="dt" sz="half" idx="10"/>
          </p:nvPr>
        </p:nvSpPr>
        <p:spPr/>
        <p:txBody>
          <a:bodyPr/>
          <a:lstStyle/>
          <a:p>
            <a:fld id="{59BD9D52-ED77-413B-9A2E-E98AB082E504}" type="datetimeFigureOut">
              <a:rPr lang="en-IN" smtClean="0"/>
              <a:t>13-02-2024</a:t>
            </a:fld>
            <a:endParaRPr lang="en-IN"/>
          </a:p>
        </p:txBody>
      </p:sp>
      <p:sp>
        <p:nvSpPr>
          <p:cNvPr id="6" name="Footer Placeholder 5">
            <a:extLst>
              <a:ext uri="{FF2B5EF4-FFF2-40B4-BE49-F238E27FC236}">
                <a16:creationId xmlns:a16="http://schemas.microsoft.com/office/drawing/2014/main" id="{BAE2900E-1A4B-6AE6-F487-E4FA15172D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31E4FE-CBDF-ABC6-B12B-587B5A6385D8}"/>
              </a:ext>
            </a:extLst>
          </p:cNvPr>
          <p:cNvSpPr>
            <a:spLocks noGrp="1"/>
          </p:cNvSpPr>
          <p:nvPr>
            <p:ph type="sldNum" sz="quarter" idx="12"/>
          </p:nvPr>
        </p:nvSpPr>
        <p:spPr/>
        <p:txBody>
          <a:bodyPr/>
          <a:lstStyle/>
          <a:p>
            <a:fld id="{BD232056-A59B-44B6-ADAB-DEAE3AD056D3}" type="slidenum">
              <a:rPr lang="en-IN" smtClean="0"/>
              <a:t>‹#›</a:t>
            </a:fld>
            <a:endParaRPr lang="en-IN"/>
          </a:p>
        </p:txBody>
      </p:sp>
    </p:spTree>
    <p:extLst>
      <p:ext uri="{BB962C8B-B14F-4D97-AF65-F5344CB8AC3E}">
        <p14:creationId xmlns:p14="http://schemas.microsoft.com/office/powerpoint/2010/main" val="3052024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6D85A-3266-466B-A509-79624179D4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85255D-9030-F13B-A6EF-FD042B98C3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50145E-6793-0C0E-DA6B-9514088567D6}"/>
              </a:ext>
            </a:extLst>
          </p:cNvPr>
          <p:cNvSpPr>
            <a:spLocks noGrp="1"/>
          </p:cNvSpPr>
          <p:nvPr>
            <p:ph type="dt" sz="half" idx="10"/>
          </p:nvPr>
        </p:nvSpPr>
        <p:spPr/>
        <p:txBody>
          <a:bodyPr/>
          <a:lstStyle/>
          <a:p>
            <a:fld id="{59BD9D52-ED77-413B-9A2E-E98AB082E504}" type="datetimeFigureOut">
              <a:rPr lang="en-IN" smtClean="0"/>
              <a:t>13-02-2024</a:t>
            </a:fld>
            <a:endParaRPr lang="en-IN"/>
          </a:p>
        </p:txBody>
      </p:sp>
      <p:sp>
        <p:nvSpPr>
          <p:cNvPr id="5" name="Footer Placeholder 4">
            <a:extLst>
              <a:ext uri="{FF2B5EF4-FFF2-40B4-BE49-F238E27FC236}">
                <a16:creationId xmlns:a16="http://schemas.microsoft.com/office/drawing/2014/main" id="{760D7D3F-EA32-B61F-B50D-C635725B83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038797-A30A-641D-EA51-22E59317F35A}"/>
              </a:ext>
            </a:extLst>
          </p:cNvPr>
          <p:cNvSpPr>
            <a:spLocks noGrp="1"/>
          </p:cNvSpPr>
          <p:nvPr>
            <p:ph type="sldNum" sz="quarter" idx="12"/>
          </p:nvPr>
        </p:nvSpPr>
        <p:spPr/>
        <p:txBody>
          <a:bodyPr/>
          <a:lstStyle/>
          <a:p>
            <a:fld id="{BD232056-A59B-44B6-ADAB-DEAE3AD056D3}" type="slidenum">
              <a:rPr lang="en-IN" smtClean="0"/>
              <a:t>‹#›</a:t>
            </a:fld>
            <a:endParaRPr lang="en-IN"/>
          </a:p>
        </p:txBody>
      </p:sp>
    </p:spTree>
    <p:extLst>
      <p:ext uri="{BB962C8B-B14F-4D97-AF65-F5344CB8AC3E}">
        <p14:creationId xmlns:p14="http://schemas.microsoft.com/office/powerpoint/2010/main" val="570567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26B431-8AB1-F4ED-6517-F6A4840363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2FBBB8D-D734-0C25-FA7C-6E8AB7EAC5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C4F75D-75B1-FC9F-9604-93C9B3E4A7F9}"/>
              </a:ext>
            </a:extLst>
          </p:cNvPr>
          <p:cNvSpPr>
            <a:spLocks noGrp="1"/>
          </p:cNvSpPr>
          <p:nvPr>
            <p:ph type="dt" sz="half" idx="10"/>
          </p:nvPr>
        </p:nvSpPr>
        <p:spPr/>
        <p:txBody>
          <a:bodyPr/>
          <a:lstStyle/>
          <a:p>
            <a:fld id="{59BD9D52-ED77-413B-9A2E-E98AB082E504}" type="datetimeFigureOut">
              <a:rPr lang="en-IN" smtClean="0"/>
              <a:t>13-02-2024</a:t>
            </a:fld>
            <a:endParaRPr lang="en-IN"/>
          </a:p>
        </p:txBody>
      </p:sp>
      <p:sp>
        <p:nvSpPr>
          <p:cNvPr id="5" name="Footer Placeholder 4">
            <a:extLst>
              <a:ext uri="{FF2B5EF4-FFF2-40B4-BE49-F238E27FC236}">
                <a16:creationId xmlns:a16="http://schemas.microsoft.com/office/drawing/2014/main" id="{61EF6C37-AED0-505C-A903-BCA9499BB2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044AB5-137B-8D91-E09D-CDA3B3FEBB52}"/>
              </a:ext>
            </a:extLst>
          </p:cNvPr>
          <p:cNvSpPr>
            <a:spLocks noGrp="1"/>
          </p:cNvSpPr>
          <p:nvPr>
            <p:ph type="sldNum" sz="quarter" idx="12"/>
          </p:nvPr>
        </p:nvSpPr>
        <p:spPr/>
        <p:txBody>
          <a:bodyPr/>
          <a:lstStyle/>
          <a:p>
            <a:fld id="{BD232056-A59B-44B6-ADAB-DEAE3AD056D3}" type="slidenum">
              <a:rPr lang="en-IN" smtClean="0"/>
              <a:t>‹#›</a:t>
            </a:fld>
            <a:endParaRPr lang="en-IN"/>
          </a:p>
        </p:txBody>
      </p:sp>
    </p:spTree>
    <p:extLst>
      <p:ext uri="{BB962C8B-B14F-4D97-AF65-F5344CB8AC3E}">
        <p14:creationId xmlns:p14="http://schemas.microsoft.com/office/powerpoint/2010/main" val="3238733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734160-2B2F-1F75-FAAD-21A22FFFD3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336088-BE8E-0608-BF11-EEFAD03DE8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B90422-5ABE-94D7-12CA-63682EA94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BD9D52-ED77-413B-9A2E-E98AB082E504}" type="datetimeFigureOut">
              <a:rPr lang="en-IN" smtClean="0"/>
              <a:t>13-02-2024</a:t>
            </a:fld>
            <a:endParaRPr lang="en-IN"/>
          </a:p>
        </p:txBody>
      </p:sp>
      <p:sp>
        <p:nvSpPr>
          <p:cNvPr id="5" name="Footer Placeholder 4">
            <a:extLst>
              <a:ext uri="{FF2B5EF4-FFF2-40B4-BE49-F238E27FC236}">
                <a16:creationId xmlns:a16="http://schemas.microsoft.com/office/drawing/2014/main" id="{7F3565A0-5668-3AFC-FF9C-2D2A2DC07D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C12E803-781D-88AD-53CD-150B8FA1F0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232056-A59B-44B6-ADAB-DEAE3AD056D3}" type="slidenum">
              <a:rPr lang="en-IN" smtClean="0"/>
              <a:t>‹#›</a:t>
            </a:fld>
            <a:endParaRPr lang="en-IN"/>
          </a:p>
        </p:txBody>
      </p:sp>
    </p:spTree>
    <p:extLst>
      <p:ext uri="{BB962C8B-B14F-4D97-AF65-F5344CB8AC3E}">
        <p14:creationId xmlns:p14="http://schemas.microsoft.com/office/powerpoint/2010/main" val="12814675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A76A9-E15F-397F-1B4E-9074181BD56B}"/>
              </a:ext>
            </a:extLst>
          </p:cNvPr>
          <p:cNvSpPr>
            <a:spLocks noGrp="1"/>
          </p:cNvSpPr>
          <p:nvPr>
            <p:ph type="ctrTitle"/>
          </p:nvPr>
        </p:nvSpPr>
        <p:spPr/>
        <p:txBody>
          <a:bodyPr/>
          <a:lstStyle/>
          <a:p>
            <a:r>
              <a:rPr lang="en-IN" dirty="0"/>
              <a:t>Classes and Objects</a:t>
            </a:r>
          </a:p>
        </p:txBody>
      </p:sp>
      <p:sp>
        <p:nvSpPr>
          <p:cNvPr id="3" name="Subtitle 2">
            <a:extLst>
              <a:ext uri="{FF2B5EF4-FFF2-40B4-BE49-F238E27FC236}">
                <a16:creationId xmlns:a16="http://schemas.microsoft.com/office/drawing/2014/main" id="{42B662D2-E431-EE72-DB2B-133007897B9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51183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FCDCC-4451-EFB6-E92E-C7EECA75A2ED}"/>
              </a:ext>
            </a:extLst>
          </p:cNvPr>
          <p:cNvSpPr>
            <a:spLocks noGrp="1"/>
          </p:cNvSpPr>
          <p:nvPr>
            <p:ph type="title"/>
          </p:nvPr>
        </p:nvSpPr>
        <p:spPr/>
        <p:txBody>
          <a:bodyPr/>
          <a:lstStyle/>
          <a:p>
            <a:r>
              <a:rPr lang="en-IN" b="0" i="0" dirty="0">
                <a:solidFill>
                  <a:srgbClr val="610B38"/>
                </a:solidFill>
                <a:effectLst/>
                <a:latin typeface="erdana"/>
              </a:rPr>
              <a:t>Python OOPs Concepts</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41AFCE31-CD5F-2845-52FF-B0CA762C0FC5}"/>
              </a:ext>
            </a:extLst>
          </p:cNvPr>
          <p:cNvSpPr>
            <a:spLocks noGrp="1"/>
          </p:cNvSpPr>
          <p:nvPr>
            <p:ph idx="1"/>
          </p:nvPr>
        </p:nvSpPr>
        <p:spPr/>
        <p:txBody>
          <a:bodyPr/>
          <a:lstStyle/>
          <a:p>
            <a:r>
              <a:rPr lang="en-US" b="0" i="0" dirty="0">
                <a:solidFill>
                  <a:srgbClr val="333333"/>
                </a:solidFill>
                <a:effectLst/>
                <a:latin typeface="inter-regular"/>
              </a:rPr>
              <a:t>Python is also an object-oriented language</a:t>
            </a:r>
          </a:p>
          <a:p>
            <a:r>
              <a:rPr lang="en-US" b="0" i="0" dirty="0">
                <a:solidFill>
                  <a:srgbClr val="333333"/>
                </a:solidFill>
                <a:effectLst/>
                <a:latin typeface="inter-regular"/>
              </a:rPr>
              <a:t>An object-oriented paradigm is to design the program using classes and objects. </a:t>
            </a:r>
          </a:p>
          <a:p>
            <a:r>
              <a:rPr lang="en-US" b="0" i="0" dirty="0">
                <a:solidFill>
                  <a:srgbClr val="333333"/>
                </a:solidFill>
                <a:effectLst/>
                <a:latin typeface="inter-regular"/>
              </a:rPr>
              <a:t>The object is related to real-word entities such as book, house, pencil, etc. </a:t>
            </a:r>
          </a:p>
          <a:p>
            <a:r>
              <a:rPr lang="en-US" b="0" i="0" dirty="0">
                <a:solidFill>
                  <a:srgbClr val="333333"/>
                </a:solidFill>
                <a:effectLst/>
                <a:latin typeface="inter-regular"/>
              </a:rPr>
              <a:t>The oops concept focuses on writing the reusable code.</a:t>
            </a:r>
          </a:p>
          <a:p>
            <a:r>
              <a:rPr lang="en-US" b="0" i="0" dirty="0">
                <a:solidFill>
                  <a:srgbClr val="333333"/>
                </a:solidFill>
                <a:effectLst/>
                <a:latin typeface="inter-regular"/>
              </a:rPr>
              <a:t> It is a widespread technique to solve the problem by creating objects.</a:t>
            </a:r>
            <a:endParaRPr lang="en-IN" dirty="0"/>
          </a:p>
        </p:txBody>
      </p:sp>
    </p:spTree>
    <p:extLst>
      <p:ext uri="{BB962C8B-B14F-4D97-AF65-F5344CB8AC3E}">
        <p14:creationId xmlns:p14="http://schemas.microsoft.com/office/powerpoint/2010/main" val="2320727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1974B-E7FE-12E5-D1D8-22A54F23BC49}"/>
              </a:ext>
            </a:extLst>
          </p:cNvPr>
          <p:cNvSpPr>
            <a:spLocks noGrp="1"/>
          </p:cNvSpPr>
          <p:nvPr>
            <p:ph type="title"/>
          </p:nvPr>
        </p:nvSpPr>
        <p:spPr/>
        <p:txBody>
          <a:bodyPr/>
          <a:lstStyle/>
          <a:p>
            <a:r>
              <a:rPr lang="en-US" b="0" i="0" dirty="0">
                <a:solidFill>
                  <a:srgbClr val="333333"/>
                </a:solidFill>
                <a:effectLst/>
                <a:latin typeface="inter-regular"/>
              </a:rPr>
              <a:t>Major principles of object-oriented programming system</a:t>
            </a:r>
            <a:endParaRPr lang="en-IN" dirty="0"/>
          </a:p>
        </p:txBody>
      </p:sp>
      <p:sp>
        <p:nvSpPr>
          <p:cNvPr id="3" name="Content Placeholder 2">
            <a:extLst>
              <a:ext uri="{FF2B5EF4-FFF2-40B4-BE49-F238E27FC236}">
                <a16:creationId xmlns:a16="http://schemas.microsoft.com/office/drawing/2014/main" id="{53A674BF-9EEB-E527-EB9D-7B8ADF274691}"/>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latin typeface="inter-regular"/>
              </a:rPr>
              <a:t>Class</a:t>
            </a:r>
          </a:p>
          <a:p>
            <a:pPr algn="just">
              <a:buFont typeface="Arial" panose="020B0604020202020204" pitchFamily="34" charset="0"/>
              <a:buChar char="•"/>
            </a:pPr>
            <a:r>
              <a:rPr lang="en-US" b="0" i="0" dirty="0">
                <a:solidFill>
                  <a:srgbClr val="000000"/>
                </a:solidFill>
                <a:effectLst/>
                <a:latin typeface="inter-regular"/>
              </a:rPr>
              <a:t>Object</a:t>
            </a:r>
          </a:p>
          <a:p>
            <a:pPr algn="just">
              <a:buFont typeface="Arial" panose="020B0604020202020204" pitchFamily="34" charset="0"/>
              <a:buChar char="•"/>
            </a:pPr>
            <a:r>
              <a:rPr lang="en-US" b="0" i="0" dirty="0">
                <a:solidFill>
                  <a:srgbClr val="000000"/>
                </a:solidFill>
                <a:effectLst/>
                <a:latin typeface="inter-regular"/>
              </a:rPr>
              <a:t>Method</a:t>
            </a:r>
          </a:p>
          <a:p>
            <a:pPr algn="just">
              <a:buFont typeface="Arial" panose="020B0604020202020204" pitchFamily="34" charset="0"/>
              <a:buChar char="•"/>
            </a:pPr>
            <a:r>
              <a:rPr lang="en-US" b="0" i="0" dirty="0">
                <a:solidFill>
                  <a:srgbClr val="000000"/>
                </a:solidFill>
                <a:effectLst/>
                <a:latin typeface="inter-regular"/>
              </a:rPr>
              <a:t>Inheritance</a:t>
            </a:r>
          </a:p>
          <a:p>
            <a:pPr algn="just">
              <a:buFont typeface="Arial" panose="020B0604020202020204" pitchFamily="34" charset="0"/>
              <a:buChar char="•"/>
            </a:pPr>
            <a:r>
              <a:rPr lang="en-US" b="0" i="0" dirty="0">
                <a:solidFill>
                  <a:srgbClr val="000000"/>
                </a:solidFill>
                <a:effectLst/>
                <a:latin typeface="inter-regular"/>
              </a:rPr>
              <a:t>Polymorphism</a:t>
            </a:r>
          </a:p>
          <a:p>
            <a:pPr algn="just">
              <a:buFont typeface="Arial" panose="020B0604020202020204" pitchFamily="34" charset="0"/>
              <a:buChar char="•"/>
            </a:pPr>
            <a:r>
              <a:rPr lang="en-US" b="0" i="0" dirty="0">
                <a:solidFill>
                  <a:srgbClr val="000000"/>
                </a:solidFill>
                <a:effectLst/>
                <a:latin typeface="inter-regular"/>
              </a:rPr>
              <a:t>Data Abstraction</a:t>
            </a:r>
          </a:p>
          <a:p>
            <a:pPr algn="just">
              <a:buFont typeface="Arial" panose="020B0604020202020204" pitchFamily="34" charset="0"/>
              <a:buChar char="•"/>
            </a:pPr>
            <a:r>
              <a:rPr lang="en-US" b="0" i="0" dirty="0">
                <a:solidFill>
                  <a:srgbClr val="000000"/>
                </a:solidFill>
                <a:effectLst/>
                <a:latin typeface="inter-regular"/>
              </a:rPr>
              <a:t>Encapsulation</a:t>
            </a:r>
          </a:p>
          <a:p>
            <a:pPr marL="0" indent="0">
              <a:buNone/>
            </a:pPr>
            <a:endParaRPr lang="en-IN" dirty="0"/>
          </a:p>
        </p:txBody>
      </p:sp>
    </p:spTree>
    <p:extLst>
      <p:ext uri="{BB962C8B-B14F-4D97-AF65-F5344CB8AC3E}">
        <p14:creationId xmlns:p14="http://schemas.microsoft.com/office/powerpoint/2010/main" val="1517449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F8D53C7-C658-3C9D-0B26-DBD38A37FF18}"/>
              </a:ext>
            </a:extLst>
          </p:cNvPr>
          <p:cNvSpPr>
            <a:spLocks noGrp="1"/>
          </p:cNvSpPr>
          <p:nvPr>
            <p:ph type="title"/>
          </p:nvPr>
        </p:nvSpPr>
        <p:spPr/>
        <p:txBody>
          <a:bodyPr/>
          <a:lstStyle/>
          <a:p>
            <a:pPr algn="l"/>
            <a:r>
              <a:rPr lang="en-IN" b="1" i="0" dirty="0">
                <a:solidFill>
                  <a:srgbClr val="25265E"/>
                </a:solidFill>
                <a:effectLst/>
                <a:latin typeface="euclid_circular_a"/>
              </a:rPr>
              <a:t>Python Classes</a:t>
            </a:r>
          </a:p>
        </p:txBody>
      </p:sp>
      <p:sp>
        <p:nvSpPr>
          <p:cNvPr id="7" name="Content Placeholder 6">
            <a:extLst>
              <a:ext uri="{FF2B5EF4-FFF2-40B4-BE49-F238E27FC236}">
                <a16:creationId xmlns:a16="http://schemas.microsoft.com/office/drawing/2014/main" id="{AD5D5639-0C35-7BE1-9225-8A8F26A078EF}"/>
              </a:ext>
            </a:extLst>
          </p:cNvPr>
          <p:cNvSpPr>
            <a:spLocks noGrp="1"/>
          </p:cNvSpPr>
          <p:nvPr>
            <p:ph sz="half" idx="1"/>
          </p:nvPr>
        </p:nvSpPr>
        <p:spPr/>
        <p:txBody>
          <a:bodyPr>
            <a:normAutofit fontScale="92500" lnSpcReduction="10000"/>
          </a:bodyPr>
          <a:lstStyle/>
          <a:p>
            <a:pPr algn="just"/>
            <a:r>
              <a:rPr lang="en-US" dirty="0">
                <a:solidFill>
                  <a:srgbClr val="610B38"/>
                </a:solidFill>
                <a:latin typeface="erdana"/>
              </a:rPr>
              <a:t>Definition of Class</a:t>
            </a:r>
          </a:p>
          <a:p>
            <a:pPr algn="just"/>
            <a:r>
              <a:rPr lang="en-US" b="0" i="0" dirty="0">
                <a:effectLst/>
                <a:latin typeface="euclid_circular_a"/>
              </a:rPr>
              <a:t>A class is considered a blueprint of objects.</a:t>
            </a:r>
            <a:endParaRPr lang="en-US" b="0" i="0" dirty="0">
              <a:solidFill>
                <a:srgbClr val="610B38"/>
              </a:solidFill>
              <a:effectLst/>
              <a:latin typeface="erdana"/>
            </a:endParaRPr>
          </a:p>
          <a:p>
            <a:pPr algn="just"/>
            <a:r>
              <a:rPr lang="en-US" i="0" dirty="0">
                <a:solidFill>
                  <a:srgbClr val="333333"/>
                </a:solidFill>
                <a:effectLst/>
                <a:latin typeface="euclid_circular_a"/>
              </a:rPr>
              <a:t>The class can be defined as a collection of objects. It is a logical entity that has some specific attributes and methods</a:t>
            </a:r>
            <a:r>
              <a:rPr lang="en-US" b="0" i="0" dirty="0">
                <a:solidFill>
                  <a:srgbClr val="333333"/>
                </a:solidFill>
                <a:effectLst/>
                <a:latin typeface="euclid_circular_a"/>
              </a:rPr>
              <a:t>.</a:t>
            </a:r>
          </a:p>
          <a:p>
            <a:pPr algn="just"/>
            <a:r>
              <a:rPr lang="en-US" b="0" i="0" dirty="0">
                <a:solidFill>
                  <a:srgbClr val="333333"/>
                </a:solidFill>
                <a:effectLst/>
                <a:latin typeface="inter-regular"/>
              </a:rPr>
              <a:t>For example: if you have an employee class, then it should contain an attribute and method, i.e. an email id, name, age, salary, etc.</a:t>
            </a:r>
          </a:p>
          <a:p>
            <a:endParaRPr lang="en-IN" dirty="0"/>
          </a:p>
        </p:txBody>
      </p:sp>
      <p:sp>
        <p:nvSpPr>
          <p:cNvPr id="8" name="Content Placeholder 7">
            <a:extLst>
              <a:ext uri="{FF2B5EF4-FFF2-40B4-BE49-F238E27FC236}">
                <a16:creationId xmlns:a16="http://schemas.microsoft.com/office/drawing/2014/main" id="{E1109D45-DE07-6956-4C91-485EF5138768}"/>
              </a:ext>
            </a:extLst>
          </p:cNvPr>
          <p:cNvSpPr>
            <a:spLocks noGrp="1"/>
          </p:cNvSpPr>
          <p:nvPr>
            <p:ph sz="half" idx="2"/>
          </p:nvPr>
        </p:nvSpPr>
        <p:spPr/>
        <p:txBody>
          <a:bodyPr>
            <a:normAutofit fontScale="92500" lnSpcReduction="10000"/>
          </a:bodyPr>
          <a:lstStyle/>
          <a:p>
            <a:pPr marL="0" indent="0" algn="just">
              <a:buNone/>
            </a:pPr>
            <a:r>
              <a:rPr lang="en-IN" b="1" i="0" dirty="0">
                <a:solidFill>
                  <a:srgbClr val="006699"/>
                </a:solidFill>
                <a:effectLst/>
                <a:latin typeface="inter-regular"/>
              </a:rPr>
              <a:t>Syntax for class declaration:</a:t>
            </a:r>
          </a:p>
          <a:p>
            <a:pPr algn="just">
              <a:buFont typeface="+mj-lt"/>
              <a:buAutoNum type="arabicPeriod"/>
            </a:pPr>
            <a:endParaRPr lang="en-IN" b="1" dirty="0">
              <a:solidFill>
                <a:srgbClr val="006699"/>
              </a:solidFill>
              <a:latin typeface="inter-regular"/>
            </a:endParaRPr>
          </a:p>
          <a:p>
            <a:pPr algn="just">
              <a:buFont typeface="+mj-lt"/>
              <a:buAutoNum type="arabicPeriod"/>
            </a:pP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ClassName</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&lt;statement-1&gt;           </a:t>
            </a:r>
          </a:p>
          <a:p>
            <a:pPr algn="just">
              <a:buFont typeface="+mj-lt"/>
              <a:buAutoNum type="arabicPeriod"/>
            </a:pPr>
            <a:r>
              <a:rPr lang="en-IN" b="0" i="0" dirty="0">
                <a:solidFill>
                  <a:srgbClr val="000000"/>
                </a:solidFill>
                <a:effectLst/>
                <a:latin typeface="inter-regular"/>
              </a:rPr>
              <a:t>        &lt;statement-N&gt;    </a:t>
            </a:r>
          </a:p>
          <a:p>
            <a:endParaRPr lang="en-IN" dirty="0"/>
          </a:p>
        </p:txBody>
      </p:sp>
    </p:spTree>
    <p:extLst>
      <p:ext uri="{BB962C8B-B14F-4D97-AF65-F5344CB8AC3E}">
        <p14:creationId xmlns:p14="http://schemas.microsoft.com/office/powerpoint/2010/main" val="2070255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A00F3-5A76-086E-AC8D-705C700521CF}"/>
              </a:ext>
            </a:extLst>
          </p:cNvPr>
          <p:cNvSpPr>
            <a:spLocks noGrp="1"/>
          </p:cNvSpPr>
          <p:nvPr>
            <p:ph type="title"/>
          </p:nvPr>
        </p:nvSpPr>
        <p:spPr/>
        <p:txBody>
          <a:bodyPr>
            <a:normAutofit/>
          </a:bodyPr>
          <a:lstStyle/>
          <a:p>
            <a:r>
              <a:rPr lang="en-US" b="1" i="0" dirty="0">
                <a:solidFill>
                  <a:srgbClr val="25265E"/>
                </a:solidFill>
                <a:effectLst/>
                <a:latin typeface="euclid_circular_a"/>
              </a:rPr>
              <a:t>Python Objects</a:t>
            </a:r>
            <a:br>
              <a:rPr lang="en-US" b="1" i="0" dirty="0">
                <a:solidFill>
                  <a:srgbClr val="25265E"/>
                </a:solidFill>
                <a:effectLst/>
                <a:latin typeface="euclid_circular_a"/>
              </a:rPr>
            </a:br>
            <a:endParaRPr lang="en-IN" dirty="0"/>
          </a:p>
        </p:txBody>
      </p:sp>
      <p:sp>
        <p:nvSpPr>
          <p:cNvPr id="3" name="Content Placeholder 2">
            <a:extLst>
              <a:ext uri="{FF2B5EF4-FFF2-40B4-BE49-F238E27FC236}">
                <a16:creationId xmlns:a16="http://schemas.microsoft.com/office/drawing/2014/main" id="{53424C24-9BFD-E3A7-F29C-58277FF17614}"/>
              </a:ext>
            </a:extLst>
          </p:cNvPr>
          <p:cNvSpPr>
            <a:spLocks noGrp="1"/>
          </p:cNvSpPr>
          <p:nvPr>
            <p:ph sz="half" idx="1"/>
          </p:nvPr>
        </p:nvSpPr>
        <p:spPr/>
        <p:txBody>
          <a:bodyPr>
            <a:normAutofit lnSpcReduction="10000"/>
          </a:bodyPr>
          <a:lstStyle/>
          <a:p>
            <a:r>
              <a:rPr lang="en-US" b="0" i="0" dirty="0">
                <a:effectLst/>
                <a:latin typeface="euclid_circular_a"/>
              </a:rPr>
              <a:t>Definition of Object:</a:t>
            </a:r>
          </a:p>
          <a:p>
            <a:endParaRPr lang="en-US" dirty="0">
              <a:latin typeface="euclid_circular_a"/>
            </a:endParaRPr>
          </a:p>
          <a:p>
            <a:r>
              <a:rPr lang="en-US" b="0" i="0" dirty="0">
                <a:effectLst/>
                <a:latin typeface="euclid_circular_a"/>
              </a:rPr>
              <a:t>An object is called an instance of a class.</a:t>
            </a:r>
          </a:p>
          <a:p>
            <a:r>
              <a:rPr lang="en-US" b="0" i="0" dirty="0">
                <a:solidFill>
                  <a:srgbClr val="333333"/>
                </a:solidFill>
                <a:effectLst/>
                <a:latin typeface="inter-regular"/>
              </a:rPr>
              <a:t>The object is an entity that has state and behavior.</a:t>
            </a:r>
          </a:p>
          <a:p>
            <a:r>
              <a:rPr lang="en-US" b="0" i="0" dirty="0">
                <a:solidFill>
                  <a:srgbClr val="333333"/>
                </a:solidFill>
                <a:effectLst/>
                <a:latin typeface="inter-regular"/>
              </a:rPr>
              <a:t> It may be any real-world object like the mouse, keyboard, chair, table, pen, etc.</a:t>
            </a:r>
            <a:br>
              <a:rPr lang="en-US" b="0" i="0" dirty="0">
                <a:effectLst/>
                <a:latin typeface="euclid_circular_a"/>
              </a:rPr>
            </a:br>
            <a:endParaRPr lang="en-IN" dirty="0"/>
          </a:p>
        </p:txBody>
      </p:sp>
      <p:sp>
        <p:nvSpPr>
          <p:cNvPr id="4" name="Content Placeholder 3">
            <a:extLst>
              <a:ext uri="{FF2B5EF4-FFF2-40B4-BE49-F238E27FC236}">
                <a16:creationId xmlns:a16="http://schemas.microsoft.com/office/drawing/2014/main" id="{33F74556-619F-D6BA-CA09-EE66AA24457D}"/>
              </a:ext>
            </a:extLst>
          </p:cNvPr>
          <p:cNvSpPr>
            <a:spLocks noGrp="1"/>
          </p:cNvSpPr>
          <p:nvPr>
            <p:ph sz="half" idx="2"/>
          </p:nvPr>
        </p:nvSpPr>
        <p:spPr/>
        <p:txBody>
          <a:bodyPr>
            <a:normAutofit lnSpcReduction="10000"/>
          </a:bodyPr>
          <a:lstStyle/>
          <a:p>
            <a:r>
              <a:rPr lang="en-US" dirty="0">
                <a:latin typeface="euclid_circular_a"/>
              </a:rPr>
              <a:t>S</a:t>
            </a:r>
            <a:r>
              <a:rPr lang="en-US" b="0" i="0" dirty="0">
                <a:effectLst/>
                <a:latin typeface="euclid_circular_a"/>
              </a:rPr>
              <a:t>yntax to create an object</a:t>
            </a:r>
          </a:p>
          <a:p>
            <a:endParaRPr lang="en-US" dirty="0">
              <a:latin typeface="euclid_circular_a"/>
            </a:endParaRPr>
          </a:p>
          <a:p>
            <a:endParaRPr lang="en-US" dirty="0">
              <a:latin typeface="euclid_circular_a"/>
            </a:endParaRPr>
          </a:p>
          <a:p>
            <a:r>
              <a:rPr lang="en-US" dirty="0" err="1">
                <a:latin typeface="euclid_circular_a"/>
              </a:rPr>
              <a:t>Objectname</a:t>
            </a:r>
            <a:r>
              <a:rPr lang="en-US" dirty="0">
                <a:latin typeface="euclid_circular_a"/>
              </a:rPr>
              <a:t>= </a:t>
            </a:r>
            <a:r>
              <a:rPr lang="en-US" dirty="0" err="1">
                <a:latin typeface="euclid_circular_a"/>
              </a:rPr>
              <a:t>ClassName</a:t>
            </a:r>
            <a:r>
              <a:rPr lang="en-US" dirty="0">
                <a:latin typeface="euclid_circular_a"/>
              </a:rPr>
              <a:t>()</a:t>
            </a:r>
            <a:endParaRPr lang="en-IN" dirty="0"/>
          </a:p>
        </p:txBody>
      </p:sp>
    </p:spTree>
    <p:extLst>
      <p:ext uri="{BB962C8B-B14F-4D97-AF65-F5344CB8AC3E}">
        <p14:creationId xmlns:p14="http://schemas.microsoft.com/office/powerpoint/2010/main" val="2595171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588F4A62-7A07-4F2A-D992-658E150A9921}"/>
              </a:ext>
            </a:extLst>
          </p:cNvPr>
          <p:cNvSpPr>
            <a:spLocks noGrp="1"/>
          </p:cNvSpPr>
          <p:nvPr>
            <p:ph type="title"/>
          </p:nvPr>
        </p:nvSpPr>
        <p:spPr/>
        <p:txBody>
          <a:bodyPr/>
          <a:lstStyle/>
          <a:p>
            <a:r>
              <a:rPr lang="en-US" b="1" i="0" dirty="0">
                <a:solidFill>
                  <a:srgbClr val="25265E"/>
                </a:solidFill>
                <a:effectLst/>
                <a:latin typeface="euclid_circular_a"/>
              </a:rPr>
              <a:t>Python Class and Objects</a:t>
            </a:r>
            <a:br>
              <a:rPr lang="en-US" b="1" i="0" dirty="0">
                <a:solidFill>
                  <a:srgbClr val="25265E"/>
                </a:solidFill>
                <a:effectLst/>
                <a:latin typeface="euclid_circular_a"/>
              </a:rPr>
            </a:br>
            <a:endParaRPr lang="en-IN" dirty="0"/>
          </a:p>
        </p:txBody>
      </p:sp>
      <p:sp>
        <p:nvSpPr>
          <p:cNvPr id="12" name="Content Placeholder 11">
            <a:extLst>
              <a:ext uri="{FF2B5EF4-FFF2-40B4-BE49-F238E27FC236}">
                <a16:creationId xmlns:a16="http://schemas.microsoft.com/office/drawing/2014/main" id="{D1A6924B-F24C-41DD-BF8A-36A4B578121C}"/>
              </a:ext>
            </a:extLst>
          </p:cNvPr>
          <p:cNvSpPr>
            <a:spLocks noGrp="1"/>
          </p:cNvSpPr>
          <p:nvPr>
            <p:ph idx="1"/>
          </p:nvPr>
        </p:nvSpPr>
        <p:spPr>
          <a:xfrm>
            <a:off x="838200" y="1022888"/>
            <a:ext cx="10515600" cy="5469987"/>
          </a:xfrm>
        </p:spPr>
        <p:txBody>
          <a:bodyPr>
            <a:normAutofit fontScale="92500" lnSpcReduction="20000"/>
          </a:bodyPr>
          <a:lstStyle/>
          <a:p>
            <a:r>
              <a:rPr lang="en-US" dirty="0"/>
              <a:t># define a class</a:t>
            </a:r>
          </a:p>
          <a:p>
            <a:r>
              <a:rPr lang="en-US" dirty="0"/>
              <a:t>class Bike:</a:t>
            </a:r>
          </a:p>
          <a:p>
            <a:r>
              <a:rPr lang="en-US" dirty="0"/>
              <a:t>    name = ""</a:t>
            </a:r>
          </a:p>
          <a:p>
            <a:r>
              <a:rPr lang="en-US" dirty="0"/>
              <a:t>    gear = 0</a:t>
            </a:r>
          </a:p>
          <a:p>
            <a:endParaRPr lang="en-US" dirty="0"/>
          </a:p>
          <a:p>
            <a:r>
              <a:rPr lang="en-US" dirty="0"/>
              <a:t># create object of class</a:t>
            </a:r>
          </a:p>
          <a:p>
            <a:r>
              <a:rPr lang="en-US" dirty="0"/>
              <a:t>bike1 = Bike()</a:t>
            </a:r>
          </a:p>
          <a:p>
            <a:endParaRPr lang="en-US" dirty="0"/>
          </a:p>
          <a:p>
            <a:r>
              <a:rPr lang="en-US" dirty="0"/>
              <a:t># access attributes and assign new values</a:t>
            </a:r>
          </a:p>
          <a:p>
            <a:r>
              <a:rPr lang="en-US" dirty="0"/>
              <a:t>bike1.gear = 11</a:t>
            </a:r>
          </a:p>
          <a:p>
            <a:r>
              <a:rPr lang="en-US" dirty="0"/>
              <a:t>bike1.name = "Mountain Bike"</a:t>
            </a:r>
          </a:p>
          <a:p>
            <a:endParaRPr lang="en-US" dirty="0"/>
          </a:p>
          <a:p>
            <a:r>
              <a:rPr lang="en-US" dirty="0"/>
              <a:t>print(</a:t>
            </a:r>
            <a:r>
              <a:rPr lang="en-US" dirty="0" err="1"/>
              <a:t>f"Name</a:t>
            </a:r>
            <a:r>
              <a:rPr lang="en-US" dirty="0"/>
              <a:t>: {bike1.name}, Gears: {bike1.gear} ")</a:t>
            </a:r>
            <a:endParaRPr lang="en-IN" dirty="0"/>
          </a:p>
        </p:txBody>
      </p:sp>
    </p:spTree>
    <p:extLst>
      <p:ext uri="{BB962C8B-B14F-4D97-AF65-F5344CB8AC3E}">
        <p14:creationId xmlns:p14="http://schemas.microsoft.com/office/powerpoint/2010/main" val="2571488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23961A2-FF1C-EB05-3C6A-EF0EF8B8C1A4}"/>
              </a:ext>
            </a:extLst>
          </p:cNvPr>
          <p:cNvSpPr>
            <a:spLocks noGrp="1"/>
          </p:cNvSpPr>
          <p:nvPr>
            <p:ph type="title"/>
          </p:nvPr>
        </p:nvSpPr>
        <p:spPr>
          <a:xfrm>
            <a:off x="838200" y="365124"/>
            <a:ext cx="10515600" cy="1649205"/>
          </a:xfrm>
        </p:spPr>
        <p:txBody>
          <a:bodyPr>
            <a:normAutofit/>
          </a:bodyPr>
          <a:lstStyle/>
          <a:p>
            <a:r>
              <a:rPr lang="en-US" b="0" i="0" dirty="0">
                <a:solidFill>
                  <a:srgbClr val="610B38"/>
                </a:solidFill>
                <a:effectLst/>
                <a:latin typeface="erdana"/>
              </a:rPr>
              <a:t>Method</a:t>
            </a:r>
            <a:br>
              <a:rPr lang="en-US" b="0" i="0" dirty="0">
                <a:solidFill>
                  <a:srgbClr val="610B38"/>
                </a:solidFill>
                <a:effectLst/>
                <a:latin typeface="erdana"/>
              </a:rPr>
            </a:br>
            <a:endParaRPr lang="en-IN" dirty="0"/>
          </a:p>
        </p:txBody>
      </p:sp>
      <p:sp>
        <p:nvSpPr>
          <p:cNvPr id="7" name="Content Placeholder 6">
            <a:extLst>
              <a:ext uri="{FF2B5EF4-FFF2-40B4-BE49-F238E27FC236}">
                <a16:creationId xmlns:a16="http://schemas.microsoft.com/office/drawing/2014/main" id="{A7311DD1-9AEC-E9CE-537D-0815FA4D00EA}"/>
              </a:ext>
            </a:extLst>
          </p:cNvPr>
          <p:cNvSpPr>
            <a:spLocks noGrp="1"/>
          </p:cNvSpPr>
          <p:nvPr>
            <p:ph idx="1"/>
          </p:nvPr>
        </p:nvSpPr>
        <p:spPr>
          <a:xfrm>
            <a:off x="838200" y="1590261"/>
            <a:ext cx="10515600" cy="2213113"/>
          </a:xfrm>
        </p:spPr>
        <p:txBody>
          <a:bodyPr>
            <a:normAutofit/>
          </a:bodyPr>
          <a:lstStyle/>
          <a:p>
            <a:pPr algn="just"/>
            <a:r>
              <a:rPr lang="en-US" b="0" i="0" dirty="0">
                <a:solidFill>
                  <a:srgbClr val="333333"/>
                </a:solidFill>
                <a:effectLst/>
                <a:latin typeface="inter-regular"/>
              </a:rPr>
              <a:t>The method is a function that is associated with an object. In Python, a method is not unique to class instances. Any object type can have methods.</a:t>
            </a:r>
          </a:p>
          <a:p>
            <a:endParaRPr lang="en-IN" dirty="0"/>
          </a:p>
        </p:txBody>
      </p:sp>
    </p:spTree>
    <p:extLst>
      <p:ext uri="{BB962C8B-B14F-4D97-AF65-F5344CB8AC3E}">
        <p14:creationId xmlns:p14="http://schemas.microsoft.com/office/powerpoint/2010/main" val="1985468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4BA88-D4CE-B6E1-2269-9E186BECC2A4}"/>
              </a:ext>
            </a:extLst>
          </p:cNvPr>
          <p:cNvSpPr>
            <a:spLocks noGrp="1"/>
          </p:cNvSpPr>
          <p:nvPr>
            <p:ph type="title"/>
          </p:nvPr>
        </p:nvSpPr>
        <p:spPr/>
        <p:txBody>
          <a:bodyPr/>
          <a:lstStyle/>
          <a:p>
            <a:r>
              <a:rPr lang="en-US" b="0" i="0" dirty="0">
                <a:solidFill>
                  <a:srgbClr val="610B38"/>
                </a:solidFill>
                <a:effectLst/>
                <a:latin typeface="erdana"/>
              </a:rPr>
              <a:t>Inheritance</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7E55615D-C993-0130-6395-8AFF6D08455C}"/>
              </a:ext>
            </a:extLst>
          </p:cNvPr>
          <p:cNvSpPr>
            <a:spLocks noGrp="1"/>
          </p:cNvSpPr>
          <p:nvPr>
            <p:ph idx="1"/>
          </p:nvPr>
        </p:nvSpPr>
        <p:spPr/>
        <p:txBody>
          <a:bodyPr/>
          <a:lstStyle/>
          <a:p>
            <a:pPr algn="just"/>
            <a:r>
              <a:rPr lang="en-US" b="0" i="0" dirty="0">
                <a:solidFill>
                  <a:srgbClr val="333333"/>
                </a:solidFill>
                <a:effectLst/>
                <a:latin typeface="inter-regular"/>
              </a:rPr>
              <a:t>Inheritance is the most important aspect of object-oriented programming, which simulates the real-world concept of inheritance. It specifies that the child object acquires all the properties and behaviors of the parent object.</a:t>
            </a:r>
          </a:p>
          <a:p>
            <a:pPr algn="just"/>
            <a:r>
              <a:rPr lang="en-US" b="0" i="0" dirty="0">
                <a:solidFill>
                  <a:srgbClr val="333333"/>
                </a:solidFill>
                <a:effectLst/>
                <a:latin typeface="inter-regular"/>
              </a:rPr>
              <a:t>By using inheritance, we can create a class which uses all the properties and behavior of another class. The new class is known as a derived class or child class, and the one whose properties are acquired is known as a base class or parent class.</a:t>
            </a:r>
          </a:p>
          <a:p>
            <a:pPr algn="just"/>
            <a:r>
              <a:rPr lang="en-US" b="0" i="0" dirty="0">
                <a:solidFill>
                  <a:srgbClr val="333333"/>
                </a:solidFill>
                <a:effectLst/>
                <a:latin typeface="inter-regular"/>
              </a:rPr>
              <a:t>It provides the re-usability of the code.</a:t>
            </a:r>
          </a:p>
          <a:p>
            <a:endParaRPr lang="en-IN" dirty="0"/>
          </a:p>
        </p:txBody>
      </p:sp>
    </p:spTree>
    <p:extLst>
      <p:ext uri="{BB962C8B-B14F-4D97-AF65-F5344CB8AC3E}">
        <p14:creationId xmlns:p14="http://schemas.microsoft.com/office/powerpoint/2010/main" val="118952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E27ED-3A3F-5F7F-162F-9F3C74DF8B39}"/>
              </a:ext>
            </a:extLst>
          </p:cNvPr>
          <p:cNvSpPr>
            <a:spLocks noGrp="1"/>
          </p:cNvSpPr>
          <p:nvPr>
            <p:ph type="title"/>
          </p:nvPr>
        </p:nvSpPr>
        <p:spPr>
          <a:xfrm>
            <a:off x="1169504" y="484393"/>
            <a:ext cx="10515600" cy="1052858"/>
          </a:xfrm>
        </p:spPr>
        <p:txBody>
          <a:bodyPr>
            <a:normAutofit fontScale="90000"/>
          </a:bodyPr>
          <a:lstStyle/>
          <a:p>
            <a:r>
              <a:rPr lang="en-US" b="0" i="0" dirty="0">
                <a:solidFill>
                  <a:srgbClr val="610B38"/>
                </a:solidFill>
                <a:effectLst/>
                <a:latin typeface="erdana"/>
              </a:rPr>
              <a:t>Polymorphism</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E608A812-5DFE-75D1-1B8F-856AFF327A4F}"/>
              </a:ext>
            </a:extLst>
          </p:cNvPr>
          <p:cNvSpPr>
            <a:spLocks noGrp="1"/>
          </p:cNvSpPr>
          <p:nvPr>
            <p:ph idx="1"/>
          </p:nvPr>
        </p:nvSpPr>
        <p:spPr>
          <a:xfrm>
            <a:off x="838200" y="1838873"/>
            <a:ext cx="10515600" cy="4338089"/>
          </a:xfrm>
        </p:spPr>
        <p:txBody>
          <a:bodyPr>
            <a:normAutofit/>
          </a:bodyPr>
          <a:lstStyle/>
          <a:p>
            <a:pPr algn="just"/>
            <a:r>
              <a:rPr lang="en-US" b="0" i="0" dirty="0">
                <a:solidFill>
                  <a:srgbClr val="333333"/>
                </a:solidFill>
                <a:effectLst/>
                <a:latin typeface="inter-regular"/>
              </a:rPr>
              <a:t>Polymorphism contains two words "poly" and "morphs". Poly means many, and morph means shape. By polymorphism, we understand that one task can be performed in different ways. For example - you have a class animal, and all animals speak. But they speak differently. Here, the "speak" behavior is polymorphic in a sense and depends on the animal. So, the abstract "animal" concept does not actually "speak", but specific animals (like dogs and cats) have a concrete implementation of the action "speak".</a:t>
            </a:r>
          </a:p>
          <a:p>
            <a:endParaRPr lang="en-IN" dirty="0"/>
          </a:p>
        </p:txBody>
      </p:sp>
    </p:spTree>
    <p:extLst>
      <p:ext uri="{BB962C8B-B14F-4D97-AF65-F5344CB8AC3E}">
        <p14:creationId xmlns:p14="http://schemas.microsoft.com/office/powerpoint/2010/main" val="1205146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3D61A-C9CE-3E21-751E-E7F0C3B1965D}"/>
              </a:ext>
            </a:extLst>
          </p:cNvPr>
          <p:cNvSpPr>
            <a:spLocks noGrp="1"/>
          </p:cNvSpPr>
          <p:nvPr>
            <p:ph type="title"/>
          </p:nvPr>
        </p:nvSpPr>
        <p:spPr/>
        <p:txBody>
          <a:bodyPr/>
          <a:lstStyle/>
          <a:p>
            <a:r>
              <a:rPr lang="en-US" b="0" i="0" dirty="0">
                <a:solidFill>
                  <a:srgbClr val="610B38"/>
                </a:solidFill>
                <a:effectLst/>
                <a:latin typeface="erdana"/>
              </a:rPr>
              <a:t>Encapsulation</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C3A8DC35-1E54-1CCC-A848-CB18844AC43C}"/>
              </a:ext>
            </a:extLst>
          </p:cNvPr>
          <p:cNvSpPr>
            <a:spLocks noGrp="1"/>
          </p:cNvSpPr>
          <p:nvPr>
            <p:ph idx="1"/>
          </p:nvPr>
        </p:nvSpPr>
        <p:spPr/>
        <p:txBody>
          <a:bodyPr/>
          <a:lstStyle/>
          <a:p>
            <a:pPr algn="just"/>
            <a:r>
              <a:rPr lang="en-US" b="0" i="0" dirty="0">
                <a:solidFill>
                  <a:srgbClr val="333333"/>
                </a:solidFill>
                <a:effectLst/>
                <a:latin typeface="inter-regular"/>
              </a:rPr>
              <a:t>Encapsulation is also an essential aspect of object-oriented programming. It is used to restrict access to methods and variables. In encapsulation, code and data are wrapped together within a single unit from being modified by accident.</a:t>
            </a:r>
          </a:p>
          <a:p>
            <a:endParaRPr lang="en-IN" dirty="0"/>
          </a:p>
        </p:txBody>
      </p:sp>
    </p:spTree>
    <p:extLst>
      <p:ext uri="{BB962C8B-B14F-4D97-AF65-F5344CB8AC3E}">
        <p14:creationId xmlns:p14="http://schemas.microsoft.com/office/powerpoint/2010/main" val="3691001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18681-87BC-36D2-7DC8-1ACB603BF508}"/>
              </a:ext>
            </a:extLst>
          </p:cNvPr>
          <p:cNvSpPr>
            <a:spLocks noGrp="1"/>
          </p:cNvSpPr>
          <p:nvPr>
            <p:ph type="title"/>
          </p:nvPr>
        </p:nvSpPr>
        <p:spPr/>
        <p:txBody>
          <a:bodyPr/>
          <a:lstStyle/>
          <a:p>
            <a:r>
              <a:rPr lang="en-US" b="0" i="0" dirty="0">
                <a:solidFill>
                  <a:srgbClr val="610B38"/>
                </a:solidFill>
                <a:effectLst/>
                <a:latin typeface="erdana"/>
              </a:rPr>
              <a:t>Data Abstraction</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B53BE9CE-0A3D-8DBB-8AC8-C6AF81CCEAE4}"/>
              </a:ext>
            </a:extLst>
          </p:cNvPr>
          <p:cNvSpPr>
            <a:spLocks noGrp="1"/>
          </p:cNvSpPr>
          <p:nvPr>
            <p:ph idx="1"/>
          </p:nvPr>
        </p:nvSpPr>
        <p:spPr/>
        <p:txBody>
          <a:bodyPr/>
          <a:lstStyle/>
          <a:p>
            <a:pPr algn="just"/>
            <a:r>
              <a:rPr lang="en-US" b="0" i="0" dirty="0">
                <a:solidFill>
                  <a:srgbClr val="333333"/>
                </a:solidFill>
                <a:effectLst/>
                <a:latin typeface="inter-regular"/>
              </a:rPr>
              <a:t>Data abstraction and encapsulation both are often used as synonyms. Both are nearly synonyms because data abstraction is achieved through encapsulation.</a:t>
            </a:r>
          </a:p>
          <a:p>
            <a:pPr algn="just"/>
            <a:r>
              <a:rPr lang="en-US" b="0" i="0" dirty="0">
                <a:solidFill>
                  <a:srgbClr val="333333"/>
                </a:solidFill>
                <a:effectLst/>
                <a:latin typeface="inter-regular"/>
              </a:rPr>
              <a:t>Abstraction is used to hide internal details and show only functionalities. Abstracting something means to give names to things so that the name captures the core of what a function or a whole program does.</a:t>
            </a:r>
          </a:p>
          <a:p>
            <a:endParaRPr lang="en-IN" dirty="0"/>
          </a:p>
        </p:txBody>
      </p:sp>
    </p:spTree>
    <p:extLst>
      <p:ext uri="{BB962C8B-B14F-4D97-AF65-F5344CB8AC3E}">
        <p14:creationId xmlns:p14="http://schemas.microsoft.com/office/powerpoint/2010/main" val="1239240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24A20F-D375-CB0D-DA8C-B69E68DC5AD9}"/>
              </a:ext>
            </a:extLst>
          </p:cNvPr>
          <p:cNvSpPr>
            <a:spLocks noGrp="1"/>
          </p:cNvSpPr>
          <p:nvPr>
            <p:ph idx="1"/>
          </p:nvPr>
        </p:nvSpPr>
        <p:spPr>
          <a:xfrm>
            <a:off x="838200" y="365124"/>
            <a:ext cx="7656443" cy="6492875"/>
          </a:xfrm>
        </p:spPr>
        <p:txBody>
          <a:bodyPr>
            <a:normAutofit fontScale="85000" lnSpcReduction="20000"/>
          </a:bodyPr>
          <a:lstStyle/>
          <a:p>
            <a:r>
              <a:rPr lang="en-US" dirty="0"/>
              <a:t># define a class</a:t>
            </a:r>
          </a:p>
          <a:p>
            <a:r>
              <a:rPr lang="en-US" dirty="0"/>
              <a:t>class Employee:</a:t>
            </a:r>
          </a:p>
          <a:p>
            <a:r>
              <a:rPr lang="en-US" dirty="0"/>
              <a:t>    # define a property</a:t>
            </a:r>
          </a:p>
          <a:p>
            <a:r>
              <a:rPr lang="en-US" dirty="0"/>
              <a:t>    </a:t>
            </a:r>
            <a:r>
              <a:rPr lang="en-US" dirty="0" err="1"/>
              <a:t>employee_id</a:t>
            </a:r>
            <a:r>
              <a:rPr lang="en-US" dirty="0"/>
              <a:t> = 0</a:t>
            </a:r>
          </a:p>
          <a:p>
            <a:endParaRPr lang="en-US" dirty="0"/>
          </a:p>
          <a:p>
            <a:r>
              <a:rPr lang="en-US" dirty="0"/>
              <a:t># create two objects of the Employee class</a:t>
            </a:r>
          </a:p>
          <a:p>
            <a:r>
              <a:rPr lang="en-US" dirty="0"/>
              <a:t>employee1 = Employee()</a:t>
            </a:r>
          </a:p>
          <a:p>
            <a:r>
              <a:rPr lang="en-US" dirty="0"/>
              <a:t>employee2 = Employee()</a:t>
            </a:r>
          </a:p>
          <a:p>
            <a:endParaRPr lang="en-US" dirty="0"/>
          </a:p>
          <a:p>
            <a:r>
              <a:rPr lang="en-US" dirty="0"/>
              <a:t># access property using employee1</a:t>
            </a:r>
          </a:p>
          <a:p>
            <a:r>
              <a:rPr lang="en-US" dirty="0"/>
              <a:t>employee1.employeeID = 1001</a:t>
            </a:r>
          </a:p>
          <a:p>
            <a:r>
              <a:rPr lang="en-US" dirty="0"/>
              <a:t>print(</a:t>
            </a:r>
            <a:r>
              <a:rPr lang="en-US" dirty="0" err="1"/>
              <a:t>f"Employee</a:t>
            </a:r>
            <a:r>
              <a:rPr lang="en-US" dirty="0"/>
              <a:t> ID: {employee1.employeeID}")</a:t>
            </a:r>
          </a:p>
          <a:p>
            <a:endParaRPr lang="en-US" dirty="0"/>
          </a:p>
          <a:p>
            <a:r>
              <a:rPr lang="en-US" dirty="0"/>
              <a:t># access properties using employee2</a:t>
            </a:r>
          </a:p>
          <a:p>
            <a:r>
              <a:rPr lang="en-US" dirty="0"/>
              <a:t>employee2.employeeID = 1002</a:t>
            </a:r>
          </a:p>
          <a:p>
            <a:r>
              <a:rPr lang="en-US" dirty="0"/>
              <a:t>print(</a:t>
            </a:r>
            <a:r>
              <a:rPr lang="en-US" dirty="0" err="1"/>
              <a:t>f"Employee</a:t>
            </a:r>
            <a:r>
              <a:rPr lang="en-US" dirty="0"/>
              <a:t> ID: {employee2.employeeID}")</a:t>
            </a:r>
            <a:endParaRPr lang="en-IN" dirty="0"/>
          </a:p>
        </p:txBody>
      </p:sp>
    </p:spTree>
    <p:extLst>
      <p:ext uri="{BB962C8B-B14F-4D97-AF65-F5344CB8AC3E}">
        <p14:creationId xmlns:p14="http://schemas.microsoft.com/office/powerpoint/2010/main" val="182376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444ED-728D-B604-9003-9507195E875A}"/>
              </a:ext>
            </a:extLst>
          </p:cNvPr>
          <p:cNvSpPr>
            <a:spLocks noGrp="1"/>
          </p:cNvSpPr>
          <p:nvPr>
            <p:ph type="title"/>
          </p:nvPr>
        </p:nvSpPr>
        <p:spPr>
          <a:xfrm>
            <a:off x="838200" y="365125"/>
            <a:ext cx="10515600" cy="880579"/>
          </a:xfrm>
        </p:spPr>
        <p:txBody>
          <a:bodyPr>
            <a:normAutofit fontScale="90000"/>
          </a:bodyPr>
          <a:lstStyle/>
          <a:p>
            <a:r>
              <a:rPr lang="en-IN" b="1" i="0" dirty="0">
                <a:solidFill>
                  <a:srgbClr val="25265E"/>
                </a:solidFill>
                <a:effectLst/>
                <a:latin typeface="euclid_circular_a"/>
              </a:rPr>
              <a:t>Python Constructors</a:t>
            </a:r>
            <a:br>
              <a:rPr lang="en-IN" b="1" i="0" dirty="0">
                <a:solidFill>
                  <a:srgbClr val="25265E"/>
                </a:solidFill>
                <a:effectLst/>
                <a:latin typeface="euclid_circular_a"/>
              </a:rPr>
            </a:br>
            <a:endParaRPr lang="en-IN" dirty="0"/>
          </a:p>
        </p:txBody>
      </p:sp>
      <p:sp>
        <p:nvSpPr>
          <p:cNvPr id="3" name="Content Placeholder 2">
            <a:extLst>
              <a:ext uri="{FF2B5EF4-FFF2-40B4-BE49-F238E27FC236}">
                <a16:creationId xmlns:a16="http://schemas.microsoft.com/office/drawing/2014/main" id="{D2F7D453-76AB-1917-66FB-76BE8E33C3FA}"/>
              </a:ext>
            </a:extLst>
          </p:cNvPr>
          <p:cNvSpPr>
            <a:spLocks noGrp="1"/>
          </p:cNvSpPr>
          <p:nvPr>
            <p:ph idx="1"/>
          </p:nvPr>
        </p:nvSpPr>
        <p:spPr>
          <a:xfrm>
            <a:off x="838200" y="1139687"/>
            <a:ext cx="10515600" cy="5037276"/>
          </a:xfrm>
        </p:spPr>
        <p:txBody>
          <a:bodyPr/>
          <a:lstStyle/>
          <a:p>
            <a:r>
              <a:rPr lang="en-US" b="0" i="0" dirty="0">
                <a:solidFill>
                  <a:srgbClr val="333333"/>
                </a:solidFill>
                <a:effectLst/>
                <a:latin typeface="inter-regular"/>
              </a:rPr>
              <a:t>A constructor is a special type of method (function) which is used to initialize the instance members of the class.</a:t>
            </a:r>
          </a:p>
          <a:p>
            <a:pPr marL="0" indent="0">
              <a:buNone/>
            </a:pPr>
            <a:endParaRPr lang="en-US" b="0" i="0" dirty="0">
              <a:solidFill>
                <a:srgbClr val="333333"/>
              </a:solidFill>
              <a:effectLst/>
              <a:latin typeface="inter-regular"/>
            </a:endParaRPr>
          </a:p>
          <a:p>
            <a:pPr algn="just"/>
            <a:r>
              <a:rPr lang="en-US" b="0" i="0" dirty="0">
                <a:solidFill>
                  <a:srgbClr val="333333"/>
                </a:solidFill>
                <a:effectLst/>
                <a:latin typeface="inter-regular"/>
              </a:rPr>
              <a:t>Constructors can be of two types.</a:t>
            </a:r>
          </a:p>
          <a:p>
            <a:pPr algn="just">
              <a:buFont typeface="+mj-lt"/>
              <a:buAutoNum type="arabicPeriod"/>
            </a:pPr>
            <a:r>
              <a:rPr lang="en-US" b="0" i="0" dirty="0">
                <a:solidFill>
                  <a:srgbClr val="000000"/>
                </a:solidFill>
                <a:effectLst/>
                <a:latin typeface="inter-regular"/>
              </a:rPr>
              <a:t>Parameterized Constructor</a:t>
            </a:r>
          </a:p>
          <a:p>
            <a:pPr algn="just">
              <a:buFont typeface="+mj-lt"/>
              <a:buAutoNum type="arabicPeriod"/>
            </a:pPr>
            <a:r>
              <a:rPr lang="en-US" b="0" i="0" dirty="0">
                <a:solidFill>
                  <a:srgbClr val="000000"/>
                </a:solidFill>
                <a:effectLst/>
                <a:latin typeface="inter-regular"/>
              </a:rPr>
              <a:t>Non-parameterized Constructor</a:t>
            </a:r>
          </a:p>
          <a:p>
            <a:endParaRPr lang="en-US" dirty="0">
              <a:solidFill>
                <a:srgbClr val="333333"/>
              </a:solidFill>
              <a:latin typeface="inter-regular"/>
            </a:endParaRPr>
          </a:p>
          <a:p>
            <a:r>
              <a:rPr lang="en-US" b="0" i="0" dirty="0">
                <a:solidFill>
                  <a:srgbClr val="333333"/>
                </a:solidFill>
                <a:effectLst/>
                <a:latin typeface="inter-regular"/>
              </a:rPr>
              <a:t>Constructor definition is executed when we create the object of this class. Constructors also verify that there are enough resources for the object to perform any start-up task.</a:t>
            </a:r>
            <a:endParaRPr lang="en-IN" dirty="0"/>
          </a:p>
        </p:txBody>
      </p:sp>
    </p:spTree>
    <p:extLst>
      <p:ext uri="{BB962C8B-B14F-4D97-AF65-F5344CB8AC3E}">
        <p14:creationId xmlns:p14="http://schemas.microsoft.com/office/powerpoint/2010/main" val="1894691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1B230-E1D7-65F5-4BAA-4585AEC361EE}"/>
              </a:ext>
            </a:extLst>
          </p:cNvPr>
          <p:cNvSpPr>
            <a:spLocks noGrp="1"/>
          </p:cNvSpPr>
          <p:nvPr>
            <p:ph type="title"/>
          </p:nvPr>
        </p:nvSpPr>
        <p:spPr/>
        <p:txBody>
          <a:bodyPr/>
          <a:lstStyle/>
          <a:p>
            <a:r>
              <a:rPr lang="en-US" b="0" i="0" dirty="0">
                <a:solidFill>
                  <a:srgbClr val="610B38"/>
                </a:solidFill>
                <a:effectLst/>
                <a:latin typeface="erdana"/>
              </a:rPr>
              <a:t>Creating the constructor in python</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731D9FD5-D1DD-06AB-7092-719CBF216682}"/>
              </a:ext>
            </a:extLst>
          </p:cNvPr>
          <p:cNvSpPr>
            <a:spLocks noGrp="1"/>
          </p:cNvSpPr>
          <p:nvPr>
            <p:ph idx="1"/>
          </p:nvPr>
        </p:nvSpPr>
        <p:spPr>
          <a:xfrm>
            <a:off x="838200" y="1825625"/>
            <a:ext cx="10041609" cy="2932355"/>
          </a:xfrm>
        </p:spPr>
        <p:txBody>
          <a:bodyPr/>
          <a:lstStyle/>
          <a:p>
            <a:pPr algn="just"/>
            <a:r>
              <a:rPr lang="en-US" b="0" i="0" dirty="0">
                <a:solidFill>
                  <a:srgbClr val="333333"/>
                </a:solidFill>
                <a:effectLst/>
                <a:latin typeface="inter-regular"/>
              </a:rPr>
              <a:t>In Python, the method the </a:t>
            </a:r>
            <a:r>
              <a:rPr lang="en-US" b="1" i="0" dirty="0">
                <a:solidFill>
                  <a:srgbClr val="333333"/>
                </a:solidFill>
                <a:effectLst/>
                <a:latin typeface="inter-bold"/>
              </a:rPr>
              <a:t>__</a:t>
            </a:r>
            <a:r>
              <a:rPr lang="en-US" b="1" i="0" dirty="0" err="1">
                <a:solidFill>
                  <a:srgbClr val="333333"/>
                </a:solidFill>
                <a:effectLst/>
                <a:latin typeface="inter-bold"/>
              </a:rPr>
              <a:t>init</a:t>
            </a:r>
            <a:r>
              <a:rPr lang="en-US" b="1" i="0" dirty="0">
                <a:solidFill>
                  <a:srgbClr val="333333"/>
                </a:solidFill>
                <a:effectLst/>
                <a:latin typeface="inter-bold"/>
              </a:rPr>
              <a:t>__()</a:t>
            </a:r>
            <a:r>
              <a:rPr lang="en-US" b="0" i="0" dirty="0">
                <a:solidFill>
                  <a:srgbClr val="333333"/>
                </a:solidFill>
                <a:effectLst/>
                <a:latin typeface="inter-regular"/>
              </a:rPr>
              <a:t> simulates the constructor of the class. This method is called when the class is instantiated. It accepts the </a:t>
            </a:r>
            <a:r>
              <a:rPr lang="en-US" b="1" i="0" dirty="0">
                <a:solidFill>
                  <a:srgbClr val="333333"/>
                </a:solidFill>
                <a:effectLst/>
                <a:latin typeface="inter-bold"/>
              </a:rPr>
              <a:t>self</a:t>
            </a:r>
            <a:r>
              <a:rPr lang="en-US" b="0" i="0" dirty="0">
                <a:solidFill>
                  <a:srgbClr val="333333"/>
                </a:solidFill>
                <a:effectLst/>
                <a:latin typeface="inter-regular"/>
              </a:rPr>
              <a:t>-keyword as a first argument which allows accessing the attributes or method of the class.</a:t>
            </a:r>
          </a:p>
          <a:p>
            <a:pPr algn="just"/>
            <a:endParaRPr lang="en-US" b="0" i="0" dirty="0">
              <a:solidFill>
                <a:srgbClr val="333333"/>
              </a:solidFill>
              <a:effectLst/>
              <a:latin typeface="inter-regular"/>
            </a:endParaRPr>
          </a:p>
          <a:p>
            <a:endParaRPr lang="en-IN" dirty="0"/>
          </a:p>
        </p:txBody>
      </p:sp>
    </p:spTree>
    <p:extLst>
      <p:ext uri="{BB962C8B-B14F-4D97-AF65-F5344CB8AC3E}">
        <p14:creationId xmlns:p14="http://schemas.microsoft.com/office/powerpoint/2010/main" val="126444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78937"/>
          </a:xfrm>
        </p:spPr>
        <p:txBody>
          <a:bodyPr>
            <a:normAutofit fontScale="90000"/>
          </a:bodyPr>
          <a:lstStyle/>
          <a:p>
            <a:r>
              <a:rPr lang="en-US" b="1" dirty="0"/>
              <a:t>The    __</a:t>
            </a:r>
            <a:r>
              <a:rPr lang="en-US" b="1" dirty="0" err="1"/>
              <a:t>init</a:t>
            </a:r>
            <a:r>
              <a:rPr lang="en-US" b="1" dirty="0"/>
              <a:t>__()  Function</a:t>
            </a:r>
            <a:endParaRPr lang="en-US" dirty="0"/>
          </a:p>
        </p:txBody>
      </p:sp>
      <p:sp>
        <p:nvSpPr>
          <p:cNvPr id="3" name="Content Placeholder 2"/>
          <p:cNvSpPr>
            <a:spLocks noGrp="1"/>
          </p:cNvSpPr>
          <p:nvPr>
            <p:ph idx="1"/>
          </p:nvPr>
        </p:nvSpPr>
        <p:spPr>
          <a:xfrm>
            <a:off x="838200" y="1002323"/>
            <a:ext cx="5984631" cy="5174640"/>
          </a:xfrm>
        </p:spPr>
        <p:txBody>
          <a:bodyPr>
            <a:normAutofit fontScale="92500" lnSpcReduction="20000"/>
          </a:bodyPr>
          <a:lstStyle/>
          <a:p>
            <a:pPr marL="0" indent="0">
              <a:buNone/>
            </a:pPr>
            <a:r>
              <a:rPr lang="en-US" b="1" dirty="0"/>
              <a:t>__</a:t>
            </a:r>
            <a:r>
              <a:rPr lang="en-US" b="1" dirty="0" err="1"/>
              <a:t>init</a:t>
            </a:r>
            <a:r>
              <a:rPr lang="en-US" b="1" dirty="0"/>
              <a:t>__()</a:t>
            </a:r>
            <a:r>
              <a:rPr lang="en-US" dirty="0"/>
              <a:t> simulates the constructor of the class</a:t>
            </a:r>
          </a:p>
          <a:p>
            <a:pPr marL="0" indent="0">
              <a:buNone/>
            </a:pPr>
            <a:r>
              <a:rPr lang="en-US" dirty="0"/>
              <a:t>It is mostly used to initialize the class attributes. Every class must have a constructor, even if it simply relies on the default constructor.</a:t>
            </a:r>
          </a:p>
          <a:p>
            <a:pPr marL="0" indent="0">
              <a:buNone/>
            </a:pPr>
            <a:endParaRPr lang="en-US" dirty="0"/>
          </a:p>
          <a:p>
            <a:pPr marL="0" indent="0">
              <a:buNone/>
            </a:pPr>
            <a:r>
              <a:rPr lang="en-US" dirty="0"/>
              <a:t>class Person:</a:t>
            </a:r>
            <a:br>
              <a:rPr lang="en-US" dirty="0"/>
            </a:br>
            <a:r>
              <a:rPr lang="en-US" dirty="0"/>
              <a:t>  </a:t>
            </a:r>
            <a:r>
              <a:rPr lang="en-US" dirty="0" err="1"/>
              <a:t>def</a:t>
            </a:r>
            <a:r>
              <a:rPr lang="en-US" dirty="0"/>
              <a:t> __</a:t>
            </a:r>
            <a:r>
              <a:rPr lang="en-US" dirty="0" err="1"/>
              <a:t>init</a:t>
            </a:r>
            <a:r>
              <a:rPr lang="en-US" dirty="0"/>
              <a:t>__(self, name, age):</a:t>
            </a:r>
            <a:br>
              <a:rPr lang="en-US" dirty="0"/>
            </a:br>
            <a:r>
              <a:rPr lang="en-US" dirty="0"/>
              <a:t>    self.name = name</a:t>
            </a:r>
            <a:br>
              <a:rPr lang="en-US" dirty="0"/>
            </a:br>
            <a:r>
              <a:rPr lang="en-US" dirty="0"/>
              <a:t>    </a:t>
            </a:r>
            <a:r>
              <a:rPr lang="en-US" dirty="0" err="1"/>
              <a:t>self.age</a:t>
            </a:r>
            <a:r>
              <a:rPr lang="en-US" dirty="0"/>
              <a:t> = age</a:t>
            </a:r>
            <a:br>
              <a:rPr lang="en-US" dirty="0"/>
            </a:br>
            <a:br>
              <a:rPr lang="en-US" dirty="0"/>
            </a:br>
            <a:r>
              <a:rPr lang="en-US" dirty="0"/>
              <a:t>p1 = Person("John", 36)</a:t>
            </a:r>
            <a:br>
              <a:rPr lang="en-US" dirty="0"/>
            </a:br>
            <a:br>
              <a:rPr lang="en-US" dirty="0"/>
            </a:br>
            <a:r>
              <a:rPr lang="en-US" dirty="0"/>
              <a:t>print(p1.name)</a:t>
            </a:r>
            <a:br>
              <a:rPr lang="en-US" dirty="0"/>
            </a:br>
            <a:r>
              <a:rPr lang="en-US" dirty="0"/>
              <a:t>print(p1.age)</a:t>
            </a:r>
          </a:p>
          <a:p>
            <a:endParaRPr lang="en-US" dirty="0"/>
          </a:p>
        </p:txBody>
      </p:sp>
      <p:sp>
        <p:nvSpPr>
          <p:cNvPr id="7" name="Rectangle 4"/>
          <p:cNvSpPr>
            <a:spLocks noChangeArrowheads="1"/>
          </p:cNvSpPr>
          <p:nvPr/>
        </p:nvSpPr>
        <p:spPr bwMode="auto">
          <a:xfrm>
            <a:off x="6682153" y="1002323"/>
            <a:ext cx="5149167" cy="286232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 Student: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count = 0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__</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init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__(self):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Student.count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Student.count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s1=Student()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s2=Student()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s3=Student()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print("The number of students:",</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Student.count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8" name="Rectangle 7"/>
          <p:cNvSpPr/>
          <p:nvPr/>
        </p:nvSpPr>
        <p:spPr>
          <a:xfrm>
            <a:off x="4990904" y="4268596"/>
            <a:ext cx="6840416" cy="1015663"/>
          </a:xfrm>
          <a:prstGeom prst="rect">
            <a:avLst/>
          </a:prstGeom>
          <a:ln>
            <a:solidFill>
              <a:schemeClr val="accent2"/>
            </a:solidFill>
          </a:ln>
        </p:spPr>
        <p:txBody>
          <a:bodyPr wrap="square">
            <a:spAutoFit/>
          </a:bodyPr>
          <a:lstStyle/>
          <a:p>
            <a:r>
              <a:rPr lang="en-US" sz="2000" dirty="0">
                <a:latin typeface="Times New Roman" panose="02020603050405020304" pitchFamily="18" charset="0"/>
                <a:cs typeface="Times New Roman" panose="02020603050405020304" pitchFamily="18" charset="0"/>
              </a:rPr>
              <a:t>When we do not include the constructor in the class or forget to declare it, then that becomes the </a:t>
            </a:r>
            <a:r>
              <a:rPr lang="en-US" sz="2000" dirty="0">
                <a:solidFill>
                  <a:srgbClr val="FF0000"/>
                </a:solidFill>
                <a:latin typeface="Times New Roman" panose="02020603050405020304" pitchFamily="18" charset="0"/>
                <a:cs typeface="Times New Roman" panose="02020603050405020304" pitchFamily="18" charset="0"/>
              </a:rPr>
              <a:t>default constructor.</a:t>
            </a:r>
            <a:r>
              <a:rPr lang="en-US" sz="2000" dirty="0">
                <a:latin typeface="Times New Roman" panose="02020603050405020304" pitchFamily="18" charset="0"/>
                <a:cs typeface="Times New Roman" panose="02020603050405020304" pitchFamily="18" charset="0"/>
              </a:rPr>
              <a:t> It does not perform any task but initializes the objects.</a:t>
            </a:r>
          </a:p>
        </p:txBody>
      </p:sp>
      <p:sp>
        <p:nvSpPr>
          <p:cNvPr id="9" name="Rectangle 8"/>
          <p:cNvSpPr/>
          <p:nvPr/>
        </p:nvSpPr>
        <p:spPr>
          <a:xfrm>
            <a:off x="4437185" y="5657584"/>
            <a:ext cx="7239000" cy="1015663"/>
          </a:xfrm>
          <a:prstGeom prst="rect">
            <a:avLst/>
          </a:prstGeom>
          <a:ln>
            <a:solidFill>
              <a:schemeClr val="accent1"/>
            </a:solidFill>
          </a:ln>
        </p:spPr>
        <p:txBody>
          <a:bodyPr wrap="square">
            <a:spAutoFit/>
          </a:bodyPr>
          <a:lstStyle/>
          <a:p>
            <a:r>
              <a:rPr lang="en-US" sz="2000" dirty="0">
                <a:latin typeface="Times New Roman" panose="02020603050405020304" pitchFamily="18" charset="0"/>
                <a:cs typeface="Times New Roman" panose="02020603050405020304" pitchFamily="18" charset="0"/>
              </a:rPr>
              <a:t>The object of the class will always call the last constructor if the class has multiple constructors.</a:t>
            </a:r>
          </a:p>
          <a:p>
            <a:r>
              <a:rPr lang="en-US" sz="2000" b="1" dirty="0">
                <a:latin typeface="Times New Roman" panose="02020603050405020304" pitchFamily="18" charset="0"/>
                <a:cs typeface="Times New Roman" panose="02020603050405020304" pitchFamily="18" charset="0"/>
              </a:rPr>
              <a:t>Note: The constructor overloading is not allowed in Python.</a:t>
            </a:r>
          </a:p>
        </p:txBody>
      </p:sp>
    </p:spTree>
    <p:extLst>
      <p:ext uri="{BB962C8B-B14F-4D97-AF65-F5344CB8AC3E}">
        <p14:creationId xmlns:p14="http://schemas.microsoft.com/office/powerpoint/2010/main" val="2414046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57ABB5-CE1D-7009-8C56-019366C5501E}"/>
              </a:ext>
            </a:extLst>
          </p:cNvPr>
          <p:cNvSpPr>
            <a:spLocks noGrp="1"/>
          </p:cNvSpPr>
          <p:nvPr>
            <p:ph idx="1"/>
          </p:nvPr>
        </p:nvSpPr>
        <p:spPr>
          <a:xfrm>
            <a:off x="838200" y="212035"/>
            <a:ext cx="9896061" cy="6453808"/>
          </a:xfrm>
        </p:spPr>
        <p:txBody>
          <a:bodyPr>
            <a:normAutofit fontScale="70000" lnSpcReduction="20000"/>
          </a:bodyPr>
          <a:lstStyle/>
          <a:p>
            <a:pPr algn="just">
              <a:buFont typeface="+mj-lt"/>
              <a:buAutoNum type="arabicPeriod"/>
            </a:pPr>
            <a:endParaRPr lang="en-IN" b="1" i="0" dirty="0">
              <a:solidFill>
                <a:srgbClr val="006699"/>
              </a:solidFill>
              <a:effectLst/>
              <a:latin typeface="inter-regular"/>
            </a:endParaRPr>
          </a:p>
          <a:p>
            <a:pPr algn="just">
              <a:buFont typeface="+mj-lt"/>
              <a:buAutoNum type="arabicPeriod"/>
            </a:pPr>
            <a:r>
              <a:rPr lang="en-IN" b="1" i="0" dirty="0">
                <a:solidFill>
                  <a:srgbClr val="006699"/>
                </a:solidFill>
                <a:effectLst/>
                <a:latin typeface="inter-regular"/>
              </a:rPr>
              <a:t>class</a:t>
            </a:r>
            <a:r>
              <a:rPr lang="en-IN" b="0" i="0" dirty="0">
                <a:solidFill>
                  <a:srgbClr val="000000"/>
                </a:solidFill>
                <a:effectLst/>
                <a:latin typeface="inter-regular"/>
              </a:rPr>
              <a:t> Employee:  </a:t>
            </a:r>
          </a:p>
          <a:p>
            <a:pPr algn="just">
              <a:buFont typeface="+mj-lt"/>
              <a:buAutoNum type="arabicPeriod"/>
            </a:pPr>
            <a:r>
              <a:rPr lang="en-IN" b="0" i="0" dirty="0">
                <a:solidFill>
                  <a:srgbClr val="000000"/>
                </a:solidFill>
                <a:effectLst/>
                <a:latin typeface="inter-regular"/>
              </a:rPr>
              <a:t>    </a:t>
            </a:r>
            <a:r>
              <a:rPr lang="en-IN" b="1" i="0" dirty="0">
                <a:solidFill>
                  <a:srgbClr val="006699"/>
                </a:solidFill>
                <a:effectLst/>
                <a:latin typeface="inter-regular"/>
              </a:rPr>
              <a:t>def</a:t>
            </a:r>
            <a:r>
              <a:rPr lang="en-IN" b="0" i="0" dirty="0">
                <a:solidFill>
                  <a:srgbClr val="000000"/>
                </a:solidFill>
                <a:effectLst/>
                <a:latin typeface="inter-regular"/>
              </a:rPr>
              <a:t> __</a:t>
            </a:r>
            <a:r>
              <a:rPr lang="en-IN" b="0" i="0" dirty="0" err="1">
                <a:solidFill>
                  <a:srgbClr val="000000"/>
                </a:solidFill>
                <a:effectLst/>
                <a:latin typeface="inter-regular"/>
              </a:rPr>
              <a:t>init</a:t>
            </a:r>
            <a:r>
              <a:rPr lang="en-IN" b="0" i="0" dirty="0">
                <a:solidFill>
                  <a:srgbClr val="000000"/>
                </a:solidFill>
                <a:effectLst/>
                <a:latin typeface="inter-regular"/>
              </a:rPr>
              <a:t>__(self, name, id):  </a:t>
            </a:r>
          </a:p>
          <a:p>
            <a:pPr algn="just">
              <a:buFont typeface="+mj-lt"/>
              <a:buAutoNum type="arabicPeriod"/>
            </a:pPr>
            <a:r>
              <a:rPr lang="en-IN" b="0" i="0" dirty="0">
                <a:solidFill>
                  <a:srgbClr val="000000"/>
                </a:solidFill>
                <a:effectLst/>
                <a:latin typeface="inter-regular"/>
              </a:rPr>
              <a:t>        self.id = id  </a:t>
            </a:r>
          </a:p>
          <a:p>
            <a:pPr algn="just">
              <a:buFont typeface="+mj-lt"/>
              <a:buAutoNum type="arabicPeriod"/>
            </a:pPr>
            <a:r>
              <a:rPr lang="en-IN" b="0" i="0" dirty="0">
                <a:solidFill>
                  <a:srgbClr val="000000"/>
                </a:solidFill>
                <a:effectLst/>
                <a:latin typeface="inter-regular"/>
              </a:rPr>
              <a:t>        self.name = name  </a:t>
            </a:r>
          </a:p>
          <a:p>
            <a:pPr algn="just">
              <a:buFont typeface="+mj-lt"/>
              <a:buAutoNum type="arabicPeriod"/>
            </a:pP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r>
              <a:rPr lang="en-IN" b="1" i="0" dirty="0">
                <a:solidFill>
                  <a:srgbClr val="006699"/>
                </a:solidFill>
                <a:effectLst/>
                <a:latin typeface="inter-regular"/>
              </a:rPr>
              <a:t>def</a:t>
            </a:r>
            <a:r>
              <a:rPr lang="en-IN" b="0" i="0" dirty="0">
                <a:solidFill>
                  <a:srgbClr val="000000"/>
                </a:solidFill>
                <a:effectLst/>
                <a:latin typeface="inter-regular"/>
              </a:rPr>
              <a:t> display(self):  </a:t>
            </a:r>
          </a:p>
          <a:p>
            <a:pPr algn="just">
              <a:buFont typeface="+mj-lt"/>
              <a:buAutoNum type="arabicPeriod"/>
            </a:pPr>
            <a:r>
              <a:rPr lang="en-IN" b="0" i="0" dirty="0">
                <a:solidFill>
                  <a:srgbClr val="000000"/>
                </a:solidFill>
                <a:effectLst/>
                <a:latin typeface="inter-regular"/>
              </a:rPr>
              <a:t>        </a:t>
            </a:r>
            <a:r>
              <a:rPr lang="en-IN" b="1" i="0" dirty="0">
                <a:solidFill>
                  <a:srgbClr val="006699"/>
                </a:solidFill>
                <a:effectLst/>
                <a:latin typeface="inter-regular"/>
              </a:rPr>
              <a:t>print</a:t>
            </a:r>
            <a:r>
              <a:rPr lang="en-IN" b="0" i="0" dirty="0">
                <a:solidFill>
                  <a:srgbClr val="000000"/>
                </a:solidFill>
                <a:effectLst/>
                <a:latin typeface="inter-regular"/>
              </a:rPr>
              <a:t>(</a:t>
            </a:r>
            <a:r>
              <a:rPr lang="en-IN" b="0" i="0" dirty="0">
                <a:solidFill>
                  <a:srgbClr val="0000FF"/>
                </a:solidFill>
                <a:effectLst/>
                <a:latin typeface="inter-regular"/>
              </a:rPr>
              <a:t>"ID: %d \</a:t>
            </a:r>
            <a:r>
              <a:rPr lang="en-IN" b="0" i="0" dirty="0" err="1">
                <a:solidFill>
                  <a:srgbClr val="0000FF"/>
                </a:solidFill>
                <a:effectLst/>
                <a:latin typeface="inter-regular"/>
              </a:rPr>
              <a:t>nName</a:t>
            </a:r>
            <a:r>
              <a:rPr lang="en-IN" b="0" i="0" dirty="0">
                <a:solidFill>
                  <a:srgbClr val="0000FF"/>
                </a:solidFill>
                <a:effectLst/>
                <a:latin typeface="inter-regular"/>
              </a:rPr>
              <a:t>: %s"</a:t>
            </a:r>
            <a:r>
              <a:rPr lang="en-IN" b="0" i="0" dirty="0">
                <a:solidFill>
                  <a:srgbClr val="000000"/>
                </a:solidFill>
                <a:effectLst/>
                <a:latin typeface="inter-regular"/>
              </a:rPr>
              <a:t> % (self.id, self.name))  </a:t>
            </a:r>
          </a:p>
          <a:p>
            <a:pPr algn="just">
              <a:buFont typeface="+mj-lt"/>
              <a:buAutoNum type="arabicPeriod"/>
            </a:pP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emp1 = Employee(</a:t>
            </a:r>
            <a:r>
              <a:rPr lang="en-IN" b="0" i="0" dirty="0">
                <a:solidFill>
                  <a:srgbClr val="0000FF"/>
                </a:solidFill>
                <a:effectLst/>
                <a:latin typeface="inter-regular"/>
              </a:rPr>
              <a:t>"John"</a:t>
            </a:r>
            <a:r>
              <a:rPr lang="en-IN" b="0" i="0" dirty="0">
                <a:solidFill>
                  <a:srgbClr val="000000"/>
                </a:solidFill>
                <a:effectLst/>
                <a:latin typeface="inter-regular"/>
              </a:rPr>
              <a:t>, 101)  </a:t>
            </a:r>
          </a:p>
          <a:p>
            <a:pPr algn="just">
              <a:buFont typeface="+mj-lt"/>
              <a:buAutoNum type="arabicPeriod"/>
            </a:pPr>
            <a:r>
              <a:rPr lang="en-IN" b="0" i="0" dirty="0">
                <a:solidFill>
                  <a:srgbClr val="000000"/>
                </a:solidFill>
                <a:effectLst/>
                <a:latin typeface="inter-regular"/>
              </a:rPr>
              <a:t>emp2 = Employee(</a:t>
            </a:r>
            <a:r>
              <a:rPr lang="en-IN" b="0" i="0" dirty="0">
                <a:solidFill>
                  <a:srgbClr val="0000FF"/>
                </a:solidFill>
                <a:effectLst/>
                <a:latin typeface="inter-regular"/>
              </a:rPr>
              <a:t>"David"</a:t>
            </a:r>
            <a:r>
              <a:rPr lang="en-IN" b="0" i="0" dirty="0">
                <a:solidFill>
                  <a:srgbClr val="000000"/>
                </a:solidFill>
                <a:effectLst/>
                <a:latin typeface="inter-regular"/>
              </a:rPr>
              <a:t>, 102)  </a:t>
            </a:r>
          </a:p>
          <a:p>
            <a:pPr algn="just">
              <a:buFont typeface="+mj-lt"/>
              <a:buAutoNum type="arabicPeriod"/>
            </a:pPr>
            <a:r>
              <a:rPr lang="en-IN" b="0" i="0" dirty="0">
                <a:solidFill>
                  <a:srgbClr val="000000"/>
                </a:solidFill>
                <a:effectLst/>
                <a:latin typeface="inter-regular"/>
              </a:rPr>
              <a:t>  </a:t>
            </a:r>
          </a:p>
          <a:p>
            <a:pPr algn="just">
              <a:buFont typeface="+mj-lt"/>
              <a:buAutoNum type="arabicPeriod"/>
            </a:pPr>
            <a:r>
              <a:rPr lang="en-IN" b="0" i="0" dirty="0">
                <a:solidFill>
                  <a:srgbClr val="008200"/>
                </a:solidFill>
                <a:effectLst/>
                <a:latin typeface="inter-regular"/>
              </a:rPr>
              <a:t># accessing display() method to print employee 1 information</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emp1.display()  </a:t>
            </a:r>
          </a:p>
          <a:p>
            <a:pPr algn="just">
              <a:buFont typeface="+mj-lt"/>
              <a:buAutoNum type="arabicPeriod"/>
            </a:pPr>
            <a:r>
              <a:rPr lang="en-IN" b="0" i="0" dirty="0">
                <a:solidFill>
                  <a:srgbClr val="000000"/>
                </a:solidFill>
                <a:effectLst/>
                <a:latin typeface="inter-regular"/>
              </a:rPr>
              <a:t>  </a:t>
            </a:r>
          </a:p>
          <a:p>
            <a:pPr algn="just">
              <a:buFont typeface="+mj-lt"/>
              <a:buAutoNum type="arabicPeriod"/>
            </a:pPr>
            <a:r>
              <a:rPr lang="en-IN" b="0" i="0" dirty="0">
                <a:solidFill>
                  <a:srgbClr val="008200"/>
                </a:solidFill>
                <a:effectLst/>
                <a:latin typeface="inter-regular"/>
              </a:rPr>
              <a:t># accessing display() method to print employee 2 information</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emp2.display()  </a:t>
            </a:r>
          </a:p>
          <a:p>
            <a:endParaRPr lang="en-IN" dirty="0"/>
          </a:p>
        </p:txBody>
      </p:sp>
    </p:spTree>
    <p:extLst>
      <p:ext uri="{BB962C8B-B14F-4D97-AF65-F5344CB8AC3E}">
        <p14:creationId xmlns:p14="http://schemas.microsoft.com/office/powerpoint/2010/main" val="2943711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53794-FC65-8EA8-A215-E2B053852760}"/>
              </a:ext>
            </a:extLst>
          </p:cNvPr>
          <p:cNvSpPr>
            <a:spLocks noGrp="1"/>
          </p:cNvSpPr>
          <p:nvPr>
            <p:ph type="title"/>
          </p:nvPr>
        </p:nvSpPr>
        <p:spPr/>
        <p:txBody>
          <a:bodyPr/>
          <a:lstStyle/>
          <a:p>
            <a:r>
              <a:rPr lang="en-IN" b="0" i="0" dirty="0">
                <a:solidFill>
                  <a:srgbClr val="610B38"/>
                </a:solidFill>
                <a:effectLst/>
                <a:latin typeface="erdana"/>
              </a:rPr>
              <a:t>Python Non-Parameterized Constructor</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B021D0D3-CE65-0706-68BE-3D4C131E1639}"/>
              </a:ext>
            </a:extLst>
          </p:cNvPr>
          <p:cNvSpPr>
            <a:spLocks noGrp="1"/>
          </p:cNvSpPr>
          <p:nvPr>
            <p:ph idx="1"/>
          </p:nvPr>
        </p:nvSpPr>
        <p:spPr>
          <a:xfrm>
            <a:off x="838200" y="1192696"/>
            <a:ext cx="10515600" cy="4984267"/>
          </a:xfrm>
        </p:spPr>
        <p:txBody>
          <a:bodyPr>
            <a:normAutofit lnSpcReduction="10000"/>
          </a:bodyPr>
          <a:lstStyle/>
          <a:p>
            <a:r>
              <a:rPr lang="en-US" b="0" i="0" dirty="0">
                <a:solidFill>
                  <a:srgbClr val="333333"/>
                </a:solidFill>
                <a:effectLst/>
                <a:latin typeface="inter-regular"/>
              </a:rPr>
              <a:t>The non-parameterized constructor uses when we do not want to manipulate the value or the constructor that has only self as an argument. </a:t>
            </a:r>
          </a:p>
          <a:p>
            <a:pPr algn="just">
              <a:buFont typeface="+mj-lt"/>
              <a:buAutoNum type="arabicPeriod"/>
            </a:pPr>
            <a:r>
              <a:rPr lang="en-US" b="1" i="0" dirty="0">
                <a:solidFill>
                  <a:srgbClr val="006699"/>
                </a:solidFill>
                <a:effectLst/>
                <a:latin typeface="inter-regular"/>
              </a:rPr>
              <a:t>class</a:t>
            </a:r>
            <a:r>
              <a:rPr lang="en-US" b="0" i="0" dirty="0">
                <a:solidFill>
                  <a:srgbClr val="000000"/>
                </a:solidFill>
                <a:effectLst/>
                <a:latin typeface="inter-regular"/>
              </a:rPr>
              <a:t> Student:  </a:t>
            </a:r>
          </a:p>
          <a:p>
            <a:pPr algn="just">
              <a:buFont typeface="+mj-lt"/>
              <a:buAutoNum type="arabicPeriod"/>
            </a:pPr>
            <a:r>
              <a:rPr lang="en-US" b="0" i="0" dirty="0">
                <a:solidFill>
                  <a:srgbClr val="000000"/>
                </a:solidFill>
                <a:effectLst/>
                <a:latin typeface="inter-regular"/>
              </a:rPr>
              <a:t>    </a:t>
            </a:r>
            <a:r>
              <a:rPr lang="en-US" b="0" i="0" dirty="0">
                <a:solidFill>
                  <a:srgbClr val="008200"/>
                </a:solidFill>
                <a:effectLst/>
                <a:latin typeface="inter-regular"/>
              </a:rPr>
              <a:t># Constructor - non parameterized</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    </a:t>
            </a:r>
            <a:r>
              <a:rPr lang="en-US" b="1" i="0" dirty="0">
                <a:solidFill>
                  <a:srgbClr val="006699"/>
                </a:solidFill>
                <a:effectLst/>
                <a:latin typeface="inter-regular"/>
              </a:rPr>
              <a:t>def</a:t>
            </a:r>
            <a:r>
              <a:rPr lang="en-US" b="0" i="0" dirty="0">
                <a:solidFill>
                  <a:srgbClr val="000000"/>
                </a:solidFill>
                <a:effectLst/>
                <a:latin typeface="inter-regular"/>
              </a:rPr>
              <a:t> __</a:t>
            </a:r>
            <a:r>
              <a:rPr lang="en-US" b="0" i="0" dirty="0" err="1">
                <a:solidFill>
                  <a:srgbClr val="000000"/>
                </a:solidFill>
                <a:effectLst/>
                <a:latin typeface="inter-regular"/>
              </a:rPr>
              <a:t>init</a:t>
            </a:r>
            <a:r>
              <a:rPr lang="en-US" b="0" i="0" dirty="0">
                <a:solidFill>
                  <a:srgbClr val="000000"/>
                </a:solidFill>
                <a:effectLst/>
                <a:latin typeface="inter-regular"/>
              </a:rPr>
              <a:t>__(self):  </a:t>
            </a:r>
          </a:p>
          <a:p>
            <a:pPr algn="just">
              <a:buFont typeface="+mj-lt"/>
              <a:buAutoNum type="arabicPeriod"/>
            </a:pPr>
            <a:r>
              <a:rPr lang="en-US" b="0" i="0" dirty="0">
                <a:solidFill>
                  <a:srgbClr val="000000"/>
                </a:solidFill>
                <a:effectLst/>
                <a:latin typeface="inter-regular"/>
              </a:rPr>
              <a:t>        </a:t>
            </a:r>
            <a:r>
              <a:rPr lang="en-US" b="1" i="0" dirty="0">
                <a:solidFill>
                  <a:srgbClr val="006699"/>
                </a:solidFill>
                <a:effectLst/>
                <a:latin typeface="inter-regular"/>
              </a:rPr>
              <a:t>print</a:t>
            </a:r>
            <a:r>
              <a:rPr lang="en-US" b="0" i="0" dirty="0">
                <a:solidFill>
                  <a:srgbClr val="000000"/>
                </a:solidFill>
                <a:effectLst/>
                <a:latin typeface="inter-regular"/>
              </a:rPr>
              <a:t>(</a:t>
            </a:r>
            <a:r>
              <a:rPr lang="en-US" b="0" i="0" dirty="0">
                <a:solidFill>
                  <a:srgbClr val="0000FF"/>
                </a:solidFill>
                <a:effectLst/>
                <a:latin typeface="inter-regular"/>
              </a:rPr>
              <a:t>"This is non parametrized constructor"</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    </a:t>
            </a:r>
            <a:r>
              <a:rPr lang="en-US" b="1" i="0" dirty="0">
                <a:solidFill>
                  <a:srgbClr val="006699"/>
                </a:solidFill>
                <a:effectLst/>
                <a:latin typeface="inter-regular"/>
              </a:rPr>
              <a:t>def</a:t>
            </a:r>
            <a:r>
              <a:rPr lang="en-US" b="0" i="0" dirty="0">
                <a:solidFill>
                  <a:srgbClr val="000000"/>
                </a:solidFill>
                <a:effectLst/>
                <a:latin typeface="inter-regular"/>
              </a:rPr>
              <a:t> show(</a:t>
            </a:r>
            <a:r>
              <a:rPr lang="en-US" b="0" i="0" dirty="0" err="1">
                <a:solidFill>
                  <a:srgbClr val="000000"/>
                </a:solidFill>
                <a:effectLst/>
                <a:latin typeface="inter-regular"/>
              </a:rPr>
              <a:t>self,name</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        </a:t>
            </a:r>
            <a:r>
              <a:rPr lang="en-US" b="1" i="0" dirty="0">
                <a:solidFill>
                  <a:srgbClr val="006699"/>
                </a:solidFill>
                <a:effectLst/>
                <a:latin typeface="inter-regular"/>
              </a:rPr>
              <a:t>print</a:t>
            </a:r>
            <a:r>
              <a:rPr lang="en-US" b="0" i="0" dirty="0">
                <a:solidFill>
                  <a:srgbClr val="000000"/>
                </a:solidFill>
                <a:effectLst/>
                <a:latin typeface="inter-regular"/>
              </a:rPr>
              <a:t>(</a:t>
            </a:r>
            <a:r>
              <a:rPr lang="en-US" b="0" i="0" dirty="0">
                <a:solidFill>
                  <a:srgbClr val="0000FF"/>
                </a:solidFill>
                <a:effectLst/>
                <a:latin typeface="inter-regular"/>
              </a:rPr>
              <a:t>"</a:t>
            </a:r>
            <a:r>
              <a:rPr lang="en-US" b="0" i="0" dirty="0" err="1">
                <a:solidFill>
                  <a:srgbClr val="0000FF"/>
                </a:solidFill>
                <a:effectLst/>
                <a:latin typeface="inter-regular"/>
              </a:rPr>
              <a:t>Hello"</a:t>
            </a:r>
            <a:r>
              <a:rPr lang="en-US" b="0" i="0" dirty="0" err="1">
                <a:solidFill>
                  <a:srgbClr val="000000"/>
                </a:solidFill>
                <a:effectLst/>
                <a:latin typeface="inter-regular"/>
              </a:rPr>
              <a:t>,name</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student = Student()  </a:t>
            </a:r>
          </a:p>
          <a:p>
            <a:pPr algn="just">
              <a:buFont typeface="+mj-lt"/>
              <a:buAutoNum type="arabicPeriod"/>
            </a:pPr>
            <a:r>
              <a:rPr lang="en-US" b="0" i="0" dirty="0" err="1">
                <a:solidFill>
                  <a:srgbClr val="000000"/>
                </a:solidFill>
                <a:effectLst/>
                <a:latin typeface="inter-regular"/>
              </a:rPr>
              <a:t>student.show</a:t>
            </a:r>
            <a:r>
              <a:rPr lang="en-US" b="0" i="0" dirty="0">
                <a:solidFill>
                  <a:srgbClr val="000000"/>
                </a:solidFill>
                <a:effectLst/>
                <a:latin typeface="inter-regular"/>
              </a:rPr>
              <a:t>(</a:t>
            </a:r>
            <a:r>
              <a:rPr lang="en-US" b="0" i="0" dirty="0">
                <a:solidFill>
                  <a:srgbClr val="0000FF"/>
                </a:solidFill>
                <a:effectLst/>
                <a:latin typeface="inter-regular"/>
              </a:rPr>
              <a:t>"John"</a:t>
            </a:r>
            <a:r>
              <a:rPr lang="en-US"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442413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A3CA1-6CB9-D915-C065-AEE44A8A93AE}"/>
              </a:ext>
            </a:extLst>
          </p:cNvPr>
          <p:cNvSpPr>
            <a:spLocks noGrp="1"/>
          </p:cNvSpPr>
          <p:nvPr>
            <p:ph type="title"/>
          </p:nvPr>
        </p:nvSpPr>
        <p:spPr/>
        <p:txBody>
          <a:bodyPr/>
          <a:lstStyle/>
          <a:p>
            <a:r>
              <a:rPr lang="en-IN" b="0" i="0" dirty="0">
                <a:solidFill>
                  <a:srgbClr val="610B38"/>
                </a:solidFill>
                <a:effectLst/>
                <a:latin typeface="erdana"/>
              </a:rPr>
              <a:t>Python Parameterized Constructor</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30CDC223-E846-F908-3114-D074D0E477C3}"/>
              </a:ext>
            </a:extLst>
          </p:cNvPr>
          <p:cNvSpPr>
            <a:spLocks noGrp="1"/>
          </p:cNvSpPr>
          <p:nvPr>
            <p:ph idx="1"/>
          </p:nvPr>
        </p:nvSpPr>
        <p:spPr>
          <a:xfrm>
            <a:off x="838200" y="1258958"/>
            <a:ext cx="10515600" cy="5473146"/>
          </a:xfrm>
        </p:spPr>
        <p:txBody>
          <a:bodyPr>
            <a:normAutofit/>
          </a:bodyPr>
          <a:lstStyle/>
          <a:p>
            <a:r>
              <a:rPr lang="en-US" b="0" i="0" dirty="0">
                <a:solidFill>
                  <a:srgbClr val="333333"/>
                </a:solidFill>
                <a:effectLst/>
                <a:latin typeface="inter-regular"/>
              </a:rPr>
              <a:t>The parameterized constructor has multiple parameters along with the </a:t>
            </a:r>
            <a:r>
              <a:rPr lang="en-US" b="1" i="0" dirty="0">
                <a:solidFill>
                  <a:srgbClr val="333333"/>
                </a:solidFill>
                <a:effectLst/>
                <a:latin typeface="inter-bold"/>
              </a:rPr>
              <a:t>self</a:t>
            </a:r>
            <a:r>
              <a:rPr lang="en-US" b="0" i="0" dirty="0">
                <a:solidFill>
                  <a:srgbClr val="333333"/>
                </a:solidFill>
                <a:effectLst/>
                <a:latin typeface="inter-regular"/>
              </a:rPr>
              <a:t>.</a:t>
            </a:r>
          </a:p>
          <a:p>
            <a:pPr algn="just">
              <a:buFont typeface="+mj-lt"/>
              <a:buAutoNum type="arabicPeriod"/>
            </a:pPr>
            <a:r>
              <a:rPr lang="en-US" b="1" i="0" dirty="0">
                <a:solidFill>
                  <a:srgbClr val="006699"/>
                </a:solidFill>
                <a:effectLst/>
                <a:latin typeface="inter-regular"/>
              </a:rPr>
              <a:t>class</a:t>
            </a:r>
            <a:r>
              <a:rPr lang="en-US" b="0" i="0" dirty="0">
                <a:solidFill>
                  <a:srgbClr val="000000"/>
                </a:solidFill>
                <a:effectLst/>
                <a:latin typeface="inter-regular"/>
              </a:rPr>
              <a:t> Student:  </a:t>
            </a:r>
          </a:p>
          <a:p>
            <a:pPr algn="just">
              <a:buFont typeface="+mj-lt"/>
              <a:buAutoNum type="arabicPeriod"/>
            </a:pPr>
            <a:r>
              <a:rPr lang="en-US" b="0" i="0" dirty="0">
                <a:solidFill>
                  <a:srgbClr val="000000"/>
                </a:solidFill>
                <a:effectLst/>
                <a:latin typeface="inter-regular"/>
              </a:rPr>
              <a:t>    </a:t>
            </a:r>
            <a:r>
              <a:rPr lang="en-US" b="0" i="0" dirty="0">
                <a:solidFill>
                  <a:srgbClr val="008200"/>
                </a:solidFill>
                <a:effectLst/>
                <a:latin typeface="inter-regular"/>
              </a:rPr>
              <a:t># Constructor - parameterized</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    </a:t>
            </a:r>
            <a:r>
              <a:rPr lang="en-US" b="1" i="0" dirty="0">
                <a:solidFill>
                  <a:srgbClr val="006699"/>
                </a:solidFill>
                <a:effectLst/>
                <a:latin typeface="inter-regular"/>
              </a:rPr>
              <a:t>def</a:t>
            </a:r>
            <a:r>
              <a:rPr lang="en-US" b="0" i="0" dirty="0">
                <a:solidFill>
                  <a:srgbClr val="000000"/>
                </a:solidFill>
                <a:effectLst/>
                <a:latin typeface="inter-regular"/>
              </a:rPr>
              <a:t> __</a:t>
            </a:r>
            <a:r>
              <a:rPr lang="en-US" b="0" i="0" dirty="0" err="1">
                <a:solidFill>
                  <a:srgbClr val="000000"/>
                </a:solidFill>
                <a:effectLst/>
                <a:latin typeface="inter-regular"/>
              </a:rPr>
              <a:t>init</a:t>
            </a:r>
            <a:r>
              <a:rPr lang="en-US" b="0" i="0" dirty="0">
                <a:solidFill>
                  <a:srgbClr val="000000"/>
                </a:solidFill>
                <a:effectLst/>
                <a:latin typeface="inter-regular"/>
              </a:rPr>
              <a:t>__(self, name):  </a:t>
            </a:r>
          </a:p>
          <a:p>
            <a:pPr algn="just">
              <a:buFont typeface="+mj-lt"/>
              <a:buAutoNum type="arabicPeriod"/>
            </a:pPr>
            <a:r>
              <a:rPr lang="en-US" b="0" i="0" dirty="0">
                <a:solidFill>
                  <a:srgbClr val="000000"/>
                </a:solidFill>
                <a:effectLst/>
                <a:latin typeface="inter-regular"/>
              </a:rPr>
              <a:t>        </a:t>
            </a:r>
            <a:r>
              <a:rPr lang="en-US" b="1" i="0" dirty="0">
                <a:solidFill>
                  <a:srgbClr val="006699"/>
                </a:solidFill>
                <a:effectLst/>
                <a:latin typeface="inter-regular"/>
              </a:rPr>
              <a:t>print</a:t>
            </a:r>
            <a:r>
              <a:rPr lang="en-US" b="0" i="0" dirty="0">
                <a:solidFill>
                  <a:srgbClr val="000000"/>
                </a:solidFill>
                <a:effectLst/>
                <a:latin typeface="inter-regular"/>
              </a:rPr>
              <a:t>(</a:t>
            </a:r>
            <a:r>
              <a:rPr lang="en-US" b="0" i="0" dirty="0">
                <a:solidFill>
                  <a:srgbClr val="0000FF"/>
                </a:solidFill>
                <a:effectLst/>
                <a:latin typeface="inter-regular"/>
              </a:rPr>
              <a:t>"This is parametrized constructor"</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        self.name = name  </a:t>
            </a:r>
          </a:p>
          <a:p>
            <a:pPr algn="just">
              <a:buFont typeface="+mj-lt"/>
              <a:buAutoNum type="arabicPeriod"/>
            </a:pPr>
            <a:r>
              <a:rPr lang="en-US" b="0" i="0" dirty="0">
                <a:solidFill>
                  <a:srgbClr val="000000"/>
                </a:solidFill>
                <a:effectLst/>
                <a:latin typeface="inter-regular"/>
              </a:rPr>
              <a:t>    </a:t>
            </a:r>
            <a:r>
              <a:rPr lang="en-US" b="1" i="0" dirty="0">
                <a:solidFill>
                  <a:srgbClr val="006699"/>
                </a:solidFill>
                <a:effectLst/>
                <a:latin typeface="inter-regular"/>
              </a:rPr>
              <a:t>def</a:t>
            </a:r>
            <a:r>
              <a:rPr lang="en-US" b="0" i="0" dirty="0">
                <a:solidFill>
                  <a:srgbClr val="000000"/>
                </a:solidFill>
                <a:effectLst/>
                <a:latin typeface="inter-regular"/>
              </a:rPr>
              <a:t> show(self):  </a:t>
            </a:r>
          </a:p>
          <a:p>
            <a:pPr algn="just">
              <a:buFont typeface="+mj-lt"/>
              <a:buAutoNum type="arabicPeriod"/>
            </a:pPr>
            <a:r>
              <a:rPr lang="en-US" b="0" i="0" dirty="0">
                <a:solidFill>
                  <a:srgbClr val="000000"/>
                </a:solidFill>
                <a:effectLst/>
                <a:latin typeface="inter-regular"/>
              </a:rPr>
              <a:t>        </a:t>
            </a:r>
            <a:r>
              <a:rPr lang="en-US" b="1" i="0" dirty="0">
                <a:solidFill>
                  <a:srgbClr val="006699"/>
                </a:solidFill>
                <a:effectLst/>
                <a:latin typeface="inter-regular"/>
              </a:rPr>
              <a:t>print</a:t>
            </a:r>
            <a:r>
              <a:rPr lang="en-US" b="0" i="0" dirty="0">
                <a:solidFill>
                  <a:srgbClr val="000000"/>
                </a:solidFill>
                <a:effectLst/>
                <a:latin typeface="inter-regular"/>
              </a:rPr>
              <a:t>(</a:t>
            </a:r>
            <a:r>
              <a:rPr lang="en-US" b="0" i="0" dirty="0">
                <a:solidFill>
                  <a:srgbClr val="0000FF"/>
                </a:solidFill>
                <a:effectLst/>
                <a:latin typeface="inter-regular"/>
              </a:rPr>
              <a:t>"</a:t>
            </a:r>
            <a:r>
              <a:rPr lang="en-US" b="0" i="0" dirty="0" err="1">
                <a:solidFill>
                  <a:srgbClr val="0000FF"/>
                </a:solidFill>
                <a:effectLst/>
                <a:latin typeface="inter-regular"/>
              </a:rPr>
              <a:t>Hello"</a:t>
            </a:r>
            <a:r>
              <a:rPr lang="en-US" b="0" i="0" dirty="0" err="1">
                <a:solidFill>
                  <a:srgbClr val="000000"/>
                </a:solidFill>
                <a:effectLst/>
                <a:latin typeface="inter-regular"/>
              </a:rPr>
              <a:t>,self.name</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student = Student(</a:t>
            </a:r>
            <a:r>
              <a:rPr lang="en-US" b="0" i="0" dirty="0">
                <a:solidFill>
                  <a:srgbClr val="0000FF"/>
                </a:solidFill>
                <a:effectLst/>
                <a:latin typeface="inter-regular"/>
              </a:rPr>
              <a:t>"John"</a:t>
            </a:r>
            <a:r>
              <a:rPr lang="en-US" b="0" i="0" dirty="0">
                <a:solidFill>
                  <a:srgbClr val="000000"/>
                </a:solidFill>
                <a:effectLst/>
                <a:latin typeface="inter-regular"/>
              </a:rPr>
              <a:t>)  </a:t>
            </a:r>
          </a:p>
          <a:p>
            <a:pPr algn="just">
              <a:buFont typeface="+mj-lt"/>
              <a:buAutoNum type="arabicPeriod"/>
            </a:pPr>
            <a:r>
              <a:rPr lang="en-US" b="0" i="0" dirty="0" err="1">
                <a:solidFill>
                  <a:srgbClr val="000000"/>
                </a:solidFill>
                <a:effectLst/>
                <a:latin typeface="inter-regular"/>
              </a:rPr>
              <a:t>student.show</a:t>
            </a:r>
            <a:r>
              <a:rPr lang="en-US"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150098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7CCD4-3545-668D-EF90-7D7D321DA3EF}"/>
              </a:ext>
            </a:extLst>
          </p:cNvPr>
          <p:cNvSpPr>
            <a:spLocks noGrp="1"/>
          </p:cNvSpPr>
          <p:nvPr>
            <p:ph type="title"/>
          </p:nvPr>
        </p:nvSpPr>
        <p:spPr/>
        <p:txBody>
          <a:bodyPr/>
          <a:lstStyle/>
          <a:p>
            <a:r>
              <a:rPr lang="en-IN" b="0" i="0" dirty="0">
                <a:solidFill>
                  <a:srgbClr val="610B38"/>
                </a:solidFill>
                <a:effectLst/>
                <a:latin typeface="erdana"/>
              </a:rPr>
              <a:t>Python Default Constructor</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0A2FFA37-59C0-AAF9-C787-89F98195A728}"/>
              </a:ext>
            </a:extLst>
          </p:cNvPr>
          <p:cNvSpPr>
            <a:spLocks noGrp="1"/>
          </p:cNvSpPr>
          <p:nvPr>
            <p:ph idx="1"/>
          </p:nvPr>
        </p:nvSpPr>
        <p:spPr>
          <a:xfrm>
            <a:off x="838200" y="1232452"/>
            <a:ext cx="10515600" cy="5486400"/>
          </a:xfrm>
        </p:spPr>
        <p:txBody>
          <a:bodyPr>
            <a:normAutofit fontScale="92500" lnSpcReduction="10000"/>
          </a:bodyPr>
          <a:lstStyle/>
          <a:p>
            <a:r>
              <a:rPr lang="en-US" b="0" i="0" dirty="0">
                <a:solidFill>
                  <a:srgbClr val="333333"/>
                </a:solidFill>
                <a:effectLst/>
                <a:latin typeface="inter-regular"/>
              </a:rPr>
              <a:t>When we do not include the constructor in the class or forget to declare it, then that becomes the default constructor. It does not perform any task but initializes the objects. </a:t>
            </a:r>
          </a:p>
          <a:p>
            <a:pPr algn="just">
              <a:buFont typeface="+mj-lt"/>
              <a:buAutoNum type="arabicPeriod"/>
            </a:pPr>
            <a:r>
              <a:rPr lang="en-US" b="1" i="0" dirty="0">
                <a:solidFill>
                  <a:srgbClr val="006699"/>
                </a:solidFill>
                <a:effectLst/>
                <a:latin typeface="inter-regular"/>
              </a:rPr>
              <a:t>class</a:t>
            </a:r>
            <a:r>
              <a:rPr lang="en-US" b="0" i="0" dirty="0">
                <a:solidFill>
                  <a:srgbClr val="000000"/>
                </a:solidFill>
                <a:effectLst/>
                <a:latin typeface="inter-regular"/>
              </a:rPr>
              <a:t> Student:  </a:t>
            </a:r>
          </a:p>
          <a:p>
            <a:pPr algn="just">
              <a:buFont typeface="+mj-lt"/>
              <a:buAutoNum type="arabicPeriod"/>
            </a:pPr>
            <a:r>
              <a:rPr lang="en-US" b="0" i="0" dirty="0">
                <a:solidFill>
                  <a:srgbClr val="000000"/>
                </a:solidFill>
                <a:effectLst/>
                <a:latin typeface="inter-regular"/>
              </a:rPr>
              <a:t>    </a:t>
            </a:r>
            <a:r>
              <a:rPr lang="en-US" b="0" i="0" dirty="0" err="1">
                <a:solidFill>
                  <a:srgbClr val="000000"/>
                </a:solidFill>
                <a:effectLst/>
                <a:latin typeface="inter-regular"/>
              </a:rPr>
              <a:t>roll_num</a:t>
            </a:r>
            <a:r>
              <a:rPr lang="en-US" b="0" i="0" dirty="0">
                <a:solidFill>
                  <a:srgbClr val="000000"/>
                </a:solidFill>
                <a:effectLst/>
                <a:latin typeface="inter-regular"/>
              </a:rPr>
              <a:t> = 101  </a:t>
            </a:r>
          </a:p>
          <a:p>
            <a:pPr algn="just">
              <a:buFont typeface="+mj-lt"/>
              <a:buAutoNum type="arabicPeriod"/>
            </a:pPr>
            <a:r>
              <a:rPr lang="en-US" b="0" i="0" dirty="0">
                <a:solidFill>
                  <a:srgbClr val="000000"/>
                </a:solidFill>
                <a:effectLst/>
                <a:latin typeface="inter-regular"/>
              </a:rPr>
              <a:t>    name = </a:t>
            </a:r>
            <a:r>
              <a:rPr lang="en-US" b="0" i="0" dirty="0">
                <a:solidFill>
                  <a:srgbClr val="0000FF"/>
                </a:solidFill>
                <a:effectLst/>
                <a:latin typeface="inter-regular"/>
              </a:rPr>
              <a:t>"Joseph"</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    </a:t>
            </a:r>
            <a:r>
              <a:rPr lang="en-US" b="1" i="0" dirty="0">
                <a:solidFill>
                  <a:srgbClr val="006699"/>
                </a:solidFill>
                <a:effectLst/>
                <a:latin typeface="inter-regular"/>
              </a:rPr>
              <a:t>def</a:t>
            </a:r>
            <a:r>
              <a:rPr lang="en-US" b="0" i="0" dirty="0">
                <a:solidFill>
                  <a:srgbClr val="000000"/>
                </a:solidFill>
                <a:effectLst/>
                <a:latin typeface="inter-regular"/>
              </a:rPr>
              <a:t> display(self):  </a:t>
            </a:r>
          </a:p>
          <a:p>
            <a:pPr algn="just">
              <a:buFont typeface="+mj-lt"/>
              <a:buAutoNum type="arabicPeriod"/>
            </a:pPr>
            <a:r>
              <a:rPr lang="en-US" b="0" i="0" dirty="0">
                <a:solidFill>
                  <a:srgbClr val="000000"/>
                </a:solidFill>
                <a:effectLst/>
                <a:latin typeface="inter-regular"/>
              </a:rPr>
              <a:t>        </a:t>
            </a:r>
            <a:r>
              <a:rPr lang="en-US" b="1" i="0" dirty="0">
                <a:solidFill>
                  <a:srgbClr val="006699"/>
                </a:solidFill>
                <a:effectLst/>
                <a:latin typeface="inter-regular"/>
              </a:rPr>
              <a:t>print</a:t>
            </a:r>
            <a:r>
              <a:rPr lang="en-US" b="0" i="0" dirty="0">
                <a:solidFill>
                  <a:srgbClr val="000000"/>
                </a:solidFill>
                <a:effectLst/>
                <a:latin typeface="inter-regular"/>
              </a:rPr>
              <a:t>(</a:t>
            </a:r>
            <a:r>
              <a:rPr lang="en-US" b="0" i="0" dirty="0" err="1">
                <a:solidFill>
                  <a:srgbClr val="000000"/>
                </a:solidFill>
                <a:effectLst/>
                <a:latin typeface="inter-regular"/>
              </a:rPr>
              <a:t>self.roll_num,self.name</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  </a:t>
            </a:r>
          </a:p>
          <a:p>
            <a:pPr algn="just">
              <a:buFont typeface="+mj-lt"/>
              <a:buAutoNum type="arabicPeriod"/>
            </a:pPr>
            <a:r>
              <a:rPr lang="en-US" b="0" i="0" dirty="0" err="1">
                <a:solidFill>
                  <a:srgbClr val="000000"/>
                </a:solidFill>
                <a:effectLst/>
                <a:latin typeface="inter-regular"/>
              </a:rPr>
              <a:t>st</a:t>
            </a:r>
            <a:r>
              <a:rPr lang="en-US" b="0" i="0" dirty="0">
                <a:solidFill>
                  <a:srgbClr val="000000"/>
                </a:solidFill>
                <a:effectLst/>
                <a:latin typeface="inter-regular"/>
              </a:rPr>
              <a:t> = Student()  </a:t>
            </a:r>
          </a:p>
          <a:p>
            <a:pPr algn="just">
              <a:buFont typeface="+mj-lt"/>
              <a:buAutoNum type="arabicPeriod"/>
            </a:pPr>
            <a:r>
              <a:rPr lang="en-US" b="0" i="0" dirty="0" err="1">
                <a:solidFill>
                  <a:srgbClr val="000000"/>
                </a:solidFill>
                <a:effectLst/>
                <a:latin typeface="inter-regular"/>
              </a:rPr>
              <a:t>st.display</a:t>
            </a:r>
            <a:r>
              <a:rPr lang="en-US"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3746720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3338" y="0"/>
            <a:ext cx="10515600" cy="707537"/>
          </a:xfrm>
        </p:spPr>
        <p:txBody>
          <a:bodyPr/>
          <a:lstStyle/>
          <a:p>
            <a:r>
              <a:rPr lang="en-US" b="1" dirty="0"/>
              <a:t>Python built-in class functions</a:t>
            </a:r>
            <a:endParaRPr lang="en-US" dirty="0"/>
          </a:p>
        </p:txBody>
      </p:sp>
      <p:graphicFrame>
        <p:nvGraphicFramePr>
          <p:cNvPr id="4" name="Content Placeholder 3"/>
          <p:cNvGraphicFramePr>
            <a:graphicFrameLocks noGrp="1"/>
          </p:cNvGraphicFramePr>
          <p:nvPr>
            <p:ph idx="1"/>
          </p:nvPr>
        </p:nvGraphicFramePr>
        <p:xfrm>
          <a:off x="7262446" y="1072662"/>
          <a:ext cx="4466492" cy="1828800"/>
        </p:xfrm>
        <a:graphic>
          <a:graphicData uri="http://schemas.openxmlformats.org/drawingml/2006/table">
            <a:tbl>
              <a:tblPr/>
              <a:tblGrid>
                <a:gridCol w="531543">
                  <a:extLst>
                    <a:ext uri="{9D8B030D-6E8A-4147-A177-3AD203B41FA5}">
                      <a16:colId xmlns:a16="http://schemas.microsoft.com/office/drawing/2014/main" val="1773779713"/>
                    </a:ext>
                  </a:extLst>
                </a:gridCol>
                <a:gridCol w="3613729">
                  <a:extLst>
                    <a:ext uri="{9D8B030D-6E8A-4147-A177-3AD203B41FA5}">
                      <a16:colId xmlns:a16="http://schemas.microsoft.com/office/drawing/2014/main" val="627874032"/>
                    </a:ext>
                  </a:extLst>
                </a:gridCol>
                <a:gridCol w="321220">
                  <a:extLst>
                    <a:ext uri="{9D8B030D-6E8A-4147-A177-3AD203B41FA5}">
                      <a16:colId xmlns:a16="http://schemas.microsoft.com/office/drawing/2014/main" val="2667073272"/>
                    </a:ext>
                  </a:extLst>
                </a:gridCol>
              </a:tblGrid>
              <a:tr h="0">
                <a:tc>
                  <a:txBody>
                    <a:bodyPr/>
                    <a:lstStyle/>
                    <a:p>
                      <a:r>
                        <a:rPr lang="en-US">
                          <a:latin typeface="Times New Roman" panose="02020603050405020304" pitchFamily="18" charset="0"/>
                          <a:cs typeface="Times New Roman" panose="02020603050405020304" pitchFamily="18" charset="0"/>
                        </a:rPr>
                        <a:t>SN</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Function</a:t>
                      </a:r>
                    </a:p>
                  </a:txBody>
                  <a:tcPr anchor="ctr">
                    <a:lnL>
                      <a:noFill/>
                    </a:lnL>
                    <a:lnR>
                      <a:noFill/>
                    </a:lnR>
                    <a:lnT>
                      <a:noFill/>
                    </a:lnT>
                    <a:lnB>
                      <a:noFill/>
                    </a:lnB>
                  </a:tcPr>
                </a:tc>
                <a:tc>
                  <a:txBody>
                    <a:bodyPr/>
                    <a:lstStyle/>
                    <a:p>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extLst>
                  <a:ext uri="{0D108BD9-81ED-4DB2-BD59-A6C34878D82A}">
                    <a16:rowId xmlns:a16="http://schemas.microsoft.com/office/drawing/2014/main" val="674262269"/>
                  </a:ext>
                </a:extLst>
              </a:tr>
              <a:tr h="0">
                <a:tc>
                  <a:txBody>
                    <a:bodyPr/>
                    <a:lstStyle/>
                    <a:p>
                      <a:r>
                        <a:rPr lang="en-US">
                          <a:latin typeface="Times New Roman" panose="02020603050405020304" pitchFamily="18" charset="0"/>
                          <a:cs typeface="Times New Roman" panose="02020603050405020304" pitchFamily="18" charset="0"/>
                        </a:rPr>
                        <a:t>1</a:t>
                      </a:r>
                    </a:p>
                  </a:txBody>
                  <a:tcPr anchor="ctr">
                    <a:lnL>
                      <a:noFill/>
                    </a:lnL>
                    <a:lnR>
                      <a:noFill/>
                    </a:lnR>
                    <a:lnT>
                      <a:noFill/>
                    </a:lnT>
                    <a:lnB>
                      <a:noFill/>
                    </a:lnB>
                  </a:tcPr>
                </a:tc>
                <a:tc>
                  <a:txBody>
                    <a:bodyPr/>
                    <a:lstStyle/>
                    <a:p>
                      <a:r>
                        <a:rPr lang="en-US" dirty="0" err="1">
                          <a:latin typeface="Times New Roman" panose="02020603050405020304" pitchFamily="18" charset="0"/>
                          <a:cs typeface="Times New Roman" panose="02020603050405020304" pitchFamily="18" charset="0"/>
                        </a:rPr>
                        <a:t>getattr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obj,name,default</a:t>
                      </a:r>
                      <a:r>
                        <a:rPr lang="en-US" dirty="0">
                          <a:latin typeface="Times New Roman" panose="02020603050405020304" pitchFamily="18" charset="0"/>
                          <a:cs typeface="Times New Roman" panose="02020603050405020304" pitchFamily="18" charset="0"/>
                        </a:rPr>
                        <a:t>)</a:t>
                      </a:r>
                    </a:p>
                  </a:txBody>
                  <a:tcPr anchor="ctr">
                    <a:lnL>
                      <a:noFill/>
                    </a:lnL>
                    <a:lnR>
                      <a:noFill/>
                    </a:lnR>
                    <a:lnT>
                      <a:noFill/>
                    </a:lnT>
                    <a:lnB>
                      <a:noFill/>
                    </a:lnB>
                  </a:tcPr>
                </a:tc>
                <a:tc>
                  <a:txBody>
                    <a:bodyPr/>
                    <a:lstStyle/>
                    <a:p>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extLst>
                  <a:ext uri="{0D108BD9-81ED-4DB2-BD59-A6C34878D82A}">
                    <a16:rowId xmlns:a16="http://schemas.microsoft.com/office/drawing/2014/main" val="1034380581"/>
                  </a:ext>
                </a:extLst>
              </a:tr>
              <a:tr h="0">
                <a:tc>
                  <a:txBody>
                    <a:bodyPr/>
                    <a:lstStyle/>
                    <a:p>
                      <a:r>
                        <a:rPr lang="en-US">
                          <a:latin typeface="Times New Roman" panose="02020603050405020304" pitchFamily="18" charset="0"/>
                          <a:cs typeface="Times New Roman" panose="02020603050405020304" pitchFamily="18" charset="0"/>
                        </a:rPr>
                        <a:t>2</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setattr(obj, name,value)</a:t>
                      </a:r>
                    </a:p>
                  </a:txBody>
                  <a:tcPr anchor="ctr">
                    <a:lnL>
                      <a:noFill/>
                    </a:lnL>
                    <a:lnR>
                      <a:noFill/>
                    </a:lnR>
                    <a:lnT>
                      <a:noFill/>
                    </a:lnT>
                    <a:lnB>
                      <a:noFill/>
                    </a:lnB>
                  </a:tcPr>
                </a:tc>
                <a:tc>
                  <a:txBody>
                    <a:bodyPr/>
                    <a:lstStyle/>
                    <a:p>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extLst>
                  <a:ext uri="{0D108BD9-81ED-4DB2-BD59-A6C34878D82A}">
                    <a16:rowId xmlns:a16="http://schemas.microsoft.com/office/drawing/2014/main" val="1820244207"/>
                  </a:ext>
                </a:extLst>
              </a:tr>
              <a:tr h="0">
                <a:tc>
                  <a:txBody>
                    <a:bodyPr/>
                    <a:lstStyle/>
                    <a:p>
                      <a:r>
                        <a:rPr lang="en-US">
                          <a:latin typeface="Times New Roman" panose="02020603050405020304" pitchFamily="18" charset="0"/>
                          <a:cs typeface="Times New Roman" panose="02020603050405020304" pitchFamily="18" charset="0"/>
                        </a:rPr>
                        <a:t>3</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delattr(obj, name)</a:t>
                      </a:r>
                    </a:p>
                  </a:txBody>
                  <a:tcPr anchor="ctr">
                    <a:lnL>
                      <a:noFill/>
                    </a:lnL>
                    <a:lnR>
                      <a:noFill/>
                    </a:lnR>
                    <a:lnT>
                      <a:noFill/>
                    </a:lnT>
                    <a:lnB>
                      <a:noFill/>
                    </a:lnB>
                  </a:tcPr>
                </a:tc>
                <a:tc>
                  <a:txBody>
                    <a:bodyPr/>
                    <a:lstStyle/>
                    <a:p>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extLst>
                  <a:ext uri="{0D108BD9-81ED-4DB2-BD59-A6C34878D82A}">
                    <a16:rowId xmlns:a16="http://schemas.microsoft.com/office/drawing/2014/main" val="1555617202"/>
                  </a:ext>
                </a:extLst>
              </a:tr>
              <a:tr h="0">
                <a:tc>
                  <a:txBody>
                    <a:bodyPr/>
                    <a:lstStyle/>
                    <a:p>
                      <a:r>
                        <a:rPr lang="en-US">
                          <a:latin typeface="Times New Roman" panose="02020603050405020304" pitchFamily="18" charset="0"/>
                          <a:cs typeface="Times New Roman" panose="02020603050405020304" pitchFamily="18" charset="0"/>
                        </a:rPr>
                        <a:t>4</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hasattr(obj, name)</a:t>
                      </a:r>
                    </a:p>
                  </a:txBody>
                  <a:tcPr anchor="ctr">
                    <a:lnL>
                      <a:noFill/>
                    </a:lnL>
                    <a:lnR>
                      <a:noFill/>
                    </a:lnR>
                    <a:lnT>
                      <a:noFill/>
                    </a:lnT>
                    <a:lnB>
                      <a:noFill/>
                    </a:lnB>
                  </a:tcPr>
                </a:tc>
                <a:tc>
                  <a:txBody>
                    <a:bodyPr/>
                    <a:lstStyle/>
                    <a:p>
                      <a:endParaRPr lang="en-US" dirty="0">
                        <a:latin typeface="Times New Roman" panose="02020603050405020304" pitchFamily="18" charset="0"/>
                        <a:cs typeface="Times New Roman" panose="02020603050405020304" pitchFamily="18" charset="0"/>
                      </a:endParaRPr>
                    </a:p>
                  </a:txBody>
                  <a:tcPr>
                    <a:lnL>
                      <a:noFill/>
                    </a:lnL>
                    <a:lnT>
                      <a:noFill/>
                    </a:lnT>
                  </a:tcPr>
                </a:tc>
                <a:extLst>
                  <a:ext uri="{0D108BD9-81ED-4DB2-BD59-A6C34878D82A}">
                    <a16:rowId xmlns:a16="http://schemas.microsoft.com/office/drawing/2014/main" val="3608090066"/>
                  </a:ext>
                </a:extLst>
              </a:tr>
            </a:tbl>
          </a:graphicData>
        </a:graphic>
      </p:graphicFrame>
      <p:sp>
        <p:nvSpPr>
          <p:cNvPr id="6" name="Rectangle 5"/>
          <p:cNvSpPr/>
          <p:nvPr/>
        </p:nvSpPr>
        <p:spPr>
          <a:xfrm>
            <a:off x="228598" y="611304"/>
            <a:ext cx="6734907" cy="6247864"/>
          </a:xfrm>
          <a:prstGeom prst="rect">
            <a:avLst/>
          </a:prstGeom>
          <a:ln>
            <a:solidFill>
              <a:schemeClr val="accent2"/>
            </a:solidFill>
          </a:ln>
        </p:spPr>
        <p:txBody>
          <a:bodyPr wrap="square">
            <a:spAutoFit/>
          </a:bodyPr>
          <a:lstStyle/>
          <a:p>
            <a:r>
              <a:rPr lang="en-US" sz="2000" dirty="0">
                <a:latin typeface="Times New Roman" panose="02020603050405020304" pitchFamily="18" charset="0"/>
                <a:cs typeface="Times New Roman" panose="02020603050405020304" pitchFamily="18" charset="0"/>
              </a:rPr>
              <a:t>class Student: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def</a:t>
            </a:r>
            <a:r>
              <a:rPr lang="en-US" sz="2000" dirty="0">
                <a:latin typeface="Times New Roman" panose="02020603050405020304" pitchFamily="18" charset="0"/>
                <a:cs typeface="Times New Roman" panose="02020603050405020304" pitchFamily="18" charset="0"/>
              </a:rPr>
              <a:t> __</a:t>
            </a:r>
            <a:r>
              <a:rPr lang="en-US" sz="2000" dirty="0" err="1">
                <a:latin typeface="Times New Roman" panose="02020603050405020304" pitchFamily="18" charset="0"/>
                <a:cs typeface="Times New Roman" panose="02020603050405020304" pitchFamily="18" charset="0"/>
              </a:rPr>
              <a:t>init</a:t>
            </a:r>
            <a:r>
              <a:rPr lang="en-US" sz="2000" dirty="0">
                <a:latin typeface="Times New Roman" panose="02020603050405020304" pitchFamily="18" charset="0"/>
                <a:cs typeface="Times New Roman" panose="02020603050405020304" pitchFamily="18" charset="0"/>
              </a:rPr>
              <a:t>__(self, name, id, age):  </a:t>
            </a:r>
          </a:p>
          <a:p>
            <a:r>
              <a:rPr lang="en-US" sz="2000" dirty="0">
                <a:latin typeface="Times New Roman" panose="02020603050405020304" pitchFamily="18" charset="0"/>
                <a:cs typeface="Times New Roman" panose="02020603050405020304" pitchFamily="18" charset="0"/>
              </a:rPr>
              <a:t>        self.name = name  </a:t>
            </a:r>
          </a:p>
          <a:p>
            <a:r>
              <a:rPr lang="en-US" sz="2000" dirty="0">
                <a:latin typeface="Times New Roman" panose="02020603050405020304" pitchFamily="18" charset="0"/>
                <a:cs typeface="Times New Roman" panose="02020603050405020304" pitchFamily="18" charset="0"/>
              </a:rPr>
              <a:t>        self.id = id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self.age</a:t>
            </a:r>
            <a:r>
              <a:rPr lang="en-US" sz="2000" dirty="0">
                <a:latin typeface="Times New Roman" panose="02020603050405020304" pitchFamily="18" charset="0"/>
                <a:cs typeface="Times New Roman" panose="02020603050405020304" pitchFamily="18" charset="0"/>
              </a:rPr>
              <a:t> = age  </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 creates the object of the class Student  </a:t>
            </a:r>
          </a:p>
          <a:p>
            <a:r>
              <a:rPr lang="en-US" sz="2000" dirty="0">
                <a:latin typeface="Times New Roman" panose="02020603050405020304" pitchFamily="18" charset="0"/>
                <a:cs typeface="Times New Roman" panose="02020603050405020304" pitchFamily="18" charset="0"/>
              </a:rPr>
              <a:t>s = Student("John", 101, 22)    </a:t>
            </a:r>
          </a:p>
          <a:p>
            <a:r>
              <a:rPr lang="en-US" sz="2000" dirty="0">
                <a:latin typeface="Times New Roman" panose="02020603050405020304" pitchFamily="18" charset="0"/>
                <a:cs typeface="Times New Roman" panose="02020603050405020304" pitchFamily="18" charset="0"/>
              </a:rPr>
              <a:t># prints the attribute name of the object s  </a:t>
            </a:r>
          </a:p>
          <a:p>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getattr</a:t>
            </a:r>
            <a:r>
              <a:rPr lang="en-US" sz="2000" dirty="0">
                <a:latin typeface="Times New Roman" panose="02020603050405020304" pitchFamily="18" charset="0"/>
                <a:cs typeface="Times New Roman" panose="02020603050405020304" pitchFamily="18" charset="0"/>
              </a:rPr>
              <a:t>(s, 'name'))    </a:t>
            </a:r>
          </a:p>
          <a:p>
            <a:r>
              <a:rPr lang="en-US" sz="2000" dirty="0">
                <a:latin typeface="Times New Roman" panose="02020603050405020304" pitchFamily="18" charset="0"/>
                <a:cs typeface="Times New Roman" panose="02020603050405020304" pitchFamily="18" charset="0"/>
              </a:rPr>
              <a:t># reset the value of attribute age to 23  </a:t>
            </a:r>
          </a:p>
          <a:p>
            <a:r>
              <a:rPr lang="en-US" sz="2000" dirty="0" err="1">
                <a:latin typeface="Times New Roman" panose="02020603050405020304" pitchFamily="18" charset="0"/>
                <a:cs typeface="Times New Roman" panose="02020603050405020304" pitchFamily="18" charset="0"/>
              </a:rPr>
              <a:t>setattr</a:t>
            </a:r>
            <a:r>
              <a:rPr lang="en-US" sz="2000" dirty="0">
                <a:latin typeface="Times New Roman" panose="02020603050405020304" pitchFamily="18" charset="0"/>
                <a:cs typeface="Times New Roman" panose="02020603050405020304" pitchFamily="18" charset="0"/>
              </a:rPr>
              <a:t>(s, "age", 23)    </a:t>
            </a:r>
          </a:p>
          <a:p>
            <a:r>
              <a:rPr lang="en-US" sz="2000" dirty="0">
                <a:latin typeface="Times New Roman" panose="02020603050405020304" pitchFamily="18" charset="0"/>
                <a:cs typeface="Times New Roman" panose="02020603050405020304" pitchFamily="18" charset="0"/>
              </a:rPr>
              <a:t># prints the modified value of age  </a:t>
            </a:r>
          </a:p>
          <a:p>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getattr</a:t>
            </a:r>
            <a:r>
              <a:rPr lang="en-US" sz="2000" dirty="0">
                <a:latin typeface="Times New Roman" panose="02020603050405020304" pitchFamily="18" charset="0"/>
                <a:cs typeface="Times New Roman" panose="02020603050405020304" pitchFamily="18" charset="0"/>
              </a:rPr>
              <a:t>(s, 'age'))    </a:t>
            </a:r>
          </a:p>
          <a:p>
            <a:r>
              <a:rPr lang="en-US" sz="2000" dirty="0">
                <a:latin typeface="Times New Roman" panose="02020603050405020304" pitchFamily="18" charset="0"/>
                <a:cs typeface="Times New Roman" panose="02020603050405020304" pitchFamily="18" charset="0"/>
              </a:rPr>
              <a:t># prints true if the student contains the attribute with name id    </a:t>
            </a:r>
          </a:p>
          <a:p>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hasattr</a:t>
            </a:r>
            <a:r>
              <a:rPr lang="en-US" sz="2000" dirty="0">
                <a:latin typeface="Times New Roman" panose="02020603050405020304" pitchFamily="18" charset="0"/>
                <a:cs typeface="Times New Roman" panose="02020603050405020304" pitchFamily="18" charset="0"/>
              </a:rPr>
              <a:t>(s, 'id'))  </a:t>
            </a:r>
          </a:p>
          <a:p>
            <a:r>
              <a:rPr lang="en-US" sz="2000" dirty="0">
                <a:latin typeface="Times New Roman" panose="02020603050405020304" pitchFamily="18" charset="0"/>
                <a:cs typeface="Times New Roman" panose="02020603050405020304" pitchFamily="18" charset="0"/>
              </a:rPr>
              <a:t># deletes the attribute age  </a:t>
            </a:r>
          </a:p>
          <a:p>
            <a:r>
              <a:rPr lang="en-US" sz="2000" dirty="0" err="1">
                <a:latin typeface="Times New Roman" panose="02020603050405020304" pitchFamily="18" charset="0"/>
                <a:cs typeface="Times New Roman" panose="02020603050405020304" pitchFamily="18" charset="0"/>
              </a:rPr>
              <a:t>delattr</a:t>
            </a:r>
            <a:r>
              <a:rPr lang="en-US" sz="2000" dirty="0">
                <a:latin typeface="Times New Roman" panose="02020603050405020304" pitchFamily="18" charset="0"/>
                <a:cs typeface="Times New Roman" panose="02020603050405020304" pitchFamily="18" charset="0"/>
              </a:rPr>
              <a:t>(s, 'age')    </a:t>
            </a:r>
          </a:p>
          <a:p>
            <a:r>
              <a:rPr lang="en-US" sz="2000" dirty="0">
                <a:latin typeface="Times New Roman" panose="02020603050405020304" pitchFamily="18" charset="0"/>
                <a:cs typeface="Times New Roman" panose="02020603050405020304" pitchFamily="18" charset="0"/>
              </a:rPr>
              <a:t># this will give an error since the attribute age has been deleted  </a:t>
            </a:r>
          </a:p>
          <a:p>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s.age</a:t>
            </a:r>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891858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6324600" y="399094"/>
          <a:ext cx="5486399" cy="3736808"/>
        </p:xfrm>
        <a:graphic>
          <a:graphicData uri="http://schemas.openxmlformats.org/drawingml/2006/table">
            <a:tbl>
              <a:tblPr/>
              <a:tblGrid>
                <a:gridCol w="682494">
                  <a:extLst>
                    <a:ext uri="{9D8B030D-6E8A-4147-A177-3AD203B41FA5}">
                      <a16:colId xmlns:a16="http://schemas.microsoft.com/office/drawing/2014/main" val="2259894060"/>
                    </a:ext>
                  </a:extLst>
                </a:gridCol>
                <a:gridCol w="1253883">
                  <a:extLst>
                    <a:ext uri="{9D8B030D-6E8A-4147-A177-3AD203B41FA5}">
                      <a16:colId xmlns:a16="http://schemas.microsoft.com/office/drawing/2014/main" val="10139165"/>
                    </a:ext>
                  </a:extLst>
                </a:gridCol>
                <a:gridCol w="3550022">
                  <a:extLst>
                    <a:ext uri="{9D8B030D-6E8A-4147-A177-3AD203B41FA5}">
                      <a16:colId xmlns:a16="http://schemas.microsoft.com/office/drawing/2014/main" val="2178800571"/>
                    </a:ext>
                  </a:extLst>
                </a:gridCol>
              </a:tblGrid>
              <a:tr h="533830">
                <a:tc>
                  <a:txBody>
                    <a:bodyPr/>
                    <a:lstStyle/>
                    <a:p>
                      <a:r>
                        <a:rPr lang="en-US" sz="1800">
                          <a:latin typeface="Times New Roman" panose="02020603050405020304" pitchFamily="18" charset="0"/>
                          <a:cs typeface="Times New Roman" panose="02020603050405020304" pitchFamily="18" charset="0"/>
                        </a:rPr>
                        <a:t>SN</a:t>
                      </a:r>
                    </a:p>
                  </a:txBody>
                  <a:tcPr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Attribute</a:t>
                      </a:r>
                    </a:p>
                  </a:txBody>
                  <a:tcPr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Description</a:t>
                      </a:r>
                    </a:p>
                  </a:txBody>
                  <a:tcPr anchor="ctr">
                    <a:lnL>
                      <a:noFill/>
                    </a:lnL>
                    <a:lnR>
                      <a:noFill/>
                    </a:lnR>
                    <a:lnT>
                      <a:noFill/>
                    </a:lnT>
                    <a:lnB>
                      <a:noFill/>
                    </a:lnB>
                  </a:tcPr>
                </a:tc>
                <a:extLst>
                  <a:ext uri="{0D108BD9-81ED-4DB2-BD59-A6C34878D82A}">
                    <a16:rowId xmlns:a16="http://schemas.microsoft.com/office/drawing/2014/main" val="3741851076"/>
                  </a:ext>
                </a:extLst>
              </a:tr>
              <a:tr h="1334574">
                <a:tc>
                  <a:txBody>
                    <a:bodyPr/>
                    <a:lstStyle/>
                    <a:p>
                      <a:r>
                        <a:rPr lang="en-US" sz="1800" dirty="0">
                          <a:latin typeface="Times New Roman" panose="02020603050405020304" pitchFamily="18" charset="0"/>
                          <a:cs typeface="Times New Roman" panose="02020603050405020304" pitchFamily="18" charset="0"/>
                        </a:rPr>
                        <a:t>1</a:t>
                      </a:r>
                    </a:p>
                  </a:txBody>
                  <a:tcPr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__dict__</a:t>
                      </a:r>
                    </a:p>
                  </a:txBody>
                  <a:tcPr anchor="ctr">
                    <a:lnL>
                      <a:noFill/>
                    </a:lnL>
                    <a:lnR>
                      <a:noFill/>
                    </a:lnR>
                    <a:lnT>
                      <a:noFill/>
                    </a:lnT>
                    <a:lnB>
                      <a:noFill/>
                    </a:lnB>
                  </a:tcPr>
                </a:tc>
                <a:tc>
                  <a:txBody>
                    <a:bodyPr/>
                    <a:lstStyle/>
                    <a:p>
                      <a:r>
                        <a:rPr lang="en-US" sz="1800" dirty="0">
                          <a:latin typeface="Times New Roman" panose="02020603050405020304" pitchFamily="18" charset="0"/>
                          <a:cs typeface="Times New Roman" panose="02020603050405020304" pitchFamily="18" charset="0"/>
                        </a:rPr>
                        <a:t>It provides the dictionary containing the information about the class namespace.</a:t>
                      </a:r>
                    </a:p>
                  </a:txBody>
                  <a:tcPr anchor="ctr">
                    <a:lnL>
                      <a:noFill/>
                    </a:lnL>
                    <a:lnR>
                      <a:noFill/>
                    </a:lnR>
                    <a:lnT>
                      <a:noFill/>
                    </a:lnT>
                    <a:lnB>
                      <a:noFill/>
                    </a:lnB>
                  </a:tcPr>
                </a:tc>
                <a:extLst>
                  <a:ext uri="{0D108BD9-81ED-4DB2-BD59-A6C34878D82A}">
                    <a16:rowId xmlns:a16="http://schemas.microsoft.com/office/drawing/2014/main" val="510890307"/>
                  </a:ext>
                </a:extLst>
              </a:tr>
              <a:tr h="934202">
                <a:tc>
                  <a:txBody>
                    <a:bodyPr/>
                    <a:lstStyle/>
                    <a:p>
                      <a:r>
                        <a:rPr lang="en-US" sz="1800">
                          <a:latin typeface="Times New Roman" panose="02020603050405020304" pitchFamily="18" charset="0"/>
                          <a:cs typeface="Times New Roman" panose="02020603050405020304" pitchFamily="18" charset="0"/>
                        </a:rPr>
                        <a:t>2</a:t>
                      </a:r>
                    </a:p>
                  </a:txBody>
                  <a:tcPr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__doc__</a:t>
                      </a:r>
                    </a:p>
                  </a:txBody>
                  <a:tcPr anchor="ctr">
                    <a:lnL>
                      <a:noFill/>
                    </a:lnL>
                    <a:lnR>
                      <a:noFill/>
                    </a:lnR>
                    <a:lnT>
                      <a:noFill/>
                    </a:lnT>
                    <a:lnB>
                      <a:noFill/>
                    </a:lnB>
                  </a:tcPr>
                </a:tc>
                <a:tc>
                  <a:txBody>
                    <a:bodyPr/>
                    <a:lstStyle/>
                    <a:p>
                      <a:r>
                        <a:rPr lang="en-US" sz="1800" dirty="0">
                          <a:latin typeface="Times New Roman" panose="02020603050405020304" pitchFamily="18" charset="0"/>
                          <a:cs typeface="Times New Roman" panose="02020603050405020304" pitchFamily="18" charset="0"/>
                        </a:rPr>
                        <a:t>It contains a string which has the class documentation</a:t>
                      </a:r>
                    </a:p>
                  </a:txBody>
                  <a:tcPr anchor="ctr">
                    <a:lnL>
                      <a:noFill/>
                    </a:lnL>
                    <a:lnR>
                      <a:noFill/>
                    </a:lnR>
                    <a:lnT>
                      <a:noFill/>
                    </a:lnT>
                    <a:lnB>
                      <a:noFill/>
                    </a:lnB>
                  </a:tcPr>
                </a:tc>
                <a:extLst>
                  <a:ext uri="{0D108BD9-81ED-4DB2-BD59-A6C34878D82A}">
                    <a16:rowId xmlns:a16="http://schemas.microsoft.com/office/drawing/2014/main" val="510274515"/>
                  </a:ext>
                </a:extLst>
              </a:tr>
              <a:tr h="934202">
                <a:tc>
                  <a:txBody>
                    <a:bodyPr/>
                    <a:lstStyle/>
                    <a:p>
                      <a:r>
                        <a:rPr lang="en-US" sz="1800" dirty="0">
                          <a:latin typeface="Times New Roman" panose="02020603050405020304" pitchFamily="18" charset="0"/>
                          <a:cs typeface="Times New Roman" panose="02020603050405020304" pitchFamily="18" charset="0"/>
                        </a:rPr>
                        <a:t>3</a:t>
                      </a:r>
                    </a:p>
                  </a:txBody>
                  <a:tcPr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__module__</a:t>
                      </a:r>
                    </a:p>
                  </a:txBody>
                  <a:tcPr anchor="ctr">
                    <a:lnL>
                      <a:noFill/>
                    </a:lnL>
                    <a:lnR>
                      <a:noFill/>
                    </a:lnR>
                    <a:lnT>
                      <a:noFill/>
                    </a:lnT>
                    <a:lnB>
                      <a:noFill/>
                    </a:lnB>
                  </a:tcPr>
                </a:tc>
                <a:tc>
                  <a:txBody>
                    <a:bodyPr/>
                    <a:lstStyle/>
                    <a:p>
                      <a:r>
                        <a:rPr lang="en-US" sz="1800" dirty="0">
                          <a:latin typeface="Times New Roman" panose="02020603050405020304" pitchFamily="18" charset="0"/>
                          <a:cs typeface="Times New Roman" panose="02020603050405020304" pitchFamily="18" charset="0"/>
                        </a:rPr>
                        <a:t>It is used to access the module in which, this class is defined.</a:t>
                      </a:r>
                    </a:p>
                  </a:txBody>
                  <a:tcPr anchor="ctr">
                    <a:lnL>
                      <a:noFill/>
                    </a:lnL>
                    <a:lnR>
                      <a:noFill/>
                    </a:lnR>
                    <a:lnT>
                      <a:noFill/>
                    </a:lnT>
                    <a:lnB>
                      <a:noFill/>
                    </a:lnB>
                  </a:tcPr>
                </a:tc>
                <a:extLst>
                  <a:ext uri="{0D108BD9-81ED-4DB2-BD59-A6C34878D82A}">
                    <a16:rowId xmlns:a16="http://schemas.microsoft.com/office/drawing/2014/main" val="3559085844"/>
                  </a:ext>
                </a:extLst>
              </a:tr>
            </a:tbl>
          </a:graphicData>
        </a:graphic>
      </p:graphicFrame>
      <p:sp>
        <p:nvSpPr>
          <p:cNvPr id="5" name="Rectangle 1"/>
          <p:cNvSpPr>
            <a:spLocks noChangeArrowheads="1"/>
          </p:cNvSpPr>
          <p:nvPr/>
        </p:nvSpPr>
        <p:spPr bwMode="auto">
          <a:xfrm>
            <a:off x="451338" y="399096"/>
            <a:ext cx="1029286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Built-in class attributes</a:t>
            </a:r>
          </a:p>
        </p:txBody>
      </p:sp>
      <p:sp>
        <p:nvSpPr>
          <p:cNvPr id="6" name="Rectangle 2"/>
          <p:cNvSpPr>
            <a:spLocks noChangeArrowheads="1"/>
          </p:cNvSpPr>
          <p:nvPr/>
        </p:nvSpPr>
        <p:spPr bwMode="auto">
          <a:xfrm>
            <a:off x="246185" y="2254845"/>
            <a:ext cx="5486399" cy="409342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 Student: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__</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init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__(</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self,name,id,age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self.name = name;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self.id = id;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self.age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age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display_details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(self):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print("Name:%s, ID:%d, age:%d"%(</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self.name,self.id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 = Student("John",101,22)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print(</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s.__doc</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__)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print(s.__</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dict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__)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print(</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s.__module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__)   </a:t>
            </a:r>
          </a:p>
        </p:txBody>
      </p:sp>
    </p:spTree>
    <p:extLst>
      <p:ext uri="{BB962C8B-B14F-4D97-AF65-F5344CB8AC3E}">
        <p14:creationId xmlns:p14="http://schemas.microsoft.com/office/powerpoint/2010/main" val="1905546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8021C-EBEB-2B2B-82B8-53A895A5C29E}"/>
              </a:ext>
            </a:extLst>
          </p:cNvPr>
          <p:cNvSpPr>
            <a:spLocks noGrp="1"/>
          </p:cNvSpPr>
          <p:nvPr>
            <p:ph type="title"/>
          </p:nvPr>
        </p:nvSpPr>
        <p:spPr/>
        <p:txBody>
          <a:bodyPr/>
          <a:lstStyle/>
          <a:p>
            <a:r>
              <a:rPr lang="en-US" b="1" i="0" dirty="0">
                <a:solidFill>
                  <a:srgbClr val="25265E"/>
                </a:solidFill>
                <a:effectLst/>
                <a:latin typeface="euclid_circular_a"/>
              </a:rPr>
              <a:t>Python Inheritance</a:t>
            </a:r>
            <a:br>
              <a:rPr lang="en-US" b="1" i="0" dirty="0">
                <a:solidFill>
                  <a:srgbClr val="25265E"/>
                </a:solidFill>
                <a:effectLst/>
                <a:latin typeface="euclid_circular_a"/>
              </a:rPr>
            </a:br>
            <a:endParaRPr lang="en-IN" dirty="0"/>
          </a:p>
        </p:txBody>
      </p:sp>
      <p:sp>
        <p:nvSpPr>
          <p:cNvPr id="3" name="Content Placeholder 2">
            <a:extLst>
              <a:ext uri="{FF2B5EF4-FFF2-40B4-BE49-F238E27FC236}">
                <a16:creationId xmlns:a16="http://schemas.microsoft.com/office/drawing/2014/main" id="{AD4A1BCB-D2C0-6DA2-BC68-B630F18EE7A3}"/>
              </a:ext>
            </a:extLst>
          </p:cNvPr>
          <p:cNvSpPr>
            <a:spLocks noGrp="1"/>
          </p:cNvSpPr>
          <p:nvPr>
            <p:ph idx="1"/>
          </p:nvPr>
        </p:nvSpPr>
        <p:spPr/>
        <p:txBody>
          <a:bodyPr/>
          <a:lstStyle/>
          <a:p>
            <a:pPr algn="l"/>
            <a:r>
              <a:rPr lang="en-US" b="0" i="0" dirty="0">
                <a:solidFill>
                  <a:srgbClr val="25265E"/>
                </a:solidFill>
                <a:effectLst/>
                <a:latin typeface="euclid_circular_a"/>
              </a:rPr>
              <a:t>Being an object-oriented language, Python supports class inheritance. It allows us to create a new class from an existing one.</a:t>
            </a:r>
          </a:p>
          <a:p>
            <a:pPr algn="l">
              <a:buFont typeface="Arial" panose="020B0604020202020204" pitchFamily="34" charset="0"/>
              <a:buChar char="•"/>
            </a:pPr>
            <a:r>
              <a:rPr lang="en-US" b="0" i="0" dirty="0">
                <a:solidFill>
                  <a:srgbClr val="25265E"/>
                </a:solidFill>
                <a:effectLst/>
                <a:latin typeface="euclid_circular_a"/>
              </a:rPr>
              <a:t>The newly created class is known as the </a:t>
            </a:r>
            <a:r>
              <a:rPr lang="en-US" b="1" i="0" dirty="0">
                <a:solidFill>
                  <a:srgbClr val="25265E"/>
                </a:solidFill>
                <a:effectLst/>
                <a:latin typeface="euclid_circular_a"/>
              </a:rPr>
              <a:t>subclass</a:t>
            </a:r>
            <a:r>
              <a:rPr lang="en-US" b="0" i="0" dirty="0">
                <a:solidFill>
                  <a:srgbClr val="25265E"/>
                </a:solidFill>
                <a:effectLst/>
                <a:latin typeface="euclid_circular_a"/>
              </a:rPr>
              <a:t> (child or derived class).</a:t>
            </a:r>
          </a:p>
          <a:p>
            <a:pPr algn="l">
              <a:buFont typeface="Arial" panose="020B0604020202020204" pitchFamily="34" charset="0"/>
              <a:buChar char="•"/>
            </a:pPr>
            <a:r>
              <a:rPr lang="en-US" b="0" i="0" dirty="0">
                <a:solidFill>
                  <a:srgbClr val="25265E"/>
                </a:solidFill>
                <a:effectLst/>
                <a:latin typeface="euclid_circular_a"/>
              </a:rPr>
              <a:t>The existing class from which the child class inherits is known as the superclass (parent or base class).</a:t>
            </a:r>
          </a:p>
          <a:p>
            <a:endParaRPr lang="en-IN" dirty="0"/>
          </a:p>
        </p:txBody>
      </p:sp>
    </p:spTree>
    <p:extLst>
      <p:ext uri="{BB962C8B-B14F-4D97-AF65-F5344CB8AC3E}">
        <p14:creationId xmlns:p14="http://schemas.microsoft.com/office/powerpoint/2010/main" val="3426783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C72DF-A95E-22A6-771D-1D334D116228}"/>
              </a:ext>
            </a:extLst>
          </p:cNvPr>
          <p:cNvSpPr>
            <a:spLocks noGrp="1"/>
          </p:cNvSpPr>
          <p:nvPr>
            <p:ph type="title"/>
          </p:nvPr>
        </p:nvSpPr>
        <p:spPr/>
        <p:txBody>
          <a:bodyPr/>
          <a:lstStyle/>
          <a:p>
            <a:r>
              <a:rPr lang="en-IN" b="1" i="0" dirty="0">
                <a:solidFill>
                  <a:srgbClr val="25265E"/>
                </a:solidFill>
                <a:effectLst/>
                <a:latin typeface="euclid_circular_a"/>
              </a:rPr>
              <a:t>Python Inheritance Syntax</a:t>
            </a:r>
            <a:br>
              <a:rPr lang="en-IN" b="1" i="0" dirty="0">
                <a:solidFill>
                  <a:srgbClr val="25265E"/>
                </a:solidFill>
                <a:effectLst/>
                <a:latin typeface="euclid_circular_a"/>
              </a:rPr>
            </a:br>
            <a:endParaRPr lang="en-IN" dirty="0"/>
          </a:p>
        </p:txBody>
      </p:sp>
      <p:sp>
        <p:nvSpPr>
          <p:cNvPr id="3" name="Content Placeholder 2">
            <a:extLst>
              <a:ext uri="{FF2B5EF4-FFF2-40B4-BE49-F238E27FC236}">
                <a16:creationId xmlns:a16="http://schemas.microsoft.com/office/drawing/2014/main" id="{0015AC92-BDA5-B8B9-932B-44B141ED1A9F}"/>
              </a:ext>
            </a:extLst>
          </p:cNvPr>
          <p:cNvSpPr>
            <a:spLocks noGrp="1"/>
          </p:cNvSpPr>
          <p:nvPr>
            <p:ph idx="1"/>
          </p:nvPr>
        </p:nvSpPr>
        <p:spPr/>
        <p:txBody>
          <a:bodyPr/>
          <a:lstStyle/>
          <a:p>
            <a:endParaRPr lang="en-US" b="1" i="0" dirty="0">
              <a:solidFill>
                <a:srgbClr val="25265E"/>
              </a:solidFill>
              <a:effectLst/>
              <a:latin typeface="euclid_circular_a"/>
            </a:endParaRPr>
          </a:p>
          <a:p>
            <a:r>
              <a:rPr kumimoji="0" lang="en-US" altLang="en-US" sz="2800" b="0" i="0" u="none" strike="noStrike" cap="none" normalizeH="0" baseline="0" dirty="0">
                <a:ln>
                  <a:noFill/>
                </a:ln>
                <a:effectLst/>
                <a:latin typeface="Droid Sans Mono"/>
              </a:rPr>
              <a:t>define a superclass</a:t>
            </a:r>
          </a:p>
          <a:p>
            <a:pPr marL="0" indent="0">
              <a:buNone/>
            </a:pPr>
            <a:r>
              <a:rPr kumimoji="0" lang="en-US" altLang="en-US" sz="2800" b="0" i="0" u="none" strike="noStrike" cap="none" normalizeH="0" baseline="0" dirty="0">
                <a:ln>
                  <a:noFill/>
                </a:ln>
                <a:effectLst/>
                <a:latin typeface="Droid Sans Mono"/>
              </a:rPr>
              <a:t>class </a:t>
            </a:r>
            <a:r>
              <a:rPr kumimoji="0" lang="en-US" altLang="en-US" sz="2800" b="0" i="0" u="none" strike="noStrike" cap="none" normalizeH="0" baseline="0" dirty="0" err="1">
                <a:ln>
                  <a:noFill/>
                </a:ln>
                <a:effectLst/>
                <a:latin typeface="Droid Sans Mono"/>
              </a:rPr>
              <a:t>super_class</a:t>
            </a:r>
            <a:r>
              <a:rPr kumimoji="0" lang="en-US" altLang="en-US" sz="2800" b="0" i="0" u="none" strike="noStrike" cap="none" normalizeH="0" baseline="0" dirty="0">
                <a:ln>
                  <a:noFill/>
                </a:ln>
                <a:effectLst/>
                <a:latin typeface="Droid Sans Mono"/>
              </a:rPr>
              <a:t>: </a:t>
            </a:r>
          </a:p>
          <a:p>
            <a:pPr marL="0" indent="0">
              <a:buNone/>
            </a:pPr>
            <a:r>
              <a:rPr lang="en-US" altLang="en-US" dirty="0">
                <a:latin typeface="Droid Sans Mono"/>
              </a:rPr>
              <a:t>       </a:t>
            </a:r>
            <a:r>
              <a:rPr kumimoji="0" lang="en-US" altLang="en-US" sz="2800" b="0" i="0" u="none" strike="noStrike" cap="none" normalizeH="0" baseline="0" dirty="0">
                <a:ln>
                  <a:noFill/>
                </a:ln>
                <a:effectLst/>
                <a:latin typeface="Droid Sans Mono"/>
              </a:rPr>
              <a:t># attributes and method definition</a:t>
            </a:r>
          </a:p>
          <a:p>
            <a:pPr marL="0" indent="0">
              <a:buNone/>
            </a:pPr>
            <a:r>
              <a:rPr kumimoji="0" lang="en-US" altLang="en-US" sz="2800" b="0" i="0" u="none" strike="noStrike" cap="none" normalizeH="0" baseline="0" dirty="0">
                <a:ln>
                  <a:noFill/>
                </a:ln>
                <a:solidFill>
                  <a:srgbClr val="FFDDBE"/>
                </a:solidFill>
                <a:effectLst/>
                <a:latin typeface="Droid Sans Mono"/>
              </a:rPr>
              <a:t> </a:t>
            </a:r>
            <a:r>
              <a:rPr kumimoji="0" lang="en-US" altLang="en-US" sz="2800" b="0" i="0" u="none" strike="noStrike" cap="none" normalizeH="0" baseline="0" dirty="0">
                <a:ln>
                  <a:noFill/>
                </a:ln>
                <a:effectLst/>
                <a:latin typeface="Droid Sans Mono"/>
              </a:rPr>
              <a:t>inheritance </a:t>
            </a:r>
          </a:p>
          <a:p>
            <a:pPr marL="0" indent="0">
              <a:buNone/>
            </a:pPr>
            <a:r>
              <a:rPr kumimoji="0" lang="en-US" altLang="en-US" sz="2800" b="0" i="0" u="none" strike="noStrike" cap="none" normalizeH="0" baseline="0" dirty="0">
                <a:ln>
                  <a:noFill/>
                </a:ln>
                <a:effectLst/>
                <a:latin typeface="Droid Sans Mono"/>
              </a:rPr>
              <a:t>class </a:t>
            </a:r>
            <a:r>
              <a:rPr kumimoji="0" lang="en-US" altLang="en-US" sz="2800" b="0" i="0" u="none" strike="noStrike" cap="none" normalizeH="0" baseline="0" dirty="0" err="1">
                <a:ln>
                  <a:noFill/>
                </a:ln>
                <a:effectLst/>
                <a:latin typeface="Droid Sans Mono"/>
              </a:rPr>
              <a:t>sub_class</a:t>
            </a:r>
            <a:r>
              <a:rPr kumimoji="0" lang="en-US" altLang="en-US" sz="2800" b="0" i="0" u="none" strike="noStrike" cap="none" normalizeH="0" baseline="0" dirty="0">
                <a:ln>
                  <a:noFill/>
                </a:ln>
                <a:effectLst/>
                <a:latin typeface="Droid Sans Mono"/>
              </a:rPr>
              <a:t>(</a:t>
            </a:r>
            <a:r>
              <a:rPr kumimoji="0" lang="en-US" altLang="en-US" sz="2800" b="0" i="0" u="none" strike="noStrike" cap="none" normalizeH="0" baseline="0" dirty="0" err="1">
                <a:ln>
                  <a:noFill/>
                </a:ln>
                <a:effectLst/>
                <a:latin typeface="Droid Sans Mono"/>
              </a:rPr>
              <a:t>super_class</a:t>
            </a:r>
            <a:r>
              <a:rPr kumimoji="0" lang="en-US" altLang="en-US" sz="2800" b="0" i="0" u="none" strike="noStrike" cap="none" normalizeH="0" baseline="0" dirty="0">
                <a:ln>
                  <a:noFill/>
                </a:ln>
                <a:effectLst/>
                <a:latin typeface="Droid Sans Mono"/>
              </a:rPr>
              <a:t>): </a:t>
            </a:r>
          </a:p>
          <a:p>
            <a:pPr marL="0" indent="0">
              <a:buNone/>
            </a:pPr>
            <a:r>
              <a:rPr lang="en-US" altLang="en-US" dirty="0">
                <a:latin typeface="Droid Sans Mono"/>
              </a:rPr>
              <a:t>      </a:t>
            </a:r>
            <a:r>
              <a:rPr kumimoji="0" lang="en-US" altLang="en-US" sz="2800" b="0" i="0" u="none" strike="noStrike" cap="none" normalizeH="0" baseline="0" dirty="0">
                <a:ln>
                  <a:noFill/>
                </a:ln>
                <a:effectLst/>
                <a:latin typeface="Droid Sans Mono"/>
              </a:rPr>
              <a:t># attributes and method of </a:t>
            </a:r>
            <a:r>
              <a:rPr kumimoji="0" lang="en-US" altLang="en-US" sz="2800" b="0" i="0" u="none" strike="noStrike" cap="none" normalizeH="0" baseline="0" dirty="0" err="1">
                <a:ln>
                  <a:noFill/>
                </a:ln>
                <a:effectLst/>
                <a:latin typeface="Droid Sans Mono"/>
              </a:rPr>
              <a:t>super_class</a:t>
            </a:r>
            <a:r>
              <a:rPr kumimoji="0" lang="en-US" altLang="en-US" sz="2800" b="0" i="0" u="none" strike="noStrike" cap="none" normalizeH="0" baseline="0" dirty="0">
                <a:ln>
                  <a:noFill/>
                </a:ln>
                <a:effectLst/>
                <a:latin typeface="Droid Sans Mono"/>
              </a:rPr>
              <a:t> </a:t>
            </a:r>
          </a:p>
          <a:p>
            <a:pPr marL="0" indent="0">
              <a:buNone/>
            </a:pPr>
            <a:r>
              <a:rPr lang="en-US" altLang="en-US" dirty="0">
                <a:latin typeface="Droid Sans Mono"/>
              </a:rPr>
              <a:t>      </a:t>
            </a:r>
            <a:r>
              <a:rPr kumimoji="0" lang="en-US" altLang="en-US" sz="2800" b="0" i="0" u="none" strike="noStrike" cap="none" normalizeH="0" baseline="0" dirty="0">
                <a:ln>
                  <a:noFill/>
                </a:ln>
                <a:effectLst/>
                <a:latin typeface="Droid Sans Mono"/>
              </a:rPr>
              <a:t># attributes and method of </a:t>
            </a:r>
            <a:r>
              <a:rPr kumimoji="0" lang="en-US" altLang="en-US" sz="2800" b="0" i="0" u="none" strike="noStrike" cap="none" normalizeH="0" baseline="0" dirty="0" err="1">
                <a:ln>
                  <a:noFill/>
                </a:ln>
                <a:effectLst/>
                <a:latin typeface="Droid Sans Mono"/>
              </a:rPr>
              <a:t>sub_class</a:t>
            </a:r>
            <a:r>
              <a:rPr kumimoji="0" lang="en-US" altLang="en-US" sz="3600" b="0" i="0" u="none" strike="noStrike" cap="none" normalizeH="0" baseline="0" dirty="0">
                <a:ln>
                  <a:noFill/>
                </a:ln>
                <a:effectLst/>
              </a:rPr>
              <a:t> </a:t>
            </a:r>
            <a:endParaRPr kumimoji="0" lang="en-US" altLang="en-US" sz="2800" b="0" i="0" u="none" strike="noStrike" cap="none" normalizeH="0" baseline="0" dirty="0">
              <a:ln>
                <a:noFill/>
              </a:ln>
              <a:effectLst/>
              <a:latin typeface="Droid Sans Mono"/>
            </a:endParaRPr>
          </a:p>
          <a:p>
            <a:pPr marL="0" indent="0">
              <a:buNone/>
            </a:pPr>
            <a:endParaRPr kumimoji="0" lang="en-US" altLang="en-US" sz="2800" b="0" i="0" u="none" strike="noStrike" cap="none" normalizeH="0" baseline="0" dirty="0">
              <a:ln>
                <a:noFill/>
              </a:ln>
              <a:effectLst/>
              <a:latin typeface="Droid Sans Mono"/>
            </a:endParaRPr>
          </a:p>
          <a:p>
            <a:endParaRPr lang="en-US" b="1" i="0" dirty="0">
              <a:effectLst/>
              <a:latin typeface="euclid_circular_a"/>
            </a:endParaRPr>
          </a:p>
        </p:txBody>
      </p:sp>
      <p:sp>
        <p:nvSpPr>
          <p:cNvPr id="6" name="Rectangle 3">
            <a:extLst>
              <a:ext uri="{FF2B5EF4-FFF2-40B4-BE49-F238E27FC236}">
                <a16:creationId xmlns:a16="http://schemas.microsoft.com/office/drawing/2014/main" id="{C18BD230-C42F-47DA-E090-6B0C967CD8FA}"/>
              </a:ext>
            </a:extLst>
          </p:cNvPr>
          <p:cNvSpPr>
            <a:spLocks noChangeArrowheads="1"/>
          </p:cNvSpPr>
          <p:nvPr/>
        </p:nvSpPr>
        <p:spPr bwMode="auto">
          <a:xfrm>
            <a:off x="0" y="13156"/>
            <a:ext cx="2979983" cy="430887"/>
          </a:xfrm>
          <a:prstGeom prst="rect">
            <a:avLst/>
          </a:prstGeom>
          <a:solidFill>
            <a:srgbClr val="38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latin typeface="Droid Sans Mono"/>
              </a:rPr>
              <a:t>class </a:t>
            </a:r>
            <a:r>
              <a:rPr kumimoji="0" lang="en-US" altLang="en-US" sz="1000" b="0" i="0" u="none" strike="noStrike" cap="none" normalizeH="0" baseline="0" dirty="0" err="1">
                <a:ln>
                  <a:noFill/>
                </a:ln>
                <a:effectLst/>
                <a:latin typeface="Droid Sans Mono"/>
              </a:rPr>
              <a:t>super_class</a:t>
            </a:r>
            <a:r>
              <a:rPr kumimoji="0" lang="en-US" altLang="en-US" sz="1000" b="0" i="0" u="none" strike="noStrike" cap="none" normalizeH="0" baseline="0" dirty="0">
                <a:ln>
                  <a:noFill/>
                </a:ln>
                <a:effectLst/>
                <a:latin typeface="Droid Sans Mono"/>
              </a:rPr>
              <a:t>: # attributes and method definition </a:t>
            </a:r>
            <a:br>
              <a:rPr kumimoji="0" lang="en-US" altLang="en-US" sz="11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CB097880-D5EE-B50F-9AA4-5258D800B749}"/>
              </a:ext>
            </a:extLst>
          </p:cNvPr>
          <p:cNvSpPr>
            <a:spLocks noChangeArrowheads="1"/>
          </p:cNvSpPr>
          <p:nvPr/>
        </p:nvSpPr>
        <p:spPr bwMode="auto">
          <a:xfrm>
            <a:off x="0" y="0"/>
            <a:ext cx="12192000" cy="457200"/>
          </a:xfrm>
          <a:prstGeom prst="rect">
            <a:avLst/>
          </a:prstGeom>
          <a:solidFill>
            <a:srgbClr val="38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FDDBE"/>
                </a:solidFill>
                <a:effectLst/>
                <a:latin typeface="Droid Sans Mono"/>
              </a:rPr>
              <a:t># inheritance</a:t>
            </a:r>
            <a:r>
              <a:rPr kumimoji="0" lang="en-US" altLang="en-US" sz="1000" b="0" i="0" u="none" strike="noStrike" cap="none" normalizeH="0" baseline="0" dirty="0">
                <a:ln>
                  <a:noFill/>
                </a:ln>
                <a:solidFill>
                  <a:srgbClr val="D3D3D3"/>
                </a:solidFill>
                <a:effectLst/>
                <a:latin typeface="Droid Sans Mono"/>
              </a:rPr>
              <a:t> </a:t>
            </a:r>
            <a:r>
              <a:rPr kumimoji="0" lang="en-US" altLang="en-US" sz="1000" b="0" i="0" u="none" strike="noStrike" cap="none" normalizeH="0" baseline="0" dirty="0">
                <a:ln>
                  <a:noFill/>
                </a:ln>
                <a:solidFill>
                  <a:srgbClr val="C678DD"/>
                </a:solidFill>
                <a:effectLst/>
                <a:latin typeface="Droid Sans Mono"/>
              </a:rPr>
              <a:t>class</a:t>
            </a:r>
            <a:r>
              <a:rPr kumimoji="0" lang="en-US" altLang="en-US" sz="1000" b="0" i="0" u="none" strike="noStrike" cap="none" normalizeH="0" baseline="0" dirty="0">
                <a:ln>
                  <a:noFill/>
                </a:ln>
                <a:solidFill>
                  <a:srgbClr val="D3D3D3"/>
                </a:solidFill>
                <a:effectLst/>
                <a:latin typeface="Droid Sans Mono"/>
              </a:rPr>
              <a:t> </a:t>
            </a:r>
            <a:r>
              <a:rPr kumimoji="0" lang="en-US" altLang="en-US" sz="1000" b="0" i="0" u="none" strike="noStrike" cap="none" normalizeH="0" baseline="0" dirty="0" err="1">
                <a:ln>
                  <a:noFill/>
                </a:ln>
                <a:solidFill>
                  <a:srgbClr val="E6C07B"/>
                </a:solidFill>
                <a:effectLst/>
                <a:latin typeface="Droid Sans Mono"/>
              </a:rPr>
              <a:t>sub_class</a:t>
            </a:r>
            <a:r>
              <a:rPr kumimoji="0" lang="en-US" altLang="en-US" sz="1000" b="0" i="0" u="none" strike="noStrike" cap="none" normalizeH="0" baseline="0" dirty="0">
                <a:ln>
                  <a:noFill/>
                </a:ln>
                <a:solidFill>
                  <a:srgbClr val="D3D3D3"/>
                </a:solidFill>
                <a:effectLst/>
                <a:latin typeface="Droid Sans Mono"/>
              </a:rPr>
              <a:t>(</a:t>
            </a:r>
            <a:r>
              <a:rPr kumimoji="0" lang="en-US" altLang="en-US" sz="1000" b="0" i="0" u="none" strike="noStrike" cap="none" normalizeH="0" baseline="0" dirty="0" err="1">
                <a:ln>
                  <a:noFill/>
                </a:ln>
                <a:solidFill>
                  <a:srgbClr val="D3D3D3"/>
                </a:solidFill>
                <a:effectLst/>
                <a:latin typeface="Droid Sans Mono"/>
              </a:rPr>
              <a:t>super_class</a:t>
            </a:r>
            <a:r>
              <a:rPr kumimoji="0" lang="en-US" altLang="en-US" sz="1000" b="0" i="0" u="none" strike="noStrike" cap="none" normalizeH="0" baseline="0" dirty="0">
                <a:ln>
                  <a:noFill/>
                </a:ln>
                <a:solidFill>
                  <a:srgbClr val="D3D3D3"/>
                </a:solidFill>
                <a:effectLst/>
                <a:latin typeface="Droid Sans Mono"/>
              </a:rPr>
              <a:t>): </a:t>
            </a:r>
            <a:r>
              <a:rPr kumimoji="0" lang="en-US" altLang="en-US" sz="1000" b="0" i="0" u="none" strike="noStrike" cap="none" normalizeH="0" baseline="0" dirty="0">
                <a:ln>
                  <a:noFill/>
                </a:ln>
                <a:solidFill>
                  <a:srgbClr val="FFDDBE"/>
                </a:solidFill>
                <a:effectLst/>
                <a:latin typeface="Droid Sans Mono"/>
              </a:rPr>
              <a:t># attributes and method of </a:t>
            </a:r>
            <a:r>
              <a:rPr kumimoji="0" lang="en-US" altLang="en-US" sz="1000" b="0" i="0" u="none" strike="noStrike" cap="none" normalizeH="0" baseline="0" dirty="0" err="1">
                <a:ln>
                  <a:noFill/>
                </a:ln>
                <a:solidFill>
                  <a:srgbClr val="FFDDBE"/>
                </a:solidFill>
                <a:effectLst/>
                <a:latin typeface="Droid Sans Mono"/>
              </a:rPr>
              <a:t>super_class</a:t>
            </a:r>
            <a:r>
              <a:rPr kumimoji="0" lang="en-US" altLang="en-US" sz="1000" b="0" i="0" u="none" strike="noStrike" cap="none" normalizeH="0" baseline="0" dirty="0">
                <a:ln>
                  <a:noFill/>
                </a:ln>
                <a:solidFill>
                  <a:srgbClr val="D3D3D3"/>
                </a:solidFill>
                <a:effectLst/>
                <a:latin typeface="Droid Sans Mono"/>
              </a:rPr>
              <a:t> </a:t>
            </a:r>
            <a:r>
              <a:rPr kumimoji="0" lang="en-US" altLang="en-US" sz="1000" b="0" i="0" u="none" strike="noStrike" cap="none" normalizeH="0" baseline="0" dirty="0">
                <a:ln>
                  <a:noFill/>
                </a:ln>
                <a:solidFill>
                  <a:srgbClr val="FFDDBE"/>
                </a:solidFill>
                <a:effectLst/>
                <a:latin typeface="Droid Sans Mono"/>
              </a:rPr>
              <a:t># attributes and method of </a:t>
            </a:r>
            <a:r>
              <a:rPr kumimoji="0" lang="en-US" altLang="en-US" sz="1000" b="0" i="0" u="none" strike="noStrike" cap="none" normalizeH="0" baseline="0" dirty="0" err="1">
                <a:ln>
                  <a:noFill/>
                </a:ln>
                <a:solidFill>
                  <a:srgbClr val="FFDDBE"/>
                </a:solidFill>
                <a:effectLst/>
                <a:latin typeface="Droid Sans Mono"/>
              </a:rPr>
              <a:t>sub_class</a:t>
            </a:r>
            <a:r>
              <a:rPr kumimoji="0" lang="en-US" altLang="en-US" sz="11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45042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FB2530-7D8A-4108-95C0-751FF68E6D9E}"/>
              </a:ext>
            </a:extLst>
          </p:cNvPr>
          <p:cNvSpPr>
            <a:spLocks noGrp="1"/>
          </p:cNvSpPr>
          <p:nvPr>
            <p:ph idx="1"/>
          </p:nvPr>
        </p:nvSpPr>
        <p:spPr>
          <a:xfrm>
            <a:off x="838200" y="265043"/>
            <a:ext cx="4038600" cy="5671932"/>
          </a:xfrm>
        </p:spPr>
        <p:txBody>
          <a:bodyPr>
            <a:normAutofit fontScale="62500" lnSpcReduction="20000"/>
          </a:bodyPr>
          <a:lstStyle/>
          <a:p>
            <a:r>
              <a:rPr lang="en-US" dirty="0"/>
              <a:t>class Animal:</a:t>
            </a:r>
          </a:p>
          <a:p>
            <a:endParaRPr lang="en-US" dirty="0"/>
          </a:p>
          <a:p>
            <a:r>
              <a:rPr lang="en-US" dirty="0"/>
              <a:t>    # attribute and method of the parent class</a:t>
            </a:r>
          </a:p>
          <a:p>
            <a:r>
              <a:rPr lang="en-US" dirty="0"/>
              <a:t>    name = ""</a:t>
            </a:r>
          </a:p>
          <a:p>
            <a:r>
              <a:rPr lang="en-US" dirty="0"/>
              <a:t>    </a:t>
            </a:r>
          </a:p>
          <a:p>
            <a:r>
              <a:rPr lang="en-US" dirty="0"/>
              <a:t>    def eat(self):</a:t>
            </a:r>
          </a:p>
          <a:p>
            <a:r>
              <a:rPr lang="en-US" dirty="0"/>
              <a:t>        print("I can eat")</a:t>
            </a:r>
          </a:p>
          <a:p>
            <a:endParaRPr lang="en-US" dirty="0"/>
          </a:p>
          <a:p>
            <a:r>
              <a:rPr lang="en-US" dirty="0"/>
              <a:t># inherit from Animal</a:t>
            </a:r>
          </a:p>
          <a:p>
            <a:r>
              <a:rPr lang="en-US" dirty="0"/>
              <a:t>class Dog(Animal):</a:t>
            </a:r>
          </a:p>
          <a:p>
            <a:endParaRPr lang="en-US" dirty="0"/>
          </a:p>
          <a:p>
            <a:r>
              <a:rPr lang="en-US" dirty="0"/>
              <a:t>    # new method in subclass</a:t>
            </a:r>
          </a:p>
          <a:p>
            <a:r>
              <a:rPr lang="en-US" dirty="0"/>
              <a:t>    def display(self):</a:t>
            </a:r>
          </a:p>
          <a:p>
            <a:r>
              <a:rPr lang="en-US" dirty="0"/>
              <a:t>        # access name attribute of superclass using self</a:t>
            </a:r>
          </a:p>
          <a:p>
            <a:r>
              <a:rPr lang="en-US" dirty="0"/>
              <a:t>        print("My name is ", self.name)</a:t>
            </a:r>
          </a:p>
          <a:p>
            <a:endParaRPr lang="en-US" dirty="0"/>
          </a:p>
          <a:p>
            <a:endParaRPr lang="en-IN" dirty="0"/>
          </a:p>
        </p:txBody>
      </p:sp>
      <p:sp>
        <p:nvSpPr>
          <p:cNvPr id="5" name="TextBox 4">
            <a:extLst>
              <a:ext uri="{FF2B5EF4-FFF2-40B4-BE49-F238E27FC236}">
                <a16:creationId xmlns:a16="http://schemas.microsoft.com/office/drawing/2014/main" id="{BE7A403F-03D4-A08E-B685-AA0358B31372}"/>
              </a:ext>
            </a:extLst>
          </p:cNvPr>
          <p:cNvSpPr txBox="1"/>
          <p:nvPr/>
        </p:nvSpPr>
        <p:spPr>
          <a:xfrm>
            <a:off x="6480313" y="476504"/>
            <a:ext cx="5433392" cy="2585323"/>
          </a:xfrm>
          <a:prstGeom prst="rect">
            <a:avLst/>
          </a:prstGeom>
          <a:noFill/>
        </p:spPr>
        <p:txBody>
          <a:bodyPr wrap="square">
            <a:spAutoFit/>
          </a:bodyPr>
          <a:lstStyle/>
          <a:p>
            <a:r>
              <a:rPr lang="en-US" dirty="0"/>
              <a:t># create an object of the subclass</a:t>
            </a:r>
          </a:p>
          <a:p>
            <a:r>
              <a:rPr lang="en-US" dirty="0"/>
              <a:t>labrador = Dog()</a:t>
            </a:r>
          </a:p>
          <a:p>
            <a:endParaRPr lang="en-US" dirty="0"/>
          </a:p>
          <a:p>
            <a:r>
              <a:rPr lang="en-US" dirty="0"/>
              <a:t># access superclass attribute and method </a:t>
            </a:r>
          </a:p>
          <a:p>
            <a:r>
              <a:rPr lang="en-US" dirty="0"/>
              <a:t>labrador.name = "Rohu"</a:t>
            </a:r>
          </a:p>
          <a:p>
            <a:r>
              <a:rPr lang="en-US" dirty="0" err="1"/>
              <a:t>labrador.eat</a:t>
            </a:r>
            <a:r>
              <a:rPr lang="en-US" dirty="0"/>
              <a:t>()</a:t>
            </a:r>
          </a:p>
          <a:p>
            <a:endParaRPr lang="en-US" dirty="0"/>
          </a:p>
          <a:p>
            <a:r>
              <a:rPr lang="en-US" dirty="0"/>
              <a:t># call subclass method </a:t>
            </a:r>
          </a:p>
          <a:p>
            <a:r>
              <a:rPr lang="en-US" dirty="0" err="1"/>
              <a:t>labrador.display</a:t>
            </a:r>
            <a:r>
              <a:rPr lang="en-US" dirty="0"/>
              <a:t>()</a:t>
            </a:r>
            <a:endParaRPr lang="en-IN" dirty="0"/>
          </a:p>
        </p:txBody>
      </p:sp>
    </p:spTree>
    <p:extLst>
      <p:ext uri="{BB962C8B-B14F-4D97-AF65-F5344CB8AC3E}">
        <p14:creationId xmlns:p14="http://schemas.microsoft.com/office/powerpoint/2010/main" val="4115892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7B8077D-B2D2-6C2D-AE5B-C5B0043CF5A2}"/>
              </a:ext>
            </a:extLst>
          </p:cNvPr>
          <p:cNvSpPr>
            <a:spLocks noGrp="1"/>
          </p:cNvSpPr>
          <p:nvPr>
            <p:ph idx="1"/>
          </p:nvPr>
        </p:nvSpPr>
        <p:spPr>
          <a:xfrm>
            <a:off x="702365" y="26507"/>
            <a:ext cx="10455965" cy="7258397"/>
          </a:xfrm>
          <a:prstGeom prst="rect">
            <a:avLst/>
          </a:prstGeom>
          <a:ln>
            <a:solidFill>
              <a:schemeClr val="accent2"/>
            </a:solidFill>
          </a:ln>
        </p:spPr>
        <p:txBody>
          <a:bodyPr wrap="square">
            <a:spAutoFit/>
          </a:bodyPr>
          <a:lstStyle/>
          <a:p>
            <a:r>
              <a:rPr lang="en-US" sz="2000" dirty="0">
                <a:latin typeface="Times New Roman" panose="02020603050405020304" pitchFamily="18" charset="0"/>
                <a:cs typeface="Times New Roman" panose="02020603050405020304" pitchFamily="18" charset="0"/>
              </a:rPr>
              <a:t>class Animal:    #Base class</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def</a:t>
            </a:r>
            <a:r>
              <a:rPr lang="en-US" sz="2000" dirty="0">
                <a:latin typeface="Times New Roman" panose="02020603050405020304" pitchFamily="18" charset="0"/>
                <a:cs typeface="Times New Roman" panose="02020603050405020304" pitchFamily="18" charset="0"/>
              </a:rPr>
              <a:t>  speak(self):  </a:t>
            </a:r>
          </a:p>
          <a:p>
            <a:r>
              <a:rPr lang="en-US" sz="2000" dirty="0">
                <a:latin typeface="Times New Roman" panose="02020603050405020304" pitchFamily="18" charset="0"/>
                <a:cs typeface="Times New Roman" panose="02020603050405020304" pitchFamily="18" charset="0"/>
              </a:rPr>
              <a:t>        print("Animal Speaking")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child class Dog inherits the base class Animal  </a:t>
            </a:r>
          </a:p>
          <a:p>
            <a:r>
              <a:rPr lang="en-US" sz="2000" dirty="0">
                <a:latin typeface="Times New Roman" panose="02020603050405020304" pitchFamily="18" charset="0"/>
                <a:cs typeface="Times New Roman" panose="02020603050405020304" pitchFamily="18" charset="0"/>
              </a:rPr>
              <a:t>class Dog(Animal):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def</a:t>
            </a:r>
            <a:r>
              <a:rPr lang="en-US" sz="2000" dirty="0">
                <a:latin typeface="Times New Roman" panose="02020603050405020304" pitchFamily="18" charset="0"/>
                <a:cs typeface="Times New Roman" panose="02020603050405020304" pitchFamily="18" charset="0"/>
              </a:rPr>
              <a:t>  bark(self):  </a:t>
            </a:r>
          </a:p>
          <a:p>
            <a:r>
              <a:rPr lang="en-US" sz="2000" dirty="0">
                <a:latin typeface="Times New Roman" panose="02020603050405020304" pitchFamily="18" charset="0"/>
                <a:cs typeface="Times New Roman" panose="02020603050405020304" pitchFamily="18" charset="0"/>
              </a:rPr>
              <a:t>        print("dog barking")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child class </a:t>
            </a:r>
            <a:r>
              <a:rPr lang="en-US" sz="2000" dirty="0" err="1">
                <a:latin typeface="Times New Roman" panose="02020603050405020304" pitchFamily="18" charset="0"/>
                <a:cs typeface="Times New Roman" panose="02020603050405020304" pitchFamily="18" charset="0"/>
              </a:rPr>
              <a:t>Dogchild</a:t>
            </a:r>
            <a:r>
              <a:rPr lang="en-US" sz="2000" dirty="0">
                <a:latin typeface="Times New Roman" panose="02020603050405020304" pitchFamily="18" charset="0"/>
                <a:cs typeface="Times New Roman" panose="02020603050405020304" pitchFamily="18" charset="0"/>
              </a:rPr>
              <a:t> inherits another child class Dog  </a:t>
            </a:r>
          </a:p>
          <a:p>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DogChild</a:t>
            </a:r>
            <a:r>
              <a:rPr lang="en-US" sz="2000" dirty="0">
                <a:latin typeface="Times New Roman" panose="02020603050405020304" pitchFamily="18" charset="0"/>
                <a:cs typeface="Times New Roman" panose="02020603050405020304" pitchFamily="18" charset="0"/>
              </a:rPr>
              <a:t>(Dog):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def</a:t>
            </a:r>
            <a:r>
              <a:rPr lang="en-US" sz="2000" dirty="0">
                <a:latin typeface="Times New Roman" panose="02020603050405020304" pitchFamily="18" charset="0"/>
                <a:cs typeface="Times New Roman" panose="02020603050405020304" pitchFamily="18" charset="0"/>
              </a:rPr>
              <a:t>  eat(self):  </a:t>
            </a:r>
          </a:p>
          <a:p>
            <a:r>
              <a:rPr lang="en-US" sz="2000" dirty="0">
                <a:latin typeface="Times New Roman" panose="02020603050405020304" pitchFamily="18" charset="0"/>
                <a:cs typeface="Times New Roman" panose="02020603050405020304" pitchFamily="18" charset="0"/>
              </a:rPr>
              <a:t>        print("Eating bread...")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 = </a:t>
            </a:r>
            <a:r>
              <a:rPr lang="en-US" sz="2000" dirty="0" err="1">
                <a:latin typeface="Times New Roman" panose="02020603050405020304" pitchFamily="18" charset="0"/>
                <a:cs typeface="Times New Roman" panose="02020603050405020304" pitchFamily="18" charset="0"/>
              </a:rPr>
              <a:t>DogChild</a:t>
            </a:r>
            <a:r>
              <a:rPr lang="en-US" sz="2000" dirty="0">
                <a:latin typeface="Times New Roman" panose="02020603050405020304" pitchFamily="18" charset="0"/>
                <a:cs typeface="Times New Roman" panose="02020603050405020304" pitchFamily="18" charset="0"/>
              </a:rPr>
              <a:t>()  </a:t>
            </a:r>
          </a:p>
          <a:p>
            <a:r>
              <a:rPr lang="en-US" sz="2000" dirty="0" err="1">
                <a:latin typeface="Times New Roman" panose="02020603050405020304" pitchFamily="18" charset="0"/>
                <a:cs typeface="Times New Roman" panose="02020603050405020304" pitchFamily="18" charset="0"/>
              </a:rPr>
              <a:t>d.bark</a:t>
            </a:r>
            <a:r>
              <a:rPr lang="en-US" sz="2000" dirty="0">
                <a:latin typeface="Times New Roman" panose="02020603050405020304" pitchFamily="18" charset="0"/>
                <a:cs typeface="Times New Roman" panose="02020603050405020304" pitchFamily="18" charset="0"/>
              </a:rPr>
              <a:t>()  </a:t>
            </a:r>
          </a:p>
          <a:p>
            <a:r>
              <a:rPr lang="en-US" sz="2000" dirty="0" err="1">
                <a:latin typeface="Times New Roman" panose="02020603050405020304" pitchFamily="18" charset="0"/>
                <a:cs typeface="Times New Roman" panose="02020603050405020304" pitchFamily="18" charset="0"/>
              </a:rPr>
              <a:t>d.speak</a:t>
            </a:r>
            <a:r>
              <a:rPr lang="en-US" sz="2000" dirty="0">
                <a:latin typeface="Times New Roman" panose="02020603050405020304" pitchFamily="18" charset="0"/>
                <a:cs typeface="Times New Roman" panose="02020603050405020304" pitchFamily="18" charset="0"/>
              </a:rPr>
              <a:t>()  </a:t>
            </a:r>
          </a:p>
          <a:p>
            <a:r>
              <a:rPr lang="en-US" sz="2000" dirty="0" err="1">
                <a:latin typeface="Times New Roman" panose="02020603050405020304" pitchFamily="18" charset="0"/>
                <a:cs typeface="Times New Roman" panose="02020603050405020304" pitchFamily="18" charset="0"/>
              </a:rPr>
              <a:t>d.eat</a:t>
            </a:r>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913823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31C92-C721-8402-1630-13F46A7D7FB5}"/>
              </a:ext>
            </a:extLst>
          </p:cNvPr>
          <p:cNvSpPr>
            <a:spLocks noGrp="1"/>
          </p:cNvSpPr>
          <p:nvPr>
            <p:ph type="title"/>
          </p:nvPr>
        </p:nvSpPr>
        <p:spPr/>
        <p:txBody>
          <a:bodyPr/>
          <a:lstStyle/>
          <a:p>
            <a:r>
              <a:rPr lang="en-IN" dirty="0"/>
              <a:t>Inheritance Types</a:t>
            </a:r>
          </a:p>
        </p:txBody>
      </p:sp>
      <p:sp>
        <p:nvSpPr>
          <p:cNvPr id="3" name="Content Placeholder 2">
            <a:extLst>
              <a:ext uri="{FF2B5EF4-FFF2-40B4-BE49-F238E27FC236}">
                <a16:creationId xmlns:a16="http://schemas.microsoft.com/office/drawing/2014/main" id="{3DDD6AC1-AD52-9A61-629D-FE5E663FDBC1}"/>
              </a:ext>
            </a:extLst>
          </p:cNvPr>
          <p:cNvSpPr>
            <a:spLocks noGrp="1"/>
          </p:cNvSpPr>
          <p:nvPr>
            <p:ph idx="1"/>
          </p:nvPr>
        </p:nvSpPr>
        <p:spPr/>
        <p:txBody>
          <a:bodyPr/>
          <a:lstStyle/>
          <a:p>
            <a:pPr algn="l"/>
            <a:r>
              <a:rPr lang="en-US" b="0" i="0" dirty="0">
                <a:effectLst/>
                <a:latin typeface="euclid_circular_a"/>
              </a:rPr>
              <a:t>There are 5 different types of inheritance in Python. They are:</a:t>
            </a:r>
          </a:p>
          <a:p>
            <a:pPr algn="l">
              <a:buFont typeface="Arial" panose="020B0604020202020204" pitchFamily="34" charset="0"/>
              <a:buChar char="•"/>
            </a:pPr>
            <a:r>
              <a:rPr lang="en-US" b="1" i="0" dirty="0">
                <a:effectLst/>
                <a:latin typeface="euclid_circular_a"/>
              </a:rPr>
              <a:t>Single Inheritance</a:t>
            </a:r>
            <a:r>
              <a:rPr lang="en-US" b="0" i="0" dirty="0">
                <a:effectLst/>
                <a:latin typeface="euclid_circular_a"/>
              </a:rPr>
              <a:t>: a child class inherits from only one parent class.</a:t>
            </a:r>
          </a:p>
          <a:p>
            <a:pPr algn="l">
              <a:buFont typeface="Arial" panose="020B0604020202020204" pitchFamily="34" charset="0"/>
              <a:buChar char="•"/>
            </a:pPr>
            <a:r>
              <a:rPr lang="en-US" b="1" i="0" dirty="0">
                <a:effectLst/>
                <a:latin typeface="euclid_circular_a"/>
              </a:rPr>
              <a:t>Multiple Inheritance</a:t>
            </a:r>
            <a:r>
              <a:rPr lang="en-US" b="0" i="0" dirty="0">
                <a:effectLst/>
                <a:latin typeface="euclid_circular_a"/>
              </a:rPr>
              <a:t>: a child class inherits from multiple parent classes.</a:t>
            </a:r>
          </a:p>
          <a:p>
            <a:pPr algn="l">
              <a:buFont typeface="Arial" panose="020B0604020202020204" pitchFamily="34" charset="0"/>
              <a:buChar char="•"/>
            </a:pPr>
            <a:r>
              <a:rPr lang="en-US" b="1" i="0" dirty="0">
                <a:effectLst/>
                <a:latin typeface="euclid_circular_a"/>
              </a:rPr>
              <a:t>Multilevel Inheritance</a:t>
            </a:r>
            <a:r>
              <a:rPr lang="en-US" b="0" i="0" dirty="0">
                <a:effectLst/>
                <a:latin typeface="euclid_circular_a"/>
              </a:rPr>
              <a:t>: a child class inherits from its parent class, which is inheriting from its parent class.</a:t>
            </a:r>
          </a:p>
          <a:p>
            <a:pPr algn="l">
              <a:buFont typeface="Arial" panose="020B0604020202020204" pitchFamily="34" charset="0"/>
              <a:buChar char="•"/>
            </a:pPr>
            <a:r>
              <a:rPr lang="en-US" b="1" i="0" dirty="0">
                <a:effectLst/>
                <a:latin typeface="euclid_circular_a"/>
              </a:rPr>
              <a:t>Hierarchical Inheritance</a:t>
            </a:r>
            <a:r>
              <a:rPr lang="en-US" b="0" i="0" dirty="0">
                <a:effectLst/>
                <a:latin typeface="euclid_circular_a"/>
              </a:rPr>
              <a:t>: more than one child class are created from a single parent class.</a:t>
            </a:r>
          </a:p>
          <a:p>
            <a:pPr algn="l">
              <a:buFont typeface="Arial" panose="020B0604020202020204" pitchFamily="34" charset="0"/>
              <a:buChar char="•"/>
            </a:pPr>
            <a:r>
              <a:rPr lang="en-US" b="1" i="0" dirty="0">
                <a:effectLst/>
                <a:latin typeface="euclid_circular_a"/>
              </a:rPr>
              <a:t>Hybrid Inheritance</a:t>
            </a:r>
            <a:r>
              <a:rPr lang="en-US" b="0" i="0" dirty="0">
                <a:effectLst/>
                <a:latin typeface="euclid_circular_a"/>
              </a:rPr>
              <a:t>: combines more than one form of inheritance.</a:t>
            </a:r>
          </a:p>
          <a:p>
            <a:endParaRPr lang="en-IN" dirty="0"/>
          </a:p>
        </p:txBody>
      </p:sp>
    </p:spTree>
    <p:extLst>
      <p:ext uri="{BB962C8B-B14F-4D97-AF65-F5344CB8AC3E}">
        <p14:creationId xmlns:p14="http://schemas.microsoft.com/office/powerpoint/2010/main" val="882004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E4719-30AE-11BE-DDF3-89F04DD77425}"/>
              </a:ext>
            </a:extLst>
          </p:cNvPr>
          <p:cNvSpPr>
            <a:spLocks noGrp="1"/>
          </p:cNvSpPr>
          <p:nvPr>
            <p:ph type="title"/>
          </p:nvPr>
        </p:nvSpPr>
        <p:spPr/>
        <p:txBody>
          <a:bodyPr/>
          <a:lstStyle/>
          <a:p>
            <a:r>
              <a:rPr lang="en-IN" dirty="0"/>
              <a:t> Advantages of Inheritance</a:t>
            </a:r>
          </a:p>
        </p:txBody>
      </p:sp>
      <p:sp>
        <p:nvSpPr>
          <p:cNvPr id="3" name="Content Placeholder 2">
            <a:extLst>
              <a:ext uri="{FF2B5EF4-FFF2-40B4-BE49-F238E27FC236}">
                <a16:creationId xmlns:a16="http://schemas.microsoft.com/office/drawing/2014/main" id="{1984AE1F-D121-84C6-8D8C-5D4CE5BD729B}"/>
              </a:ext>
            </a:extLst>
          </p:cNvPr>
          <p:cNvSpPr>
            <a:spLocks noGrp="1"/>
          </p:cNvSpPr>
          <p:nvPr>
            <p:ph idx="1"/>
          </p:nvPr>
        </p:nvSpPr>
        <p:spPr/>
        <p:txBody>
          <a:bodyPr/>
          <a:lstStyle/>
          <a:p>
            <a:pPr algn="l">
              <a:buFont typeface="Arial" panose="020B0604020202020204" pitchFamily="34" charset="0"/>
              <a:buChar char="•"/>
            </a:pPr>
            <a:r>
              <a:rPr lang="en-US" b="1" i="0" dirty="0">
                <a:effectLst/>
                <a:latin typeface="euclid_circular_a"/>
              </a:rPr>
              <a:t>Code Reusability</a:t>
            </a:r>
            <a:r>
              <a:rPr lang="en-US" b="0" i="0" dirty="0">
                <a:effectLst/>
                <a:latin typeface="euclid_circular_a"/>
              </a:rPr>
              <a:t>: Since a child class can inherit all the functionalities of the parent's class, this allows code reusability.</a:t>
            </a:r>
          </a:p>
          <a:p>
            <a:pPr algn="l">
              <a:buFont typeface="Arial" panose="020B0604020202020204" pitchFamily="34" charset="0"/>
              <a:buChar char="•"/>
            </a:pPr>
            <a:r>
              <a:rPr lang="en-US" b="1" i="0" dirty="0">
                <a:effectLst/>
                <a:latin typeface="euclid_circular_a"/>
              </a:rPr>
              <a:t>Efficient Development</a:t>
            </a:r>
            <a:r>
              <a:rPr lang="en-US" b="0" i="0" dirty="0">
                <a:effectLst/>
                <a:latin typeface="euclid_circular_a"/>
              </a:rPr>
              <a:t>: Once a functionality is developed, we can simply inherit it which allows for cleaner code and easy maintenance.</a:t>
            </a:r>
          </a:p>
          <a:p>
            <a:pPr algn="l">
              <a:buFont typeface="Arial" panose="020B0604020202020204" pitchFamily="34" charset="0"/>
              <a:buChar char="•"/>
            </a:pPr>
            <a:r>
              <a:rPr lang="en-US" b="1" i="0" dirty="0">
                <a:effectLst/>
                <a:latin typeface="euclid_circular_a"/>
              </a:rPr>
              <a:t>Customization</a:t>
            </a:r>
            <a:r>
              <a:rPr lang="en-US" b="0" i="0" dirty="0">
                <a:effectLst/>
                <a:latin typeface="euclid_circular_a"/>
              </a:rPr>
              <a:t>: Since we can also add our own functionalities in the child class, we can inherit only the useful functionalities and define other required features.</a:t>
            </a:r>
          </a:p>
          <a:p>
            <a:endParaRPr lang="en-IN" dirty="0"/>
          </a:p>
        </p:txBody>
      </p:sp>
    </p:spTree>
    <p:extLst>
      <p:ext uri="{BB962C8B-B14F-4D97-AF65-F5344CB8AC3E}">
        <p14:creationId xmlns:p14="http://schemas.microsoft.com/office/powerpoint/2010/main" val="1384482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3044"/>
          </a:xfrm>
        </p:spPr>
        <p:txBody>
          <a:bodyPr/>
          <a:lstStyle/>
          <a:p>
            <a:r>
              <a:rPr lang="en-US" b="1" dirty="0"/>
              <a:t>Method Overriding</a:t>
            </a:r>
            <a:endParaRPr lang="en-US" dirty="0"/>
          </a:p>
        </p:txBody>
      </p:sp>
      <p:sp>
        <p:nvSpPr>
          <p:cNvPr id="3" name="Content Placeholder 2"/>
          <p:cNvSpPr>
            <a:spLocks noGrp="1"/>
          </p:cNvSpPr>
          <p:nvPr>
            <p:ph idx="1"/>
          </p:nvPr>
        </p:nvSpPr>
        <p:spPr>
          <a:xfrm>
            <a:off x="345830" y="1178170"/>
            <a:ext cx="5421923" cy="2509731"/>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We can provide some specific implementation of the parent class method in our child class. When the parent class method is defined in the child class with some specific implementation, then the concept is called method overriding.</a:t>
            </a:r>
          </a:p>
          <a:p>
            <a:endParaRPr lang="en-US" dirty="0">
              <a:latin typeface="Times New Roman" panose="02020603050405020304" pitchFamily="18" charset="0"/>
              <a:cs typeface="Times New Roman" panose="02020603050405020304" pitchFamily="18" charset="0"/>
            </a:endParaRPr>
          </a:p>
        </p:txBody>
      </p:sp>
      <p:sp>
        <p:nvSpPr>
          <p:cNvPr id="4" name="Rectangle 3"/>
          <p:cNvSpPr/>
          <p:nvPr/>
        </p:nvSpPr>
        <p:spPr>
          <a:xfrm>
            <a:off x="615461" y="3687901"/>
            <a:ext cx="4460631" cy="3170099"/>
          </a:xfrm>
          <a:prstGeom prst="rect">
            <a:avLst/>
          </a:prstGeom>
          <a:ln>
            <a:solidFill>
              <a:schemeClr val="accent2"/>
            </a:solidFill>
          </a:ln>
        </p:spPr>
        <p:txBody>
          <a:bodyPr wrap="square">
            <a:spAutoFit/>
          </a:bodyPr>
          <a:lstStyle/>
          <a:p>
            <a:r>
              <a:rPr lang="en-US" sz="2000" dirty="0">
                <a:latin typeface="Times New Roman" panose="02020603050405020304" pitchFamily="18" charset="0"/>
                <a:cs typeface="Times New Roman" panose="02020603050405020304" pitchFamily="18" charset="0"/>
              </a:rPr>
              <a:t>class Animal: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def</a:t>
            </a:r>
            <a:r>
              <a:rPr lang="en-US" sz="2000" dirty="0">
                <a:latin typeface="Times New Roman" panose="02020603050405020304" pitchFamily="18" charset="0"/>
                <a:cs typeface="Times New Roman" panose="02020603050405020304" pitchFamily="18" charset="0"/>
              </a:rPr>
              <a:t> speak(self):  </a:t>
            </a:r>
          </a:p>
          <a:p>
            <a:r>
              <a:rPr lang="en-US" sz="2000" dirty="0">
                <a:latin typeface="Times New Roman" panose="02020603050405020304" pitchFamily="18" charset="0"/>
                <a:cs typeface="Times New Roman" panose="02020603050405020304" pitchFamily="18" charset="0"/>
              </a:rPr>
              <a:t>        print("speaking")</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class Dog(Animal):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def</a:t>
            </a:r>
            <a:r>
              <a:rPr lang="en-US" sz="2000" dirty="0">
                <a:latin typeface="Times New Roman" panose="02020603050405020304" pitchFamily="18" charset="0"/>
                <a:cs typeface="Times New Roman" panose="02020603050405020304" pitchFamily="18" charset="0"/>
              </a:rPr>
              <a:t> speak(self):  </a:t>
            </a:r>
          </a:p>
          <a:p>
            <a:r>
              <a:rPr lang="en-US" sz="2000" dirty="0">
                <a:latin typeface="Times New Roman" panose="02020603050405020304" pitchFamily="18" charset="0"/>
                <a:cs typeface="Times New Roman" panose="02020603050405020304" pitchFamily="18" charset="0"/>
              </a:rPr>
              <a:t>        print("Barking") </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d = Dog()  </a:t>
            </a:r>
          </a:p>
          <a:p>
            <a:r>
              <a:rPr lang="en-US" sz="2000" dirty="0" err="1">
                <a:latin typeface="Times New Roman" panose="02020603050405020304" pitchFamily="18" charset="0"/>
                <a:cs typeface="Times New Roman" panose="02020603050405020304" pitchFamily="18" charset="0"/>
              </a:rPr>
              <a:t>d.speak</a:t>
            </a:r>
            <a:r>
              <a:rPr lang="en-US" sz="2000" dirty="0">
                <a:latin typeface="Times New Roman" panose="02020603050405020304" pitchFamily="18" charset="0"/>
                <a:cs typeface="Times New Roman" panose="02020603050405020304" pitchFamily="18" charset="0"/>
              </a:rPr>
              <a:t>()  </a:t>
            </a:r>
          </a:p>
        </p:txBody>
      </p:sp>
      <p:sp>
        <p:nvSpPr>
          <p:cNvPr id="5" name="Rectangle 4"/>
          <p:cNvSpPr/>
          <p:nvPr/>
        </p:nvSpPr>
        <p:spPr>
          <a:xfrm>
            <a:off x="6260123" y="771648"/>
            <a:ext cx="4862146" cy="5940088"/>
          </a:xfrm>
          <a:prstGeom prst="rect">
            <a:avLst/>
          </a:prstGeom>
          <a:ln>
            <a:solidFill>
              <a:schemeClr val="accent2"/>
            </a:solidFill>
          </a:ln>
        </p:spPr>
        <p:txBody>
          <a:bodyPr wrap="square">
            <a:spAutoFit/>
          </a:bodyPr>
          <a:lstStyle/>
          <a:p>
            <a:r>
              <a:rPr lang="en-US" sz="2000" dirty="0">
                <a:latin typeface="Times New Roman" panose="02020603050405020304" pitchFamily="18" charset="0"/>
                <a:cs typeface="Times New Roman" panose="02020603050405020304" pitchFamily="18" charset="0"/>
              </a:rPr>
              <a:t>class Calculation1: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def</a:t>
            </a:r>
            <a:r>
              <a:rPr lang="en-US" sz="2000" dirty="0">
                <a:latin typeface="Times New Roman" panose="02020603050405020304" pitchFamily="18" charset="0"/>
                <a:cs typeface="Times New Roman" panose="02020603050405020304" pitchFamily="18" charset="0"/>
              </a:rPr>
              <a:t> Summation(</a:t>
            </a:r>
            <a:r>
              <a:rPr lang="en-US" sz="2000" dirty="0" err="1">
                <a:latin typeface="Times New Roman" panose="02020603050405020304" pitchFamily="18" charset="0"/>
                <a:cs typeface="Times New Roman" panose="02020603050405020304" pitchFamily="18" charset="0"/>
              </a:rPr>
              <a:t>self,a,b</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 </a:t>
            </a:r>
            <a:r>
              <a:rPr lang="en-US" sz="2000" dirty="0" err="1">
                <a:latin typeface="Times New Roman" panose="02020603050405020304" pitchFamily="18" charset="0"/>
                <a:cs typeface="Times New Roman" panose="02020603050405020304" pitchFamily="18" charset="0"/>
              </a:rPr>
              <a:t>a+b</a:t>
            </a:r>
            <a:r>
              <a:rPr lang="en-US" sz="2000" dirty="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class Calculation2: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def</a:t>
            </a:r>
            <a:r>
              <a:rPr lang="en-US" sz="2000" dirty="0">
                <a:latin typeface="Times New Roman" panose="02020603050405020304" pitchFamily="18" charset="0"/>
                <a:cs typeface="Times New Roman" panose="02020603050405020304" pitchFamily="18" charset="0"/>
              </a:rPr>
              <a:t> Multiplication(</a:t>
            </a:r>
            <a:r>
              <a:rPr lang="en-US" sz="2000" dirty="0" err="1">
                <a:latin typeface="Times New Roman" panose="02020603050405020304" pitchFamily="18" charset="0"/>
                <a:cs typeface="Times New Roman" panose="02020603050405020304" pitchFamily="18" charset="0"/>
              </a:rPr>
              <a:t>self,a,b</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 a*b;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class Derived(Calculation1,Calculation2):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def</a:t>
            </a:r>
            <a:r>
              <a:rPr lang="en-US" sz="2000" dirty="0">
                <a:latin typeface="Times New Roman" panose="02020603050405020304" pitchFamily="18" charset="0"/>
                <a:cs typeface="Times New Roman" panose="02020603050405020304" pitchFamily="18" charset="0"/>
              </a:rPr>
              <a:t> Divide(</a:t>
            </a:r>
            <a:r>
              <a:rPr lang="en-US" sz="2000" dirty="0" err="1">
                <a:latin typeface="Times New Roman" panose="02020603050405020304" pitchFamily="18" charset="0"/>
                <a:cs typeface="Times New Roman" panose="02020603050405020304" pitchFamily="18" charset="0"/>
              </a:rPr>
              <a:t>self,a,b</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 a/b;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 = Derived()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d.Summation</a:t>
            </a:r>
            <a:r>
              <a:rPr lang="en-US" sz="2000" dirty="0">
                <a:latin typeface="Times New Roman" panose="02020603050405020304" pitchFamily="18" charset="0"/>
                <a:cs typeface="Times New Roman" panose="02020603050405020304" pitchFamily="18" charset="0"/>
              </a:rPr>
              <a:t>(10,20))  </a:t>
            </a:r>
          </a:p>
          <a:p>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d.Multiplication</a:t>
            </a:r>
            <a:r>
              <a:rPr lang="en-US" sz="2000" dirty="0">
                <a:latin typeface="Times New Roman" panose="02020603050405020304" pitchFamily="18" charset="0"/>
                <a:cs typeface="Times New Roman" panose="02020603050405020304" pitchFamily="18" charset="0"/>
              </a:rPr>
              <a:t>(10,20))  </a:t>
            </a:r>
          </a:p>
          <a:p>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d.Divide</a:t>
            </a:r>
            <a:r>
              <a:rPr lang="en-US" sz="2000" dirty="0">
                <a:latin typeface="Times New Roman" panose="02020603050405020304" pitchFamily="18" charset="0"/>
                <a:cs typeface="Times New Roman" panose="02020603050405020304" pitchFamily="18" charset="0"/>
              </a:rPr>
              <a:t>(10,20)) </a:t>
            </a:r>
          </a:p>
          <a:p>
            <a:r>
              <a:rPr lang="en-US" altLang="en-US" sz="2000" dirty="0">
                <a:latin typeface="Arial" panose="020B0604020202020204" pitchFamily="34" charset="0"/>
              </a:rPr>
              <a:t>print(</a:t>
            </a:r>
            <a:r>
              <a:rPr lang="en-US" altLang="en-US" sz="2000" dirty="0" err="1">
                <a:latin typeface="Arial" panose="020B0604020202020204" pitchFamily="34" charset="0"/>
              </a:rPr>
              <a:t>isinstance</a:t>
            </a:r>
            <a:r>
              <a:rPr lang="en-US" altLang="en-US" sz="2000" dirty="0">
                <a:latin typeface="Arial" panose="020B0604020202020204" pitchFamily="34" charset="0"/>
              </a:rPr>
              <a:t>(</a:t>
            </a:r>
            <a:r>
              <a:rPr lang="en-US" altLang="en-US" sz="2000" dirty="0" err="1">
                <a:latin typeface="Arial" panose="020B0604020202020204" pitchFamily="34" charset="0"/>
              </a:rPr>
              <a:t>d,Derived</a:t>
            </a:r>
            <a:r>
              <a:rPr lang="en-US" altLang="en-US" sz="2000" dirty="0">
                <a:latin typeface="Arial" panose="020B0604020202020204" pitchFamily="34" charset="0"/>
              </a:rPr>
              <a:t>))   </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6182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5121"/>
          </a:xfrm>
        </p:spPr>
        <p:txBody>
          <a:bodyPr/>
          <a:lstStyle/>
          <a:p>
            <a:r>
              <a:rPr lang="en-US" b="1" dirty="0"/>
              <a:t>Data abstraction in python</a:t>
            </a:r>
            <a:endParaRPr lang="en-US" dirty="0"/>
          </a:p>
        </p:txBody>
      </p:sp>
      <p:sp>
        <p:nvSpPr>
          <p:cNvPr id="3" name="Content Placeholder 2"/>
          <p:cNvSpPr>
            <a:spLocks noGrp="1"/>
          </p:cNvSpPr>
          <p:nvPr>
            <p:ph idx="1"/>
          </p:nvPr>
        </p:nvSpPr>
        <p:spPr>
          <a:xfrm>
            <a:off x="468923" y="1262917"/>
            <a:ext cx="5070231" cy="4351338"/>
          </a:xfrm>
        </p:spPr>
        <p:txBody>
          <a:bodyPr>
            <a:normAutofit lnSpcReduction="10000"/>
          </a:bodyPr>
          <a:lstStyle/>
          <a:p>
            <a:r>
              <a:rPr lang="en-US" dirty="0">
                <a:latin typeface="Times New Roman" panose="02020603050405020304" pitchFamily="18" charset="0"/>
                <a:cs typeface="Times New Roman" panose="02020603050405020304" pitchFamily="18" charset="0"/>
              </a:rPr>
              <a:t>Abstraction is an important aspect of object-oriented programming.</a:t>
            </a:r>
          </a:p>
          <a:p>
            <a:r>
              <a:rPr lang="en-US" dirty="0">
                <a:latin typeface="Times New Roman" panose="02020603050405020304" pitchFamily="18" charset="0"/>
                <a:cs typeface="Times New Roman" panose="02020603050405020304" pitchFamily="18" charset="0"/>
              </a:rPr>
              <a:t> In python, we can also perform data hiding by adding the double underscore (___) as a prefix to the attribute which is to be hidden. </a:t>
            </a:r>
          </a:p>
          <a:p>
            <a:r>
              <a:rPr lang="en-US" dirty="0">
                <a:latin typeface="Times New Roman" panose="02020603050405020304" pitchFamily="18" charset="0"/>
                <a:cs typeface="Times New Roman" panose="02020603050405020304" pitchFamily="18" charset="0"/>
              </a:rPr>
              <a:t>After this, the attribute will not be visible outside of the class through the object.</a:t>
            </a:r>
          </a:p>
          <a:p>
            <a:endParaRPr lang="en-US" dirty="0">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a:off x="5795793" y="1090246"/>
            <a:ext cx="6361037" cy="440120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 Employee: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__count = 0;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__</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init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__(self):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Employee.__count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Employee.__count+1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display(self):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print("The number of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employees",Employee.__count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emp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Employee()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try: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print(</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emp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.__count)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finally: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emp.display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24754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6860"/>
          </a:xfrm>
        </p:spPr>
        <p:txBody>
          <a:bodyPr>
            <a:normAutofit fontScale="90000"/>
          </a:bodyPr>
          <a:lstStyle/>
          <a:p>
            <a:r>
              <a:rPr lang="en-US" b="1" dirty="0"/>
              <a:t>Abstraction classes in Python</a:t>
            </a:r>
            <a:endParaRPr lang="en-US" dirty="0"/>
          </a:p>
        </p:txBody>
      </p:sp>
      <p:sp>
        <p:nvSpPr>
          <p:cNvPr id="3" name="Content Placeholder 2"/>
          <p:cNvSpPr>
            <a:spLocks noGrp="1"/>
          </p:cNvSpPr>
          <p:nvPr>
            <p:ph idx="1"/>
          </p:nvPr>
        </p:nvSpPr>
        <p:spPr>
          <a:xfrm>
            <a:off x="281355" y="1333256"/>
            <a:ext cx="6646983" cy="5366482"/>
          </a:xfrm>
        </p:spPr>
        <p:txBody>
          <a:bodyPr>
            <a:normAutofit/>
          </a:bodyPr>
          <a:lstStyle/>
          <a:p>
            <a:r>
              <a:rPr lang="en-US" sz="2000" dirty="0">
                <a:latin typeface="Times New Roman" panose="02020603050405020304" pitchFamily="18" charset="0"/>
                <a:cs typeface="Times New Roman" panose="02020603050405020304" pitchFamily="18" charset="0"/>
              </a:rPr>
              <a:t>Abstraction is used to hide the internal functionality of the function from the users. User may need to know </a:t>
            </a:r>
            <a:r>
              <a:rPr lang="en-US" sz="2000" b="1" dirty="0">
                <a:latin typeface="Times New Roman" panose="02020603050405020304" pitchFamily="18" charset="0"/>
                <a:cs typeface="Times New Roman" panose="02020603050405020304" pitchFamily="18" charset="0"/>
              </a:rPr>
              <a:t>"what function does"</a:t>
            </a:r>
            <a:r>
              <a:rPr lang="en-US" sz="2000" dirty="0">
                <a:latin typeface="Times New Roman" panose="02020603050405020304" pitchFamily="18" charset="0"/>
                <a:cs typeface="Times New Roman" panose="02020603050405020304" pitchFamily="18" charset="0"/>
              </a:rPr>
              <a:t> but they don't know </a:t>
            </a:r>
            <a:r>
              <a:rPr lang="en-US" sz="2000" b="1" dirty="0">
                <a:latin typeface="Times New Roman" panose="02020603050405020304" pitchFamily="18" charset="0"/>
                <a:cs typeface="Times New Roman" panose="02020603050405020304" pitchFamily="18" charset="0"/>
              </a:rPr>
              <a:t>"how it does."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 class that consists of one or more abstract method is called the abstract class. Abstract methods do not contain their implementation. Abstract class can be inherited by the subclass and abstract method gets its definition in the subclass. </a:t>
            </a:r>
          </a:p>
          <a:p>
            <a:r>
              <a:rPr lang="en-US" sz="2000" dirty="0">
                <a:latin typeface="Times New Roman" panose="02020603050405020304" pitchFamily="18" charset="0"/>
                <a:cs typeface="Times New Roman" panose="02020603050405020304" pitchFamily="18" charset="0"/>
              </a:rPr>
              <a:t>Python provides the </a:t>
            </a:r>
            <a:r>
              <a:rPr lang="en-US" sz="2000" b="1" dirty="0" err="1">
                <a:latin typeface="Times New Roman" panose="02020603050405020304" pitchFamily="18" charset="0"/>
                <a:cs typeface="Times New Roman" panose="02020603050405020304" pitchFamily="18" charset="0"/>
              </a:rPr>
              <a:t>abc</a:t>
            </a:r>
            <a:r>
              <a:rPr lang="en-US" sz="2000" dirty="0">
                <a:latin typeface="Times New Roman" panose="02020603050405020304" pitchFamily="18" charset="0"/>
                <a:cs typeface="Times New Roman" panose="02020603050405020304" pitchFamily="18" charset="0"/>
              </a:rPr>
              <a:t> (</a:t>
            </a:r>
            <a:r>
              <a:rPr lang="en-US" sz="2000" dirty="0"/>
              <a:t>Abstract Base classes) </a:t>
            </a:r>
            <a:r>
              <a:rPr lang="en-US" sz="2000" dirty="0">
                <a:latin typeface="Times New Roman" panose="02020603050405020304" pitchFamily="18" charset="0"/>
                <a:cs typeface="Times New Roman" panose="02020603050405020304" pitchFamily="18" charset="0"/>
              </a:rPr>
              <a:t>module to use the abstraction in the Python program.</a:t>
            </a:r>
          </a:p>
          <a:p>
            <a:r>
              <a:rPr lang="en-US" sz="2000" dirty="0"/>
              <a:t>We use the </a:t>
            </a:r>
            <a:r>
              <a:rPr lang="en-US" sz="2000" b="1" i="1" dirty="0"/>
              <a:t>@</a:t>
            </a:r>
            <a:r>
              <a:rPr lang="en-US" sz="2000" b="1" i="1" dirty="0" err="1"/>
              <a:t>abstractmethod</a:t>
            </a:r>
            <a:r>
              <a:rPr lang="en-US" sz="2000" dirty="0"/>
              <a:t> decorator to define an abstract method or if we don't provide the definition to the method, it automatically becomes the abstract method.</a:t>
            </a:r>
            <a:endParaRPr lang="en-US"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7476978" y="236430"/>
            <a:ext cx="4077712" cy="6463308"/>
          </a:xfrm>
          <a:prstGeom prst="rect">
            <a:avLst/>
          </a:prstGeom>
          <a:ln>
            <a:solidFill>
              <a:schemeClr val="accent2"/>
            </a:solidFill>
          </a:ln>
        </p:spPr>
        <p:txBody>
          <a:bodyPr wrap="square">
            <a:spAutoFit/>
          </a:bodyPr>
          <a:lstStyle/>
          <a:p>
            <a:r>
              <a:rPr lang="en-US" dirty="0">
                <a:latin typeface="Times New Roman" panose="02020603050405020304" pitchFamily="18" charset="0"/>
                <a:cs typeface="Times New Roman" panose="02020603050405020304" pitchFamily="18" charset="0"/>
              </a:rPr>
              <a:t># Python program to define   </a:t>
            </a:r>
          </a:p>
          <a:p>
            <a:r>
              <a:rPr lang="en-US" dirty="0">
                <a:latin typeface="Times New Roman" panose="02020603050405020304" pitchFamily="18" charset="0"/>
                <a:cs typeface="Times New Roman" panose="02020603050405020304" pitchFamily="18" charset="0"/>
              </a:rPr>
              <a:t># abstract class    </a:t>
            </a:r>
          </a:p>
          <a:p>
            <a:r>
              <a:rPr lang="en-US" dirty="0">
                <a:latin typeface="Times New Roman" panose="02020603050405020304" pitchFamily="18" charset="0"/>
                <a:cs typeface="Times New Roman" panose="02020603050405020304" pitchFamily="18" charset="0"/>
              </a:rPr>
              <a:t>from </a:t>
            </a:r>
            <a:r>
              <a:rPr lang="en-US" dirty="0" err="1">
                <a:latin typeface="Times New Roman" panose="02020603050405020304" pitchFamily="18" charset="0"/>
                <a:cs typeface="Times New Roman" panose="02020603050405020304" pitchFamily="18" charset="0"/>
              </a:rPr>
              <a:t>abc</a:t>
            </a:r>
            <a:r>
              <a:rPr lang="en-US" dirty="0">
                <a:latin typeface="Times New Roman" panose="02020603050405020304" pitchFamily="18" charset="0"/>
                <a:cs typeface="Times New Roman" panose="02020603050405020304" pitchFamily="18" charset="0"/>
              </a:rPr>
              <a:t> import ABC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class Polygon(ABC):   </a:t>
            </a:r>
          </a:p>
          <a:p>
            <a:r>
              <a:rPr lang="en-US" dirty="0">
                <a:latin typeface="Times New Roman" panose="02020603050405020304" pitchFamily="18" charset="0"/>
                <a:cs typeface="Times New Roman" panose="02020603050405020304" pitchFamily="18" charset="0"/>
              </a:rPr>
              <a:t>   # abstract method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def</a:t>
            </a:r>
            <a:r>
              <a:rPr lang="en-US" dirty="0">
                <a:latin typeface="Times New Roman" panose="02020603050405020304" pitchFamily="18" charset="0"/>
                <a:cs typeface="Times New Roman" panose="02020603050405020304" pitchFamily="18" charset="0"/>
              </a:rPr>
              <a:t> sides(self):   </a:t>
            </a:r>
          </a:p>
          <a:p>
            <a:r>
              <a:rPr lang="en-US" dirty="0">
                <a:latin typeface="Times New Roman" panose="02020603050405020304" pitchFamily="18" charset="0"/>
                <a:cs typeface="Times New Roman" panose="02020603050405020304" pitchFamily="18" charset="0"/>
              </a:rPr>
              <a:t>      pass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class Triangle(Polygon):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def</a:t>
            </a:r>
            <a:r>
              <a:rPr lang="en-US" dirty="0">
                <a:latin typeface="Times New Roman" panose="02020603050405020304" pitchFamily="18" charset="0"/>
                <a:cs typeface="Times New Roman" panose="02020603050405020304" pitchFamily="18" charset="0"/>
              </a:rPr>
              <a:t> sides(self):   </a:t>
            </a:r>
          </a:p>
          <a:p>
            <a:r>
              <a:rPr lang="en-US" dirty="0">
                <a:latin typeface="Times New Roman" panose="02020603050405020304" pitchFamily="18" charset="0"/>
                <a:cs typeface="Times New Roman" panose="02020603050405020304" pitchFamily="18" charset="0"/>
              </a:rPr>
              <a:t>      print("Triangle has 3 sides")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class square(Polygon):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def</a:t>
            </a:r>
            <a:r>
              <a:rPr lang="en-US" dirty="0">
                <a:latin typeface="Times New Roman" panose="02020603050405020304" pitchFamily="18" charset="0"/>
                <a:cs typeface="Times New Roman" panose="02020603050405020304" pitchFamily="18" charset="0"/>
              </a:rPr>
              <a:t> sides(self):   </a:t>
            </a:r>
          </a:p>
          <a:p>
            <a:r>
              <a:rPr lang="en-US" dirty="0">
                <a:latin typeface="Times New Roman" panose="02020603050405020304" pitchFamily="18" charset="0"/>
                <a:cs typeface="Times New Roman" panose="02020603050405020304" pitchFamily="18" charset="0"/>
              </a:rPr>
              <a:t>      print("I have 4 sides")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Driver code   </a:t>
            </a:r>
          </a:p>
          <a:p>
            <a:r>
              <a:rPr lang="en-US" dirty="0">
                <a:latin typeface="Times New Roman" panose="02020603050405020304" pitchFamily="18" charset="0"/>
                <a:cs typeface="Times New Roman" panose="02020603050405020304" pitchFamily="18" charset="0"/>
              </a:rPr>
              <a:t>t = Triangle()   </a:t>
            </a:r>
          </a:p>
          <a:p>
            <a:r>
              <a:rPr lang="en-US" dirty="0" err="1">
                <a:latin typeface="Times New Roman" panose="02020603050405020304" pitchFamily="18" charset="0"/>
                <a:cs typeface="Times New Roman" panose="02020603050405020304" pitchFamily="18" charset="0"/>
              </a:rPr>
              <a:t>t.sides</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s = square()   </a:t>
            </a:r>
          </a:p>
          <a:p>
            <a:r>
              <a:rPr lang="en-US" dirty="0" err="1">
                <a:latin typeface="Times New Roman" panose="02020603050405020304" pitchFamily="18" charset="0"/>
                <a:cs typeface="Times New Roman" panose="02020603050405020304" pitchFamily="18" charset="0"/>
              </a:rPr>
              <a:t>s.sides</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782810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2742</Words>
  <Application>Microsoft Office PowerPoint</Application>
  <PresentationFormat>Widescreen</PresentationFormat>
  <Paragraphs>358</Paragraphs>
  <Slides>30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Calibri</vt:lpstr>
      <vt:lpstr>Calibri Light</vt:lpstr>
      <vt:lpstr>Droid Sans Mono</vt:lpstr>
      <vt:lpstr>erdana</vt:lpstr>
      <vt:lpstr>euclid_circular_a</vt:lpstr>
      <vt:lpstr>inter-bold</vt:lpstr>
      <vt:lpstr>inter-regular</vt:lpstr>
      <vt:lpstr>Times New Roman</vt:lpstr>
      <vt:lpstr>Office Theme</vt:lpstr>
      <vt:lpstr>Classes and Objects</vt:lpstr>
      <vt:lpstr>Python OOPs Concepts </vt:lpstr>
      <vt:lpstr>Major principles of object-oriented programming system</vt:lpstr>
      <vt:lpstr>Python Classes</vt:lpstr>
      <vt:lpstr>Python Objects </vt:lpstr>
      <vt:lpstr>Python Class and Objects </vt:lpstr>
      <vt:lpstr>Method </vt:lpstr>
      <vt:lpstr>Inheritance </vt:lpstr>
      <vt:lpstr>Polymorphism </vt:lpstr>
      <vt:lpstr>Encapsulation </vt:lpstr>
      <vt:lpstr>Data Abstraction </vt:lpstr>
      <vt:lpstr>PowerPoint Presentation</vt:lpstr>
      <vt:lpstr>Python Constructors </vt:lpstr>
      <vt:lpstr>Creating the constructor in python </vt:lpstr>
      <vt:lpstr>The    __init__()  Function</vt:lpstr>
      <vt:lpstr>PowerPoint Presentation</vt:lpstr>
      <vt:lpstr>Python Non-Parameterized Constructor </vt:lpstr>
      <vt:lpstr>Python Parameterized Constructor </vt:lpstr>
      <vt:lpstr>Python Default Constructor </vt:lpstr>
      <vt:lpstr>Python built-in class functions</vt:lpstr>
      <vt:lpstr>PowerPoint Presentation</vt:lpstr>
      <vt:lpstr>Python Inheritance </vt:lpstr>
      <vt:lpstr>Python Inheritance Syntax </vt:lpstr>
      <vt:lpstr>PowerPoint Presentation</vt:lpstr>
      <vt:lpstr>PowerPoint Presentation</vt:lpstr>
      <vt:lpstr>Inheritance Types</vt:lpstr>
      <vt:lpstr> Advantages of Inheritance</vt:lpstr>
      <vt:lpstr>Method Overriding</vt:lpstr>
      <vt:lpstr>Data abstraction in python</vt:lpstr>
      <vt:lpstr>Abstraction classes in Python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Classes and Objects</dc:title>
  <dc:creator>sri lakshmi</dc:creator>
  <cp:lastModifiedBy>sri lakshmi</cp:lastModifiedBy>
  <cp:revision>6</cp:revision>
  <dcterms:created xsi:type="dcterms:W3CDTF">2024-02-12T17:44:01Z</dcterms:created>
  <dcterms:modified xsi:type="dcterms:W3CDTF">2024-02-12T19:30:48Z</dcterms:modified>
</cp:coreProperties>
</file>